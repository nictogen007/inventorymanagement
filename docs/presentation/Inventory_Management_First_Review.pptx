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3b60463-6a82-b030-e89e-f518f17af3e5}">
          <p14:sldIdLst>
            <p14:sldId id="256"/>
          </p14:sldIdLst>
        </p14:section>
        <p14:section name="Overview" id="{77961931-68d1-2e77-1713-78a16a52eada}">
          <p14:sldIdLst>
            <p14:sldId id="257"/>
          </p14:sldIdLst>
        </p14:section>
        <p14:section name="The project" id="{d561a683-fbfc-8629-7918-06ceda97bc56}">
          <p14:sldIdLst>
            <p14:sldId id="258"/>
            <p14:sldId id="259"/>
            <p14:sldId id="260"/>
          </p14:sldIdLst>
        </p14:section>
        <p14:section name="Research" id="{c1058afa-67e4-17b1-192c-c5bffe71be5a}">
          <p14:sldIdLst>
            <p14:sldId id="261"/>
          </p14:sldIdLst>
        </p14:section>
        <p14:section name="Approach" id="{098e6d82-b53e-9637-1415-09bf2222142c}">
          <p14:sldIdLst>
            <p14:sldId id="262"/>
          </p14:sldIdLst>
        </p14:section>
        <p14:section name="Close" id="{6ebedf52-c663-fab6-22f5-1d0fb04963d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guide and the project title: a web application that runs a retail store’s stock, purchases, billing and GST, with AI to help decide what to reorder.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parts for this first review: abstract, introduction, objectives, literature review and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web app for the whole store. Six parts: catalogue and stock, billing, GST, purchases, reports and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how many shops work today. Right: what the system changes. The stack is MongoDB, Express, React and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objectives: the first five run the shop day to day, the last three add AI and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systems cover stock or billing, but not GST billing, purchasing, forecasting and an assistant together. That gap is what this project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from studying how shops work today to evaluating with a year of demo sales. The system is built module by module, each one tested before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Digital Inventory &amp; Sales Management System  ·  Dept. of CSE (AI &amp; ML), Dr. TTIT, KGF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TU logo backing"/>
          <p:cNvSpPr/>
          <p:nvPr/>
        </p:nvSpPr>
        <p:spPr>
          <a:xfrm>
            <a:off x="411480" y="256032"/>
            <a:ext cx="8686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</p:spPr>
      </p:sp>
      <p:pic>
        <p:nvPicPr>
          <p:cNvPr id="3" name="VTU logo" descr="V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29184"/>
            <a:ext cx="722376" cy="722376"/>
          </a:xfrm>
          <a:prstGeom prst="rect">
            <a:avLst/>
          </a:prstGeom>
        </p:spPr>
      </p:pic>
      <p:sp>
        <p:nvSpPr>
          <p:cNvPr id="4" name="Dr. TTIT logo backing"/>
          <p:cNvSpPr/>
          <p:nvPr/>
        </p:nvSpPr>
        <p:spPr>
          <a:xfrm>
            <a:off x="7863840" y="256032"/>
            <a:ext cx="8686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</p:spPr>
      </p:sp>
      <p:pic>
        <p:nvPicPr>
          <p:cNvPr id="5" name="Dr. TTIT logo" descr="Dr. TTI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329184"/>
            <a:ext cx="722376" cy="722376"/>
          </a:xfrm>
          <a:prstGeom prst="rect">
            <a:avLst/>
          </a:prstGeom>
        </p:spPr>
      </p:pic>
      <p:sp>
        <p:nvSpPr>
          <p:cNvPr id="6" name="Institution"/>
          <p:cNvSpPr txBox="1"/>
          <p:nvPr/>
        </p:nvSpPr>
        <p:spPr>
          <a:xfrm>
            <a:off x="1417320" y="27432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VISVESVARAYA TECHNOLOGICAL UNIVERSITY, BELAGAVI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Dr. T. THIMMAIAH INSTITUTE OF TECHNOLOGY, KGF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Department of Computer Science &amp; Engineering (AI &amp; ML)</a:t>
            </a:r>
            <a:endParaRPr lang="en-US" sz="1300" dirty="0"/>
          </a:p>
        </p:txBody>
      </p:sp>
      <p:sp>
        <p:nvSpPr>
          <p:cNvPr id="7" name="Review chip"/>
          <p:cNvSpPr/>
          <p:nvPr/>
        </p:nvSpPr>
        <p:spPr>
          <a:xfrm>
            <a:off x="457200" y="1417320"/>
            <a:ext cx="27889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Review chip text"/>
          <p:cNvSpPr txBox="1"/>
          <p:nvPr/>
        </p:nvSpPr>
        <p:spPr>
          <a:xfrm>
            <a:off x="457200" y="1417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COMMUNITY PROJECT  ·  FIRST REVIEW</a:t>
            </a:r>
            <a:endParaRPr lang="en-US" sz="1000" dirty="0"/>
          </a:p>
        </p:txBody>
      </p:sp>
      <p:sp>
        <p:nvSpPr>
          <p:cNvPr id="9" name="Project title"/>
          <p:cNvSpPr txBox="1"/>
          <p:nvPr/>
        </p:nvSpPr>
        <p:spPr>
          <a:xfrm>
            <a:off x="457200" y="18105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Inventory &amp; Sales Management System</a:t>
            </a:r>
            <a:endParaRPr lang="en-US" sz="3000" dirty="0"/>
          </a:p>
        </p:txBody>
      </p:sp>
      <p:sp>
        <p:nvSpPr>
          <p:cNvPr id="10" name="Tagline"/>
          <p:cNvSpPr txBox="1"/>
          <p:nvPr/>
        </p:nvSpPr>
        <p:spPr>
          <a:xfrm>
            <a:off x="457200" y="29077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Stock  ·  Billing  ·  GST  ·  AI-assisted restocking</a:t>
            </a:r>
            <a:endParaRPr lang="en-US" sz="1400" dirty="0"/>
          </a:p>
        </p:txBody>
      </p:sp>
      <p:sp>
        <p:nvSpPr>
          <p:cNvPr id="11" name="Team card"/>
          <p:cNvSpPr/>
          <p:nvPr/>
        </p:nvSpPr>
        <p:spPr>
          <a:xfrm>
            <a:off x="457200" y="3364992"/>
            <a:ext cx="466344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2" name="Team label"/>
          <p:cNvSpPr txBox="1"/>
          <p:nvPr/>
        </p:nvSpPr>
        <p:spPr>
          <a:xfrm>
            <a:off x="658368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3" name="Member 1"/>
          <p:cNvSpPr txBox="1"/>
          <p:nvPr/>
        </p:nvSpPr>
        <p:spPr>
          <a:xfrm>
            <a:off x="658368" y="37307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Keerthana 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1GV25CI021</a:t>
            </a:r>
            <a:endParaRPr lang="en-US" sz="1300" dirty="0"/>
          </a:p>
        </p:txBody>
      </p:sp>
      <p:sp>
        <p:nvSpPr>
          <p:cNvPr id="14" name="Member 2"/>
          <p:cNvSpPr txBox="1"/>
          <p:nvPr/>
        </p:nvSpPr>
        <p:spPr>
          <a:xfrm>
            <a:off x="2898648" y="37307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 Mohammed Fahad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1GV25CI023</a:t>
            </a:r>
            <a:endParaRPr lang="en-US" sz="1300" dirty="0"/>
          </a:p>
        </p:txBody>
      </p:sp>
      <p:sp>
        <p:nvSpPr>
          <p:cNvPr id="15" name="Member 3"/>
          <p:cNvSpPr txBox="1"/>
          <p:nvPr/>
        </p:nvSpPr>
        <p:spPr>
          <a:xfrm>
            <a:off x="658368" y="41879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Mehfuza Khanum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1GV25CI026</a:t>
            </a:r>
            <a:endParaRPr lang="en-US" sz="1300" dirty="0"/>
          </a:p>
        </p:txBody>
      </p:sp>
      <p:sp>
        <p:nvSpPr>
          <p:cNvPr id="16" name="Member 4"/>
          <p:cNvSpPr txBox="1"/>
          <p:nvPr/>
        </p:nvSpPr>
        <p:spPr>
          <a:xfrm>
            <a:off x="2898648" y="41879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Mohammed Saad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1GV25CI028</a:t>
            </a:r>
            <a:endParaRPr lang="en-US" sz="1300" dirty="0"/>
          </a:p>
        </p:txBody>
      </p:sp>
      <p:sp>
        <p:nvSpPr>
          <p:cNvPr id="17" name="Screenshot frame"/>
          <p:cNvSpPr/>
          <p:nvPr/>
        </p:nvSpPr>
        <p:spPr>
          <a:xfrm>
            <a:off x="5349240" y="1417320"/>
            <a:ext cx="3383280" cy="2167128"/>
          </a:xfrm>
          <a:prstGeom prst="roundRect">
            <a:avLst>
              <a:gd name="adj" fmla="val 33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8" name="Dashboard screenshot" descr="The system’s dashboard: net sales, profit, bills and a sales trend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481328"/>
            <a:ext cx="3255264" cy="2039112"/>
          </a:xfrm>
          <a:prstGeom prst="rect">
            <a:avLst/>
          </a:prstGeom>
        </p:spPr>
      </p:pic>
      <p:sp>
        <p:nvSpPr>
          <p:cNvPr id="19" name="Guide"/>
          <p:cNvSpPr txBox="1"/>
          <p:nvPr/>
        </p:nvSpPr>
        <p:spPr>
          <a:xfrm>
            <a:off x="5349240" y="384048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UNDER THE GUIDANCE OF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Prof. APOORVA 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Assistant Professor, Dept. of CSE (AI &amp; ML)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FIRST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Abstract card"/>
          <p:cNvSpPr/>
          <p:nvPr/>
        </p:nvSpPr>
        <p:spPr>
          <a:xfrm>
            <a:off x="457200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5" name="LuFileText tile"/>
          <p:cNvSpPr/>
          <p:nvPr/>
        </p:nvSpPr>
        <p:spPr>
          <a:xfrm>
            <a:off x="685800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LuFileTex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827703"/>
            <a:ext cx="294803" cy="294803"/>
          </a:xfrm>
          <a:prstGeom prst="rect">
            <a:avLst/>
          </a:prstGeom>
        </p:spPr>
      </p:pic>
      <p:sp>
        <p:nvSpPr>
          <p:cNvPr id="7" name="Abstract number"/>
          <p:cNvSpPr txBox="1"/>
          <p:nvPr/>
        </p:nvSpPr>
        <p:spPr>
          <a:xfrm>
            <a:off x="685800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Abstract label"/>
          <p:cNvSpPr txBox="1"/>
          <p:nvPr/>
        </p:nvSpPr>
        <p:spPr>
          <a:xfrm>
            <a:off x="685800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Abstract</a:t>
            </a:r>
            <a:endParaRPr lang="en-US" sz="1600" dirty="0"/>
          </a:p>
        </p:txBody>
      </p:sp>
      <p:sp>
        <p:nvSpPr>
          <p:cNvPr id="9" name="Abstract note"/>
          <p:cNvSpPr txBox="1"/>
          <p:nvPr/>
        </p:nvSpPr>
        <p:spPr>
          <a:xfrm>
            <a:off x="685800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project at a glance</a:t>
            </a:r>
            <a:endParaRPr lang="en-US" sz="1200" dirty="0"/>
          </a:p>
        </p:txBody>
      </p:sp>
      <p:sp>
        <p:nvSpPr>
          <p:cNvPr id="10" name="Introduction card"/>
          <p:cNvSpPr/>
          <p:nvPr/>
        </p:nvSpPr>
        <p:spPr>
          <a:xfrm>
            <a:off x="2135124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1" name="LuStore tile"/>
          <p:cNvSpPr/>
          <p:nvPr/>
        </p:nvSpPr>
        <p:spPr>
          <a:xfrm>
            <a:off x="2363724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2" name="LuSto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787" y="1827703"/>
            <a:ext cx="294803" cy="294803"/>
          </a:xfrm>
          <a:prstGeom prst="rect">
            <a:avLst/>
          </a:prstGeom>
        </p:spPr>
      </p:pic>
      <p:sp>
        <p:nvSpPr>
          <p:cNvPr id="13" name="Introduction number"/>
          <p:cNvSpPr txBox="1"/>
          <p:nvPr/>
        </p:nvSpPr>
        <p:spPr>
          <a:xfrm>
            <a:off x="2363724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Introduction label"/>
          <p:cNvSpPr txBox="1"/>
          <p:nvPr/>
        </p:nvSpPr>
        <p:spPr>
          <a:xfrm>
            <a:off x="2363724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15" name="Introduction note"/>
          <p:cNvSpPr txBox="1"/>
          <p:nvPr/>
        </p:nvSpPr>
        <p:spPr>
          <a:xfrm>
            <a:off x="2363724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problem and our answer</a:t>
            </a:r>
            <a:endParaRPr lang="en-US" sz="1200" dirty="0"/>
          </a:p>
        </p:txBody>
      </p:sp>
      <p:sp>
        <p:nvSpPr>
          <p:cNvPr id="16" name="Objectives card"/>
          <p:cNvSpPr/>
          <p:nvPr/>
        </p:nvSpPr>
        <p:spPr>
          <a:xfrm>
            <a:off x="3813048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7" name="LuTarget tile"/>
          <p:cNvSpPr/>
          <p:nvPr/>
        </p:nvSpPr>
        <p:spPr>
          <a:xfrm>
            <a:off x="4041648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8" name="LuTarge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711" y="1827703"/>
            <a:ext cx="294803" cy="294803"/>
          </a:xfrm>
          <a:prstGeom prst="rect">
            <a:avLst/>
          </a:prstGeom>
        </p:spPr>
      </p:pic>
      <p:sp>
        <p:nvSpPr>
          <p:cNvPr id="19" name="Objectives number"/>
          <p:cNvSpPr txBox="1"/>
          <p:nvPr/>
        </p:nvSpPr>
        <p:spPr>
          <a:xfrm>
            <a:off x="4041648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Objectives label"/>
          <p:cNvSpPr txBox="1"/>
          <p:nvPr/>
        </p:nvSpPr>
        <p:spPr>
          <a:xfrm>
            <a:off x="4041648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21" name="Objectives note"/>
          <p:cNvSpPr txBox="1"/>
          <p:nvPr/>
        </p:nvSpPr>
        <p:spPr>
          <a:xfrm>
            <a:off x="4041648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the system must do</a:t>
            </a:r>
            <a:endParaRPr lang="en-US" sz="1200" dirty="0"/>
          </a:p>
        </p:txBody>
      </p:sp>
      <p:sp>
        <p:nvSpPr>
          <p:cNvPr id="22" name="Literature Review card"/>
          <p:cNvSpPr/>
          <p:nvPr/>
        </p:nvSpPr>
        <p:spPr>
          <a:xfrm>
            <a:off x="5490972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23" name="LuBookOpen tile"/>
          <p:cNvSpPr/>
          <p:nvPr/>
        </p:nvSpPr>
        <p:spPr>
          <a:xfrm>
            <a:off x="5719572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4" name="LuBookOpe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635" y="1827703"/>
            <a:ext cx="294803" cy="294803"/>
          </a:xfrm>
          <a:prstGeom prst="rect">
            <a:avLst/>
          </a:prstGeom>
        </p:spPr>
      </p:pic>
      <p:sp>
        <p:nvSpPr>
          <p:cNvPr id="25" name="Literature Review number"/>
          <p:cNvSpPr txBox="1"/>
          <p:nvPr/>
        </p:nvSpPr>
        <p:spPr>
          <a:xfrm>
            <a:off x="5719572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Literature Review label"/>
          <p:cNvSpPr txBox="1"/>
          <p:nvPr/>
        </p:nvSpPr>
        <p:spPr>
          <a:xfrm>
            <a:off x="5719572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Literature Review</a:t>
            </a:r>
            <a:endParaRPr lang="en-US" sz="1600" dirty="0"/>
          </a:p>
        </p:txBody>
      </p:sp>
      <p:sp>
        <p:nvSpPr>
          <p:cNvPr id="27" name="Literature Review note"/>
          <p:cNvSpPr txBox="1"/>
          <p:nvPr/>
        </p:nvSpPr>
        <p:spPr>
          <a:xfrm>
            <a:off x="5719572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others have built</a:t>
            </a:r>
            <a:endParaRPr lang="en-US" sz="1200" dirty="0"/>
          </a:p>
        </p:txBody>
      </p:sp>
      <p:sp>
        <p:nvSpPr>
          <p:cNvPr id="28" name="Methodology card"/>
          <p:cNvSpPr/>
          <p:nvPr/>
        </p:nvSpPr>
        <p:spPr>
          <a:xfrm>
            <a:off x="7168896" y="1463040"/>
            <a:ext cx="1517904" cy="28346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29" name="LuWorkflow tile"/>
          <p:cNvSpPr/>
          <p:nvPr/>
        </p:nvSpPr>
        <p:spPr>
          <a:xfrm>
            <a:off x="7397496" y="1691640"/>
            <a:ext cx="566928" cy="566928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0" name="LuWorkflow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559" y="1827703"/>
            <a:ext cx="294803" cy="294803"/>
          </a:xfrm>
          <a:prstGeom prst="rect">
            <a:avLst/>
          </a:prstGeom>
        </p:spPr>
      </p:pic>
      <p:sp>
        <p:nvSpPr>
          <p:cNvPr id="31" name="Methodology number"/>
          <p:cNvSpPr txBox="1"/>
          <p:nvPr/>
        </p:nvSpPr>
        <p:spPr>
          <a:xfrm>
            <a:off x="7397496" y="246888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32" name="Methodology label"/>
          <p:cNvSpPr txBox="1"/>
          <p:nvPr/>
        </p:nvSpPr>
        <p:spPr>
          <a:xfrm>
            <a:off x="7397496" y="3063240"/>
            <a:ext cx="1197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33" name="Methodology note"/>
          <p:cNvSpPr txBox="1"/>
          <p:nvPr/>
        </p:nvSpPr>
        <p:spPr>
          <a:xfrm>
            <a:off x="7397496" y="361188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How we are building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· ABSTRACT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Summary"/>
          <p:cNvSpPr txBox="1"/>
          <p:nvPr/>
        </p:nvSpPr>
        <p:spPr>
          <a:xfrm>
            <a:off x="457200" y="1371600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web application that runs a retail store’s catalogue, stock, purchases, billing and reports in one place, following Indian GST rules, with AI that helps the owner decide what to reorder and when.</a:t>
            </a:r>
            <a:endParaRPr lang="en-US" sz="1500" dirty="0"/>
          </a:p>
        </p:txBody>
      </p:sp>
      <p:sp>
        <p:nvSpPr>
          <p:cNvPr id="5" name="Stat 1"/>
          <p:cNvSpPr txBox="1"/>
          <p:nvPr/>
        </p:nvSpPr>
        <p:spPr>
          <a:xfrm>
            <a:off x="45720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Stat 1 label"/>
          <p:cNvSpPr txBox="1"/>
          <p:nvPr/>
        </p:nvSpPr>
        <p:spPr>
          <a:xfrm>
            <a:off x="164592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 roles: admin, manager, cashier</a:t>
            </a:r>
            <a:endParaRPr lang="en-US" sz="1300" dirty="0"/>
          </a:p>
        </p:txBody>
      </p:sp>
      <p:sp>
        <p:nvSpPr>
          <p:cNvPr id="7" name="Stat 2"/>
          <p:cNvSpPr txBox="1"/>
          <p:nvPr/>
        </p:nvSpPr>
        <p:spPr>
          <a:xfrm>
            <a:off x="457200" y="37947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year</a:t>
            </a:r>
            <a:endParaRPr lang="en-US" sz="3000" dirty="0"/>
          </a:p>
        </p:txBody>
      </p:sp>
      <p:sp>
        <p:nvSpPr>
          <p:cNvPr id="8" name="Stat 2 label"/>
          <p:cNvSpPr txBox="1"/>
          <p:nvPr/>
        </p:nvSpPr>
        <p:spPr>
          <a:xfrm>
            <a:off x="1645920" y="37947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realistic demo sales to test with</a:t>
            </a:r>
            <a:endParaRPr lang="en-US" sz="1300" dirty="0"/>
          </a:p>
        </p:txBody>
      </p:sp>
      <p:sp>
        <p:nvSpPr>
          <p:cNvPr id="9" name="LuBoxes tile"/>
          <p:cNvSpPr/>
          <p:nvPr/>
        </p:nvSpPr>
        <p:spPr>
          <a:xfrm>
            <a:off x="4069080" y="140817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0" name="LuBo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1517904"/>
            <a:ext cx="237744" cy="237744"/>
          </a:xfrm>
          <a:prstGeom prst="rect">
            <a:avLst/>
          </a:prstGeom>
        </p:spPr>
      </p:pic>
      <p:sp>
        <p:nvSpPr>
          <p:cNvPr id="11" name="Catalogue &amp; stock point"/>
          <p:cNvSpPr txBox="1"/>
          <p:nvPr/>
        </p:nvSpPr>
        <p:spPr>
          <a:xfrm>
            <a:off x="4636008" y="137160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Catalogue &amp; stock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Products, HSN codes and suppliers; every stock change kept in a ledger.</a:t>
            </a:r>
            <a:endParaRPr lang="en-US" sz="1400" dirty="0"/>
          </a:p>
        </p:txBody>
      </p:sp>
      <p:sp>
        <p:nvSpPr>
          <p:cNvPr id="12" name="LuScanBarcode tile"/>
          <p:cNvSpPr/>
          <p:nvPr/>
        </p:nvSpPr>
        <p:spPr>
          <a:xfrm>
            <a:off x="6446520" y="140817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3" name="LuScanBarcod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517904"/>
            <a:ext cx="237744" cy="237744"/>
          </a:xfrm>
          <a:prstGeom prst="rect">
            <a:avLst/>
          </a:prstGeom>
        </p:spPr>
      </p:pic>
      <p:sp>
        <p:nvSpPr>
          <p:cNvPr id="14" name="Fast billing point"/>
          <p:cNvSpPr txBox="1"/>
          <p:nvPr/>
        </p:nvSpPr>
        <p:spPr>
          <a:xfrm>
            <a:off x="7013448" y="137160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Fast billing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Barcode billing, discounts, cash, UPI or card, and a GST invoice PDF.</a:t>
            </a:r>
            <a:endParaRPr lang="en-US" sz="1400" dirty="0"/>
          </a:p>
        </p:txBody>
      </p:sp>
      <p:sp>
        <p:nvSpPr>
          <p:cNvPr id="15" name="LuReceiptIndianRupee tile"/>
          <p:cNvSpPr/>
          <p:nvPr/>
        </p:nvSpPr>
        <p:spPr>
          <a:xfrm>
            <a:off x="4069080" y="250545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6" name="LuReceiptIndianRupe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615184"/>
            <a:ext cx="237744" cy="237744"/>
          </a:xfrm>
          <a:prstGeom prst="rect">
            <a:avLst/>
          </a:prstGeom>
        </p:spPr>
      </p:pic>
      <p:sp>
        <p:nvSpPr>
          <p:cNvPr id="17" name="GST ready point"/>
          <p:cNvSpPr txBox="1"/>
          <p:nvPr/>
        </p:nvSpPr>
        <p:spPr>
          <a:xfrm>
            <a:off x="4636008" y="246888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GST ready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CGST + SGST or IGST by place of supply; credit notes for returns.</a:t>
            </a:r>
            <a:endParaRPr lang="en-US" sz="1400" dirty="0"/>
          </a:p>
        </p:txBody>
      </p:sp>
      <p:sp>
        <p:nvSpPr>
          <p:cNvPr id="18" name="LuTruck tile"/>
          <p:cNvSpPr/>
          <p:nvPr/>
        </p:nvSpPr>
        <p:spPr>
          <a:xfrm>
            <a:off x="6446520" y="250545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9" name="LuTru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615184"/>
            <a:ext cx="237744" cy="237744"/>
          </a:xfrm>
          <a:prstGeom prst="rect">
            <a:avLst/>
          </a:prstGeom>
        </p:spPr>
      </p:pic>
      <p:sp>
        <p:nvSpPr>
          <p:cNvPr id="20" name="Purchases point"/>
          <p:cNvSpPr txBox="1"/>
          <p:nvPr/>
        </p:nvSpPr>
        <p:spPr>
          <a:xfrm>
            <a:off x="7013448" y="246888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Purchases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Purchase orders, part deliveries and average cost price.</a:t>
            </a:r>
            <a:endParaRPr lang="en-US" sz="1400" dirty="0"/>
          </a:p>
        </p:txBody>
      </p:sp>
      <p:sp>
        <p:nvSpPr>
          <p:cNvPr id="21" name="LuChartColumn tile"/>
          <p:cNvSpPr/>
          <p:nvPr/>
        </p:nvSpPr>
        <p:spPr>
          <a:xfrm>
            <a:off x="4069080" y="360273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2" name="LuChartColum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3712464"/>
            <a:ext cx="237744" cy="237744"/>
          </a:xfrm>
          <a:prstGeom prst="rect">
            <a:avLst/>
          </a:prstGeom>
        </p:spPr>
      </p:pic>
      <p:sp>
        <p:nvSpPr>
          <p:cNvPr id="23" name="Reports point"/>
          <p:cNvSpPr txBox="1"/>
          <p:nvPr/>
        </p:nvSpPr>
        <p:spPr>
          <a:xfrm>
            <a:off x="4636008" y="356616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Sales, profit, GST summary and stock value, as CSV or PDF.</a:t>
            </a:r>
            <a:endParaRPr lang="en-US" sz="1400" dirty="0"/>
          </a:p>
        </p:txBody>
      </p:sp>
      <p:sp>
        <p:nvSpPr>
          <p:cNvPr id="24" name="LuSparkles tile"/>
          <p:cNvSpPr/>
          <p:nvPr/>
        </p:nvSpPr>
        <p:spPr>
          <a:xfrm>
            <a:off x="6446520" y="3602736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5" name="LuSparkl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712464"/>
            <a:ext cx="237744" cy="237744"/>
          </a:xfrm>
          <a:prstGeom prst="rect">
            <a:avLst/>
          </a:prstGeom>
        </p:spPr>
      </p:pic>
      <p:sp>
        <p:nvSpPr>
          <p:cNvPr id="26" name="AI assistance point"/>
          <p:cNvSpPr txBox="1"/>
          <p:nvPr/>
        </p:nvSpPr>
        <p:spPr>
          <a:xfrm>
            <a:off x="7013448" y="3566160"/>
            <a:ext cx="17190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AI assistance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6"/>
                </a:solidFill>
              </a:rPr>
              <a:t>Demand forecasts, restock plans the owner confirms, a Gemini assistant.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· INTRODUCTION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Problem panel"/>
          <p:cNvSpPr/>
          <p:nvPr/>
        </p:nvSpPr>
        <p:spPr>
          <a:xfrm>
            <a:off x="457200" y="1371600"/>
            <a:ext cx="370332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5" name="LuTriangleAlert tile"/>
          <p:cNvSpPr/>
          <p:nvPr/>
        </p:nvSpPr>
        <p:spPr>
          <a:xfrm>
            <a:off x="713232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4"/>
          </a:solidFill>
          <a:ln/>
        </p:spPr>
      </p:sp>
      <p:pic>
        <p:nvPicPr>
          <p:cNvPr id="6" name="LuTriangleAle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82496"/>
            <a:ext cx="237744" cy="237744"/>
          </a:xfrm>
          <a:prstGeom prst="rect">
            <a:avLst/>
          </a:prstGeom>
        </p:spPr>
      </p:pic>
      <p:sp>
        <p:nvSpPr>
          <p:cNvPr id="7" name="Problem heading"/>
          <p:cNvSpPr txBox="1"/>
          <p:nvPr/>
        </p:nvSpPr>
        <p:spPr>
          <a:xfrm>
            <a:off x="128016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a small store today</a:t>
            </a:r>
            <a:endParaRPr lang="en-US" sz="1800" dirty="0"/>
          </a:p>
        </p:txBody>
      </p:sp>
      <p:sp>
        <p:nvSpPr>
          <p:cNvPr id="8" name="Problem points"/>
          <p:cNvSpPr txBox="1"/>
          <p:nvPr/>
        </p:nvSpPr>
        <p:spPr>
          <a:xfrm>
            <a:off x="713232" y="21945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 kept in paper registers and spreadsheets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Books drift from the shelf; reorders by guesswork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GST invoices and tax summaries made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quick view of sales or profit</a:t>
            </a:r>
            <a:endParaRPr lang="en-US" sz="1400" dirty="0"/>
          </a:p>
        </p:txBody>
      </p:sp>
      <p:sp>
        <p:nvSpPr>
          <p:cNvPr id="9" name="Solution panel"/>
          <p:cNvSpPr/>
          <p:nvPr/>
        </p:nvSpPr>
        <p:spPr>
          <a:xfrm>
            <a:off x="4983480" y="1371600"/>
            <a:ext cx="3703320" cy="2788920"/>
          </a:xfrm>
          <a:prstGeom prst="roundRect">
            <a:avLst>
              <a:gd name="adj" fmla="val 3934"/>
            </a:avLst>
          </a:prstGeom>
          <a:solidFill>
            <a:srgbClr val="E2F1EC"/>
          </a:solidFill>
          <a:ln/>
        </p:spPr>
      </p:sp>
      <p:sp>
        <p:nvSpPr>
          <p:cNvPr id="10" name="LuCircleCheck tile"/>
          <p:cNvSpPr/>
          <p:nvPr/>
        </p:nvSpPr>
        <p:spPr>
          <a:xfrm>
            <a:off x="5239512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CircleChe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82496"/>
            <a:ext cx="237744" cy="237744"/>
          </a:xfrm>
          <a:prstGeom prst="rect">
            <a:avLst/>
          </a:prstGeom>
        </p:spPr>
      </p:pic>
      <p:sp>
        <p:nvSpPr>
          <p:cNvPr id="12" name="Solution heading"/>
          <p:cNvSpPr txBox="1"/>
          <p:nvPr/>
        </p:nvSpPr>
        <p:spPr>
          <a:xfrm>
            <a:off x="580644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With our system</a:t>
            </a:r>
            <a:endParaRPr lang="en-US" sz="1800" dirty="0"/>
          </a:p>
        </p:txBody>
      </p:sp>
      <p:sp>
        <p:nvSpPr>
          <p:cNvPr id="13" name="Solution points"/>
          <p:cNvSpPr txBox="1"/>
          <p:nvPr/>
        </p:nvSpPr>
        <p:spPr>
          <a:xfrm>
            <a:off x="5239512" y="21945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app for stock, purchases and billing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movement recorded; stock never goes negative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GST invoices, credit notes and GST summary built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Dashboard, reports and AI restock tips</a:t>
            </a:r>
            <a:endParaRPr lang="en-US" sz="1400" dirty="0"/>
          </a:p>
        </p:txBody>
      </p:sp>
      <p:sp>
        <p:nvSpPr>
          <p:cNvPr id="14" name="Arrow backing"/>
          <p:cNvSpPr/>
          <p:nvPr/>
        </p:nvSpPr>
        <p:spPr>
          <a:xfrm>
            <a:off x="4325112" y="2560320"/>
            <a:ext cx="502920" cy="50292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B2A30">
                <a:alpha val="18000"/>
              </a:srgbClr>
            </a:outerShdw>
          </a:effectLst>
        </p:spPr>
      </p:sp>
      <p:pic>
        <p:nvPicPr>
          <p:cNvPr id="15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70048"/>
            <a:ext cx="283464" cy="283464"/>
          </a:xfrm>
          <a:prstGeom prst="rect">
            <a:avLst/>
          </a:prstGeom>
        </p:spPr>
      </p:pic>
      <p:sp>
        <p:nvSpPr>
          <p:cNvPr id="16" name="LuCode tile"/>
          <p:cNvSpPr/>
          <p:nvPr/>
        </p:nvSpPr>
        <p:spPr>
          <a:xfrm>
            <a:off x="457200" y="4297680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/>
        </p:spPr>
      </p:sp>
      <p:pic>
        <p:nvPicPr>
          <p:cNvPr id="17" name="LuCod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5" y="4372295"/>
            <a:ext cx="161666" cy="161666"/>
          </a:xfrm>
          <a:prstGeom prst="rect">
            <a:avLst/>
          </a:prstGeom>
        </p:spPr>
      </p:pic>
      <p:sp>
        <p:nvSpPr>
          <p:cNvPr id="18" name="Stack note"/>
          <p:cNvSpPr txBox="1"/>
          <p:nvPr/>
        </p:nvSpPr>
        <p:spPr>
          <a:xfrm>
            <a:off x="868680" y="42976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Built on the MERN stack in TypeScript: MongoDB, Express, React and Node.js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· OBJECTIVES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Objective 1 card"/>
          <p:cNvSpPr/>
          <p:nvPr/>
        </p:nvSpPr>
        <p:spPr>
          <a:xfrm>
            <a:off x="457200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LuBoxes tile"/>
          <p:cNvSpPr/>
          <p:nvPr/>
        </p:nvSpPr>
        <p:spPr>
          <a:xfrm>
            <a:off x="640080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LuBo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41" y="1651041"/>
            <a:ext cx="209215" cy="209215"/>
          </a:xfrm>
          <a:prstGeom prst="rect">
            <a:avLst/>
          </a:prstGeom>
        </p:spPr>
      </p:pic>
      <p:sp>
        <p:nvSpPr>
          <p:cNvPr id="7" name="Objective 1 number"/>
          <p:cNvSpPr txBox="1"/>
          <p:nvPr/>
        </p:nvSpPr>
        <p:spPr>
          <a:xfrm>
            <a:off x="1673352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Objective 1"/>
          <p:cNvSpPr txBox="1"/>
          <p:nvPr/>
        </p:nvSpPr>
        <p:spPr>
          <a:xfrm>
            <a:off x="640080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Digitise products and suppliers with HSN codes and GST rates</a:t>
            </a:r>
            <a:endParaRPr lang="en-US" sz="1200" dirty="0"/>
          </a:p>
        </p:txBody>
      </p:sp>
      <p:sp>
        <p:nvSpPr>
          <p:cNvPr id="9" name="Objective 2 card"/>
          <p:cNvSpPr/>
          <p:nvPr/>
        </p:nvSpPr>
        <p:spPr>
          <a:xfrm>
            <a:off x="2565806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LuLayers tile"/>
          <p:cNvSpPr/>
          <p:nvPr/>
        </p:nvSpPr>
        <p:spPr>
          <a:xfrm>
            <a:off x="2748686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Layer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247" y="1651041"/>
            <a:ext cx="209215" cy="209215"/>
          </a:xfrm>
          <a:prstGeom prst="rect">
            <a:avLst/>
          </a:prstGeom>
        </p:spPr>
      </p:pic>
      <p:sp>
        <p:nvSpPr>
          <p:cNvPr id="12" name="Objective 2 number"/>
          <p:cNvSpPr txBox="1"/>
          <p:nvPr/>
        </p:nvSpPr>
        <p:spPr>
          <a:xfrm>
            <a:off x="3781958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Objective 2"/>
          <p:cNvSpPr txBox="1"/>
          <p:nvPr/>
        </p:nvSpPr>
        <p:spPr>
          <a:xfrm>
            <a:off x="2748686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Keep stock exact with a ledger and all-or-nothing transactions</a:t>
            </a:r>
            <a:endParaRPr lang="en-US" sz="1200" dirty="0"/>
          </a:p>
        </p:txBody>
      </p:sp>
      <p:sp>
        <p:nvSpPr>
          <p:cNvPr id="14" name="Objective 3 card"/>
          <p:cNvSpPr/>
          <p:nvPr/>
        </p:nvSpPr>
        <p:spPr>
          <a:xfrm>
            <a:off x="4674413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LuScanBarcode tile"/>
          <p:cNvSpPr/>
          <p:nvPr/>
        </p:nvSpPr>
        <p:spPr>
          <a:xfrm>
            <a:off x="4857293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6" name="LuScanBarcod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853" y="1651041"/>
            <a:ext cx="209215" cy="209215"/>
          </a:xfrm>
          <a:prstGeom prst="rect">
            <a:avLst/>
          </a:prstGeom>
        </p:spPr>
      </p:pic>
      <p:sp>
        <p:nvSpPr>
          <p:cNvPr id="17" name="Objective 3 number"/>
          <p:cNvSpPr txBox="1"/>
          <p:nvPr/>
        </p:nvSpPr>
        <p:spPr>
          <a:xfrm>
            <a:off x="5890565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Objective 3"/>
          <p:cNvSpPr txBox="1"/>
          <p:nvPr/>
        </p:nvSpPr>
        <p:spPr>
          <a:xfrm>
            <a:off x="4857293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Bill quickly at the counter and print a GST invoice</a:t>
            </a:r>
            <a:endParaRPr lang="en-US" sz="1200" dirty="0"/>
          </a:p>
        </p:txBody>
      </p:sp>
      <p:sp>
        <p:nvSpPr>
          <p:cNvPr id="19" name="Objective 4 card"/>
          <p:cNvSpPr/>
          <p:nvPr/>
        </p:nvSpPr>
        <p:spPr>
          <a:xfrm>
            <a:off x="6783019" y="1371600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LuTruck tile"/>
          <p:cNvSpPr/>
          <p:nvPr/>
        </p:nvSpPr>
        <p:spPr>
          <a:xfrm>
            <a:off x="6965899" y="1554480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1" name="LuTru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460" y="1651041"/>
            <a:ext cx="209215" cy="209215"/>
          </a:xfrm>
          <a:prstGeom prst="rect">
            <a:avLst/>
          </a:prstGeom>
        </p:spPr>
      </p:pic>
      <p:sp>
        <p:nvSpPr>
          <p:cNvPr id="22" name="Objective 4 number"/>
          <p:cNvSpPr txBox="1"/>
          <p:nvPr/>
        </p:nvSpPr>
        <p:spPr>
          <a:xfrm>
            <a:off x="7999171" y="15544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Objective 4"/>
          <p:cNvSpPr txBox="1"/>
          <p:nvPr/>
        </p:nvSpPr>
        <p:spPr>
          <a:xfrm>
            <a:off x="6965899" y="2048256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Handle purchase orders, deliveries and customer returns</a:t>
            </a:r>
            <a:endParaRPr lang="en-US" sz="1200" dirty="0"/>
          </a:p>
        </p:txBody>
      </p:sp>
      <p:sp>
        <p:nvSpPr>
          <p:cNvPr id="24" name="Objective 5 card"/>
          <p:cNvSpPr/>
          <p:nvPr/>
        </p:nvSpPr>
        <p:spPr>
          <a:xfrm>
            <a:off x="457200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LuChartColumn tile"/>
          <p:cNvSpPr/>
          <p:nvPr/>
        </p:nvSpPr>
        <p:spPr>
          <a:xfrm>
            <a:off x="640080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6" name="LuChartColum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1" y="3187233"/>
            <a:ext cx="209215" cy="209215"/>
          </a:xfrm>
          <a:prstGeom prst="rect">
            <a:avLst/>
          </a:prstGeom>
        </p:spPr>
      </p:pic>
      <p:sp>
        <p:nvSpPr>
          <p:cNvPr id="27" name="Objective 5 number"/>
          <p:cNvSpPr txBox="1"/>
          <p:nvPr/>
        </p:nvSpPr>
        <p:spPr>
          <a:xfrm>
            <a:off x="1673352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Objective 5"/>
          <p:cNvSpPr txBox="1"/>
          <p:nvPr/>
        </p:nvSpPr>
        <p:spPr>
          <a:xfrm>
            <a:off x="640080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sales, profit and GST in a dashboard and reports</a:t>
            </a:r>
            <a:endParaRPr lang="en-US" sz="1200" dirty="0"/>
          </a:p>
        </p:txBody>
      </p:sp>
      <p:sp>
        <p:nvSpPr>
          <p:cNvPr id="29" name="Objective 6 card"/>
          <p:cNvSpPr/>
          <p:nvPr/>
        </p:nvSpPr>
        <p:spPr>
          <a:xfrm>
            <a:off x="2565806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0" name="LuTrendingUp tile"/>
          <p:cNvSpPr/>
          <p:nvPr/>
        </p:nvSpPr>
        <p:spPr>
          <a:xfrm>
            <a:off x="2748686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1" name="LuTrendingUp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5247" y="3187233"/>
            <a:ext cx="209215" cy="209215"/>
          </a:xfrm>
          <a:prstGeom prst="rect">
            <a:avLst/>
          </a:prstGeom>
        </p:spPr>
      </p:pic>
      <p:sp>
        <p:nvSpPr>
          <p:cNvPr id="32" name="Objective 6 number"/>
          <p:cNvSpPr txBox="1"/>
          <p:nvPr/>
        </p:nvSpPr>
        <p:spPr>
          <a:xfrm>
            <a:off x="3781958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Objective 6"/>
          <p:cNvSpPr txBox="1"/>
          <p:nvPr/>
        </p:nvSpPr>
        <p:spPr>
          <a:xfrm>
            <a:off x="2748686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Forecast demand and prepare restock plans the owner confirms</a:t>
            </a:r>
            <a:endParaRPr lang="en-US" sz="1200" dirty="0"/>
          </a:p>
        </p:txBody>
      </p:sp>
      <p:sp>
        <p:nvSpPr>
          <p:cNvPr id="34" name="Objective 7 card"/>
          <p:cNvSpPr/>
          <p:nvPr/>
        </p:nvSpPr>
        <p:spPr>
          <a:xfrm>
            <a:off x="4674413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5" name="LuMessageSquareText tile"/>
          <p:cNvSpPr/>
          <p:nvPr/>
        </p:nvSpPr>
        <p:spPr>
          <a:xfrm>
            <a:off x="4857293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6" name="LuMessageSquareTex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853" y="3187233"/>
            <a:ext cx="209215" cy="209215"/>
          </a:xfrm>
          <a:prstGeom prst="rect">
            <a:avLst/>
          </a:prstGeom>
        </p:spPr>
      </p:pic>
      <p:sp>
        <p:nvSpPr>
          <p:cNvPr id="37" name="Objective 7 number"/>
          <p:cNvSpPr txBox="1"/>
          <p:nvPr/>
        </p:nvSpPr>
        <p:spPr>
          <a:xfrm>
            <a:off x="5890565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Objective 7"/>
          <p:cNvSpPr txBox="1"/>
          <p:nvPr/>
        </p:nvSpPr>
        <p:spPr>
          <a:xfrm>
            <a:off x="4857293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 the owner’s questions in plain English with AI</a:t>
            </a:r>
            <a:endParaRPr lang="en-US" sz="1200" dirty="0"/>
          </a:p>
        </p:txBody>
      </p:sp>
      <p:sp>
        <p:nvSpPr>
          <p:cNvPr id="39" name="Objective 8 card"/>
          <p:cNvSpPr/>
          <p:nvPr/>
        </p:nvSpPr>
        <p:spPr>
          <a:xfrm>
            <a:off x="6783019" y="2907792"/>
            <a:ext cx="190195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LuShieldCheck tile"/>
          <p:cNvSpPr/>
          <p:nvPr/>
        </p:nvSpPr>
        <p:spPr>
          <a:xfrm>
            <a:off x="6965899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41" name="LuShieldCheck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2460" y="3187233"/>
            <a:ext cx="209215" cy="209215"/>
          </a:xfrm>
          <a:prstGeom prst="rect">
            <a:avLst/>
          </a:prstGeom>
        </p:spPr>
      </p:pic>
      <p:sp>
        <p:nvSpPr>
          <p:cNvPr id="42" name="Objective 8 number"/>
          <p:cNvSpPr txBox="1"/>
          <p:nvPr/>
        </p:nvSpPr>
        <p:spPr>
          <a:xfrm>
            <a:off x="7999171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Objective 8"/>
          <p:cNvSpPr txBox="1"/>
          <p:nvPr/>
        </p:nvSpPr>
        <p:spPr>
          <a:xfrm>
            <a:off x="6965899" y="358444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Secure access for admin, manager and cashier roles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 · LITERATURE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sp>
        <p:nvSpPr>
          <p:cNvPr id="4" name="Papers chip"/>
          <p:cNvSpPr/>
          <p:nvPr/>
        </p:nvSpPr>
        <p:spPr>
          <a:xfrm>
            <a:off x="6720840" y="658368"/>
            <a:ext cx="19659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Papers chip text"/>
          <p:cNvSpPr txBox="1"/>
          <p:nvPr/>
        </p:nvSpPr>
        <p:spPr>
          <a:xfrm>
            <a:off x="6720840" y="6583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10 papers reviewed · 6 shown</a:t>
            </a:r>
            <a:endParaRPr lang="en-US" sz="1100" dirty="0"/>
          </a:p>
        </p:txBody>
      </p:sp>
      <p:graphicFrame>
        <p:nvGraphicFramePr>
          <p:cNvPr id="7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246120"/>
                <a:gridCol w="24688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offers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is missing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[1] Agboola et al., 2022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Web inventory system for SMEs on MySQL, replacing spreadsheets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GST billing, purchase orders or forecasting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[2] Lim et al., 2025 (EzStock)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Real-time stock for small businesses; 93.3% user satisfaction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forecasting or AI restocking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[3] Phuthaikampanatpinya &amp; Dechsupa, 2023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Web point of sale for retail SMEs (PHP, MySQL)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GST invoices or supplier orders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[4] Patil et al., 2022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Account, GST and inventory ERP on cloud storage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No demand forecasting or assistant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[5] Nasseri et al., 2023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Tree ensembles beat LSTM for retail demand prediction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Forecasting only; not linked to ordering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[6] Jiang et al., 2025 (SiriusBI)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LLM-powered business intelligence, 93% SQL accuracy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4"/>
                          </a:solidFill>
                        </a:rPr>
                        <a:t>For analysts; not tied to stock or billing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· METHODOLOGY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4" name="Flow line"/>
          <p:cNvSpPr/>
          <p:nvPr/>
        </p:nvSpPr>
        <p:spPr>
          <a:xfrm>
            <a:off x="1143000" y="1783080"/>
            <a:ext cx="68580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Step 1 circle"/>
          <p:cNvSpPr/>
          <p:nvPr/>
        </p:nvSpPr>
        <p:spPr>
          <a:xfrm>
            <a:off x="813816" y="145389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09344"/>
            <a:ext cx="347472" cy="347472"/>
          </a:xfrm>
          <a:prstGeom prst="rect">
            <a:avLst/>
          </a:prstGeom>
        </p:spPr>
      </p:pic>
      <p:sp>
        <p:nvSpPr>
          <p:cNvPr id="7" name="Step 1 label"/>
          <p:cNvSpPr txBox="1"/>
          <p:nvPr/>
        </p:nvSpPr>
        <p:spPr>
          <a:xfrm>
            <a:off x="5029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Step 1 title"/>
          <p:cNvSpPr txBox="1"/>
          <p:nvPr/>
        </p:nvSpPr>
        <p:spPr>
          <a:xfrm>
            <a:off x="5029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Study the problem</a:t>
            </a:r>
            <a:endParaRPr lang="en-US" sz="1350" dirty="0"/>
          </a:p>
        </p:txBody>
      </p:sp>
      <p:sp>
        <p:nvSpPr>
          <p:cNvPr id="9" name="Step 1 text"/>
          <p:cNvSpPr txBox="1"/>
          <p:nvPr/>
        </p:nvSpPr>
        <p:spPr>
          <a:xfrm>
            <a:off x="5029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Observe how small stores keep stock and bill today</a:t>
            </a:r>
            <a:endParaRPr lang="en-US" sz="1100" dirty="0"/>
          </a:p>
        </p:txBody>
      </p:sp>
      <p:sp>
        <p:nvSpPr>
          <p:cNvPr id="10" name="Step 2 circle"/>
          <p:cNvSpPr/>
          <p:nvPr/>
        </p:nvSpPr>
        <p:spPr>
          <a:xfrm>
            <a:off x="2185416" y="1453896"/>
            <a:ext cx="658368" cy="65836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1609344"/>
            <a:ext cx="347472" cy="347472"/>
          </a:xfrm>
          <a:prstGeom prst="rect">
            <a:avLst/>
          </a:prstGeom>
        </p:spPr>
      </p:pic>
      <p:sp>
        <p:nvSpPr>
          <p:cNvPr id="12" name="Step 2 label"/>
          <p:cNvSpPr txBox="1"/>
          <p:nvPr/>
        </p:nvSpPr>
        <p:spPr>
          <a:xfrm>
            <a:off x="18745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Step 2 title"/>
          <p:cNvSpPr txBox="1"/>
          <p:nvPr/>
        </p:nvSpPr>
        <p:spPr>
          <a:xfrm>
            <a:off x="18745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Gather requirements</a:t>
            </a:r>
            <a:endParaRPr lang="en-US" sz="1350" dirty="0"/>
          </a:p>
        </p:txBody>
      </p:sp>
      <p:sp>
        <p:nvSpPr>
          <p:cNvPr id="14" name="Step 2 text"/>
          <p:cNvSpPr txBox="1"/>
          <p:nvPr/>
        </p:nvSpPr>
        <p:spPr>
          <a:xfrm>
            <a:off x="18745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Roles, GST rules, billing, stock, purchases, reports</a:t>
            </a:r>
            <a:endParaRPr lang="en-US" sz="1100" dirty="0"/>
          </a:p>
        </p:txBody>
      </p:sp>
      <p:sp>
        <p:nvSpPr>
          <p:cNvPr id="15" name="Step 3 circle"/>
          <p:cNvSpPr/>
          <p:nvPr/>
        </p:nvSpPr>
        <p:spPr>
          <a:xfrm>
            <a:off x="3557016" y="145389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6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609344"/>
            <a:ext cx="347472" cy="347472"/>
          </a:xfrm>
          <a:prstGeom prst="rect">
            <a:avLst/>
          </a:prstGeom>
        </p:spPr>
      </p:pic>
      <p:sp>
        <p:nvSpPr>
          <p:cNvPr id="17" name="Step 3 label"/>
          <p:cNvSpPr txBox="1"/>
          <p:nvPr/>
        </p:nvSpPr>
        <p:spPr>
          <a:xfrm>
            <a:off x="32461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8" name="Step 3 title"/>
          <p:cNvSpPr txBox="1"/>
          <p:nvPr/>
        </p:nvSpPr>
        <p:spPr>
          <a:xfrm>
            <a:off x="32461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Design</a:t>
            </a:r>
            <a:endParaRPr lang="en-US" sz="1350" dirty="0"/>
          </a:p>
        </p:txBody>
      </p:sp>
      <p:sp>
        <p:nvSpPr>
          <p:cNvPr id="19" name="Step 3 text"/>
          <p:cNvSpPr txBox="1"/>
          <p:nvPr/>
        </p:nvSpPr>
        <p:spPr>
          <a:xfrm>
            <a:off x="32461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Architecture, database, REST API and screens</a:t>
            </a:r>
            <a:endParaRPr lang="en-US" sz="1100" dirty="0"/>
          </a:p>
        </p:txBody>
      </p:sp>
      <p:sp>
        <p:nvSpPr>
          <p:cNvPr id="20" name="Step 4 circle"/>
          <p:cNvSpPr/>
          <p:nvPr/>
        </p:nvSpPr>
        <p:spPr>
          <a:xfrm>
            <a:off x="4928616" y="1453896"/>
            <a:ext cx="658368" cy="65836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1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609344"/>
            <a:ext cx="347472" cy="347472"/>
          </a:xfrm>
          <a:prstGeom prst="rect">
            <a:avLst/>
          </a:prstGeom>
        </p:spPr>
      </p:pic>
      <p:sp>
        <p:nvSpPr>
          <p:cNvPr id="22" name="Step 4 label"/>
          <p:cNvSpPr txBox="1"/>
          <p:nvPr/>
        </p:nvSpPr>
        <p:spPr>
          <a:xfrm>
            <a:off x="46177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3" name="Step 4 title"/>
          <p:cNvSpPr txBox="1"/>
          <p:nvPr/>
        </p:nvSpPr>
        <p:spPr>
          <a:xfrm>
            <a:off x="46177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Build in steps</a:t>
            </a:r>
            <a:endParaRPr lang="en-US" sz="1350" dirty="0"/>
          </a:p>
        </p:txBody>
      </p:sp>
      <p:sp>
        <p:nvSpPr>
          <p:cNvPr id="24" name="Step 4 text"/>
          <p:cNvSpPr txBox="1"/>
          <p:nvPr/>
        </p:nvSpPr>
        <p:spPr>
          <a:xfrm>
            <a:off x="46177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Catalogue, stock, purchases, billing, returns, reports, AI</a:t>
            </a:r>
            <a:endParaRPr lang="en-US" sz="1100" dirty="0"/>
          </a:p>
        </p:txBody>
      </p:sp>
      <p:sp>
        <p:nvSpPr>
          <p:cNvPr id="25" name="Step 5 circle"/>
          <p:cNvSpPr/>
          <p:nvPr/>
        </p:nvSpPr>
        <p:spPr>
          <a:xfrm>
            <a:off x="6300216" y="145389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6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609344"/>
            <a:ext cx="347472" cy="347472"/>
          </a:xfrm>
          <a:prstGeom prst="rect">
            <a:avLst/>
          </a:prstGeom>
        </p:spPr>
      </p:pic>
      <p:sp>
        <p:nvSpPr>
          <p:cNvPr id="27" name="Step 5 label"/>
          <p:cNvSpPr txBox="1"/>
          <p:nvPr/>
        </p:nvSpPr>
        <p:spPr>
          <a:xfrm>
            <a:off x="59893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5</a:t>
            </a:r>
            <a:endParaRPr lang="en-US" sz="1000" dirty="0"/>
          </a:p>
        </p:txBody>
      </p:sp>
      <p:sp>
        <p:nvSpPr>
          <p:cNvPr id="28" name="Step 5 title"/>
          <p:cNvSpPr txBox="1"/>
          <p:nvPr/>
        </p:nvSpPr>
        <p:spPr>
          <a:xfrm>
            <a:off x="59893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Test</a:t>
            </a:r>
            <a:endParaRPr lang="en-US" sz="1350" dirty="0"/>
          </a:p>
        </p:txBody>
      </p:sp>
      <p:sp>
        <p:nvSpPr>
          <p:cNvPr id="29" name="Step 5 text"/>
          <p:cNvSpPr txBox="1"/>
          <p:nvPr/>
        </p:nvSpPr>
        <p:spPr>
          <a:xfrm>
            <a:off x="59893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Automated tests and checks on every change</a:t>
            </a:r>
            <a:endParaRPr lang="en-US" sz="1100" dirty="0"/>
          </a:p>
        </p:txBody>
      </p:sp>
      <p:sp>
        <p:nvSpPr>
          <p:cNvPr id="30" name="Step 6 circle"/>
          <p:cNvSpPr/>
          <p:nvPr/>
        </p:nvSpPr>
        <p:spPr>
          <a:xfrm>
            <a:off x="7671816" y="1453896"/>
            <a:ext cx="658368" cy="65836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31" name="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1609344"/>
            <a:ext cx="347472" cy="347472"/>
          </a:xfrm>
          <a:prstGeom prst="rect">
            <a:avLst/>
          </a:prstGeom>
        </p:spPr>
      </p:pic>
      <p:sp>
        <p:nvSpPr>
          <p:cNvPr id="32" name="Step 6 label"/>
          <p:cNvSpPr txBox="1"/>
          <p:nvPr/>
        </p:nvSpPr>
        <p:spPr>
          <a:xfrm>
            <a:off x="7360920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STEP 6</a:t>
            </a:r>
            <a:endParaRPr lang="en-US" sz="1000" dirty="0"/>
          </a:p>
        </p:txBody>
      </p:sp>
      <p:sp>
        <p:nvSpPr>
          <p:cNvPr id="33" name="Step 6 title"/>
          <p:cNvSpPr txBox="1"/>
          <p:nvPr/>
        </p:nvSpPr>
        <p:spPr>
          <a:xfrm>
            <a:off x="73609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Evaluate</a:t>
            </a:r>
            <a:endParaRPr lang="en-US" sz="1350" dirty="0"/>
          </a:p>
        </p:txBody>
      </p:sp>
      <p:sp>
        <p:nvSpPr>
          <p:cNvPr id="34" name="Step 6 text"/>
          <p:cNvSpPr txBox="1"/>
          <p:nvPr/>
        </p:nvSpPr>
        <p:spPr>
          <a:xfrm>
            <a:off x="73609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Demo year of sales, forecast accuracy, feedback</a:t>
            </a:r>
            <a:endParaRPr lang="en-US" sz="1100" dirty="0"/>
          </a:p>
        </p:txBody>
      </p:sp>
      <p:sp>
        <p:nvSpPr>
          <p:cNvPr id="35" name="Stack panel"/>
          <p:cNvSpPr/>
          <p:nvPr/>
        </p:nvSpPr>
        <p:spPr>
          <a:xfrm>
            <a:off x="457200" y="388620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36" name="Tools label"/>
          <p:cNvSpPr txBox="1"/>
          <p:nvPr/>
        </p:nvSpPr>
        <p:spPr>
          <a:xfrm>
            <a:off x="685800" y="388620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TOOLS</a:t>
            </a:r>
            <a:endParaRPr lang="en-US" sz="1100" dirty="0"/>
          </a:p>
        </p:txBody>
      </p:sp>
      <p:sp>
        <p:nvSpPr>
          <p:cNvPr id="37" name="React chip"/>
          <p:cNvSpPr/>
          <p:nvPr/>
        </p:nvSpPr>
        <p:spPr>
          <a:xfrm>
            <a:off x="1463040" y="4041648"/>
            <a:ext cx="777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8" name="React chip text"/>
          <p:cNvSpPr txBox="1"/>
          <p:nvPr/>
        </p:nvSpPr>
        <p:spPr>
          <a:xfrm>
            <a:off x="1463040" y="40416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React</a:t>
            </a:r>
            <a:endParaRPr lang="en-US" sz="1100" dirty="0"/>
          </a:p>
        </p:txBody>
      </p:sp>
      <p:sp>
        <p:nvSpPr>
          <p:cNvPr id="39" name="Node.js + Express chip"/>
          <p:cNvSpPr/>
          <p:nvPr/>
        </p:nvSpPr>
        <p:spPr>
          <a:xfrm>
            <a:off x="2350008" y="404164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0" name="Node.js + Express chip text"/>
          <p:cNvSpPr txBox="1"/>
          <p:nvPr/>
        </p:nvSpPr>
        <p:spPr>
          <a:xfrm>
            <a:off x="2350008" y="40416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Node.js + Express</a:t>
            </a:r>
            <a:endParaRPr lang="en-US" sz="1100" dirty="0"/>
          </a:p>
        </p:txBody>
      </p:sp>
      <p:sp>
        <p:nvSpPr>
          <p:cNvPr id="41" name="MongoDB chip"/>
          <p:cNvSpPr/>
          <p:nvPr/>
        </p:nvSpPr>
        <p:spPr>
          <a:xfrm>
            <a:off x="3877056" y="4041648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2" name="MongoDB chip text"/>
          <p:cNvSpPr txBox="1"/>
          <p:nvPr/>
        </p:nvSpPr>
        <p:spPr>
          <a:xfrm>
            <a:off x="3877056" y="40416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MongoDB</a:t>
            </a:r>
            <a:endParaRPr lang="en-US" sz="1100" dirty="0"/>
          </a:p>
        </p:txBody>
      </p:sp>
      <p:sp>
        <p:nvSpPr>
          <p:cNvPr id="43" name="TypeScript chip"/>
          <p:cNvSpPr/>
          <p:nvPr/>
        </p:nvSpPr>
        <p:spPr>
          <a:xfrm>
            <a:off x="4946904" y="4041648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4" name="TypeScript chip text"/>
          <p:cNvSpPr txBox="1"/>
          <p:nvPr/>
        </p:nvSpPr>
        <p:spPr>
          <a:xfrm>
            <a:off x="4946904" y="40416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45" name="Google Gemini chip"/>
          <p:cNvSpPr/>
          <p:nvPr/>
        </p:nvSpPr>
        <p:spPr>
          <a:xfrm>
            <a:off x="6062472" y="404164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6" name="Google Gemini chip text"/>
          <p:cNvSpPr txBox="1"/>
          <p:nvPr/>
        </p:nvSpPr>
        <p:spPr>
          <a:xfrm>
            <a:off x="6062472" y="40416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Google Gemini</a:t>
            </a:r>
            <a:endParaRPr lang="en-US" sz="1100" dirty="0"/>
          </a:p>
        </p:txBody>
      </p:sp>
      <p:sp>
        <p:nvSpPr>
          <p:cNvPr id="47" name="GitHub Actions chip"/>
          <p:cNvSpPr/>
          <p:nvPr/>
        </p:nvSpPr>
        <p:spPr>
          <a:xfrm>
            <a:off x="7406640" y="4041648"/>
            <a:ext cx="128016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8" name="GitHub Actions chip text"/>
          <p:cNvSpPr txBox="1"/>
          <p:nvPr/>
        </p:nvSpPr>
        <p:spPr>
          <a:xfrm>
            <a:off x="740664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64008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Questions"/>
          <p:cNvSpPr txBox="1"/>
          <p:nvPr/>
        </p:nvSpPr>
        <p:spPr>
          <a:xfrm>
            <a:off x="640080" y="2423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Questions and suggestions are welcome</a:t>
            </a:r>
            <a:endParaRPr lang="en-US" sz="1800" dirty="0"/>
          </a:p>
        </p:txBody>
      </p:sp>
      <p:sp>
        <p:nvSpPr>
          <p:cNvPr id="4" name="Team"/>
          <p:cNvSpPr txBox="1"/>
          <p:nvPr/>
        </p:nvSpPr>
        <p:spPr>
          <a:xfrm>
            <a:off x="64008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Keerthana P  ·  L Mohammed Fahad  ·  Mehfuza Khanum  ·  Mohammed Saad</a:t>
            </a:r>
            <a:endParaRPr lang="en-US" sz="1300" dirty="0"/>
          </a:p>
        </p:txBody>
      </p:sp>
      <p:sp>
        <p:nvSpPr>
          <p:cNvPr id="5" name="Guide and department"/>
          <p:cNvSpPr txBox="1"/>
          <p:nvPr/>
        </p:nvSpPr>
        <p:spPr>
          <a:xfrm>
            <a:off x="64008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Guide: Prof. APOORVA D  ·  Dept. of CSE (AI &amp; ML), Dr. TTIT, KGF</a:t>
            </a:r>
            <a:endParaRPr lang="en-US" sz="1200" dirty="0"/>
          </a:p>
        </p:txBody>
      </p:sp>
      <p:sp>
        <p:nvSpPr>
          <p:cNvPr id="6" name="LuBoxes tile"/>
          <p:cNvSpPr/>
          <p:nvPr/>
        </p:nvSpPr>
        <p:spPr>
          <a:xfrm>
            <a:off x="6400800" y="118872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7" name="LuBo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3" y="1397203"/>
            <a:ext cx="451714" cy="451714"/>
          </a:xfrm>
          <a:prstGeom prst="rect">
            <a:avLst/>
          </a:prstGeom>
        </p:spPr>
      </p:pic>
      <p:sp>
        <p:nvSpPr>
          <p:cNvPr id="8" name="LuScanBarcode tile"/>
          <p:cNvSpPr/>
          <p:nvPr/>
        </p:nvSpPr>
        <p:spPr>
          <a:xfrm>
            <a:off x="7452360" y="118872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9" name="LuScanBarcod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843" y="1397203"/>
            <a:ext cx="451714" cy="451714"/>
          </a:xfrm>
          <a:prstGeom prst="rect">
            <a:avLst/>
          </a:prstGeom>
        </p:spPr>
      </p:pic>
      <p:sp>
        <p:nvSpPr>
          <p:cNvPr id="10" name="LuChartColumn tile"/>
          <p:cNvSpPr/>
          <p:nvPr/>
        </p:nvSpPr>
        <p:spPr>
          <a:xfrm>
            <a:off x="6400800" y="224028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LuChartColum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3" y="2448763"/>
            <a:ext cx="451714" cy="451714"/>
          </a:xfrm>
          <a:prstGeom prst="rect">
            <a:avLst/>
          </a:prstGeom>
        </p:spPr>
      </p:pic>
      <p:sp>
        <p:nvSpPr>
          <p:cNvPr id="12" name="LuSparkles tile"/>
          <p:cNvSpPr/>
          <p:nvPr/>
        </p:nvSpPr>
        <p:spPr>
          <a:xfrm>
            <a:off x="7452360" y="2240280"/>
            <a:ext cx="868680" cy="86868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13" name="LuSparkl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843" y="2448763"/>
            <a:ext cx="451714" cy="451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dger Teal">
  <a:themeElements>
    <a:clrScheme name="Ledger Teal">
      <a:dk1>
        <a:srgbClr val="14262B"/>
      </a:dk1>
      <a:lt1>
        <a:srgbClr val="FFFFFF"/>
      </a:lt1>
      <a:dk2>
        <a:srgbClr val="0E3B43"/>
      </a:dk2>
      <a:lt2>
        <a:srgbClr val="EEF5F3"/>
      </a:lt2>
      <a:accent1>
        <a:srgbClr val="0E7C66"/>
      </a:accent1>
      <a:accent2>
        <a:srgbClr val="F2A007"/>
      </a:accent2>
      <a:accent3>
        <a:srgbClr val="8FD3BF"/>
      </a:accent3>
      <a:accent4>
        <a:srgbClr val="D9472B"/>
      </a:accent4>
      <a:accent5>
        <a:srgbClr val="2E5266"/>
      </a:accent5>
      <a:accent6>
        <a:srgbClr val="5E7B78"/>
      </a:accent6>
      <a:hlink>
        <a:srgbClr val="0E7C66"/>
      </a:hlink>
      <a:folHlink>
        <a:srgbClr val="5E7B78"/>
      </a:folHlink>
    </a:clrScheme>
    <a:fontScheme name="Ledger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Inventory and Sales Management System: First Review</dc:title>
  <dc:subject>Community Project, Dept. of CSE (AI &amp; ML), Dr. TTIT, KGF</dc:subject>
  <dc:creator>Keerthana P, L Mohammed Fahad, Mehfuza Khanum, Mohammed Saad</dc:creator>
  <cp:lastModifiedBy>Keerthana P, L Mohammed Fahad, Mehfuza Khanum, Mohammed Saad</cp:lastModifiedBy>
  <cp:revision>1</cp:revision>
  <dcterms:created xsi:type="dcterms:W3CDTF">2026-10-16T17:22:57Z</dcterms:created>
  <dcterms:modified xsi:type="dcterms:W3CDTF">2026-10-16T17:22:57Z</dcterms:modified>
</cp:coreProperties>
</file>