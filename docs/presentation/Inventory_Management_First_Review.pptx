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ver" id="{fd7cab4a-a794-1000-5c6c-39a4b4f6d7ca}">
          <p14:sldIdLst>
            <p14:sldId id="256"/>
          </p14:sldIdLst>
        </p14:section>
        <p14:section name="Overview" id="{02fe323f-19b8-a6b6-0609-4804d0f66a88}">
          <p14:sldIdLst>
            <p14:sldId id="257"/>
          </p14:sldIdLst>
        </p14:section>
        <p14:section name="The project" id="{c28de826-2ee3-7b5d-98ef-e707a4b3f74f}">
          <p14:sldIdLst>
            <p14:sldId id="258"/>
            <p14:sldId id="259"/>
            <p14:sldId id="260"/>
            <p14:sldId id="261"/>
            <p14:sldId id="262"/>
            <p14:sldId id="263"/>
          </p14:sldIdLst>
        </p14:section>
        <p14:section name="Research" id="{7d6693f6-47a2-57ff-69a3-9e25ffd13476}">
          <p14:sldIdLst>
            <p14:sldId id="264"/>
            <p14:sldId id="265"/>
            <p14:sldId id="266"/>
            <p14:sldId id="267"/>
          </p14:sldIdLst>
        </p14:section>
        <p14:section name="Design" id="{5d71d615-bc3c-47f3-265a-24ddecd3f34a}">
          <p14:sldIdLst>
            <p14:sldId id="268"/>
            <p14:sldId id="269"/>
          </p14:sldIdLst>
        </p14:section>
        <p14:section name="Approach" id="{e150c1a9-e912-8480-e871-9ec51826b110}">
          <p14:sldIdLst>
            <p14:sldId id="270"/>
            <p14:sldId id="271"/>
            <p14:sldId id="272"/>
          </p14:sldIdLst>
        </p14:section>
        <p14:section name="References" id="{614c5e06-0d58-71c2-37fd-d9df5e437373}">
          <p14:sldIdLst>
            <p14:sldId id="273"/>
          </p14:sldIdLst>
        </p14:section>
        <p14:section name="Close" id="{1af84e4b-7883-9ffc-d1db-34576cd872e1}">
          <p14:sldIdLst>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the team, the guide and the project title: a web application that runs a retail store’s stock, purchases, billing and GST, with AI to help decide what to reorder.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Twelve parts: from the abstract and the problem, through the literature and the design, to the methodology and references.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web app for the whole store. Six parts: catalogue and stock, billing, GST, purchases, reports and 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how many shops work today. Right: what the system changes. The stack is MongoDB, Express, React and Node.js.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need: one secure web system that records every stock movement, follows GST rules, forecasts demand and prepares orders the owner confirms. Existing tools either stop at record keeping or automate ordering without the owner.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Eight objectives: the first five run the shop day to day, the last three add AI and security.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Single store, three roles. The system covers every step goods go through. AI suggests; people decide.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Anywhere goods are bought from suppliers and sold over the counter, from a kirana store to a wholesaler.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Papers 1 to 4 replace manual records for small businesses; paper 5 shows forecasting works but sits outside a shop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Papers 6 and 7 automate replenishment fully; 8 and 9 show plain-English access to data, but for analysts; 10 surveys AI in retail.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findings from the survey, and the gap this project is designed to fill.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Row by row, how the proposed system improves on manual and existing tools.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tiers in one repository with a shared package. Google Gemini is optional and only used by the assistant.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Eight modules. The first seven are working; the AI forecasting, restock plans and assistant are being built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steps, from studying how shops work today to evaluating with a year of demo sales. The system is built module by module, each one tested before the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module is built, tested automatically, checked in the browser on realistic data and run through CI before the next one starts. Nine of the twelve build steps are done; the AI steps and final testing come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Forecast, decide, confirm. The forecasting runs inside the system with no external service; the owner always has the final say.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ten papers reviewed; full references with DOIs are in the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the panel and invite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chemeClr val="tx2"/>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502920"/>
            <a:ext cx="6400800" cy="640080"/>
          </a:xfrm>
          <a:prstGeom prst="rect">
            <a:avLst/>
          </a:prstGeom>
          <a:noFill/>
          <a:ln/>
        </p:spPr>
        <p:txBody>
          <a:bodyPr wrap="square" rtlCol="0"/>
          <a:lstStyle>
            <a:lvl1pPr algn="l" indent="0" marL="0">
              <a:buNone/>
              <a:defRPr lang="en-US" sz="3400" b="1" dirty="0">
                <a:solidFill>
                  <a:schemeClr val="tx2"/>
                </a:solidFill>
                <a:latin typeface="Cambria" pitchFamily="34" charset="0"/>
                <a:ea typeface="Cambria" pitchFamily="34" charset="-122"/>
                <a:cs typeface="Cambria" pitchFamily="34" charset="-120"/>
              </a:defRPr>
            </a:lvl1pPr>
          </a:lstStyle>
          <a:p>
            <a:pPr algn="l" indent="0" marL="0">
              <a:buNone/>
            </a:pPr>
            <a:r>
              <a:rPr lang="en-US" sz="3400" b="1" dirty="0">
                <a:solidFill>
                  <a:schemeClr val="tx2"/>
                </a:solidFill>
                <a:latin typeface="Cambria" pitchFamily="34" charset="0"/>
                <a:ea typeface="Cambria" pitchFamily="34" charset="-122"/>
                <a:cs typeface="Cambria" pitchFamily="34" charset="-120"/>
              </a:rPr>
              <a:t>Title</a:t>
            </a:r>
            <a:endParaRPr lang="en-US" sz="3400" dirty="0"/>
          </a:p>
        </p:txBody>
      </p:sp>
      <p:sp>
        <p:nvSpPr>
          <p:cNvPr id="3" name="Text 0"/>
          <p:cNvSpPr/>
          <p:nvPr/>
        </p:nvSpPr>
        <p:spPr>
          <a:xfrm>
            <a:off x="457200" y="4754880"/>
            <a:ext cx="6858000" cy="274320"/>
          </a:xfrm>
          <a:prstGeom prst="rect">
            <a:avLst/>
          </a:prstGeom>
          <a:noFill/>
          <a:ln/>
        </p:spPr>
        <p:txBody>
          <a:bodyPr wrap="square" lIns="0" tIns="0" rIns="0" bIns="0" rtlCol="0" anchor="ctr"/>
          <a:lstStyle/>
          <a:p>
            <a:pPr indent="0" marL="0">
              <a:buNone/>
            </a:pPr>
            <a:r>
              <a:rPr lang="en-US" sz="1000" dirty="0">
                <a:solidFill>
                  <a:schemeClr val="accent6"/>
                </a:solidFill>
              </a:rPr>
              <a:t>Digital Inventory &amp; Sales Management System  ·  Dept. of CSE (AI &amp; ML), Dr. TTIT, KGF</a:t>
            </a:r>
            <a:endParaRPr lang="en-US" sz="10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2.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slideLayout" Target="../slideLayouts/slideLayout3.xml"/><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3.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3.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image" Target="../media/image-6-8.png"/><Relationship Id="rId9" Type="http://schemas.openxmlformats.org/officeDocument/2006/relationships/slideLayout" Target="../slideLayouts/slideLayout3.xml"/><Relationship Id="rId10"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3.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slideLayout" Target="../slideLayouts/slideLayout3.xml"/><Relationship Id="rId10"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3.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slideLayout" Target="../slideLayouts/slideLayout3.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image" Target="../media/image-14-7.png"/><Relationship Id="rId8" Type="http://schemas.openxmlformats.org/officeDocument/2006/relationships/image" Target="../media/image-14-8.png"/><Relationship Id="rId9" Type="http://schemas.openxmlformats.org/officeDocument/2006/relationships/slideLayout" Target="../slideLayouts/slideLayout3.xml"/><Relationship Id="rId10"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slideLayout" Target="../slideLayouts/slideLayout3.xml"/><Relationship Id="rId8"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3.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slideLayout" Target="../slideLayouts/slideLayout3.xml"/><Relationship Id="rId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slideLayout" Target="../slideLayouts/slideLayout2.xml"/><Relationship Id="rId6"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VTU logo backing"/>
          <p:cNvSpPr/>
          <p:nvPr/>
        </p:nvSpPr>
        <p:spPr>
          <a:xfrm>
            <a:off x="411480" y="256032"/>
            <a:ext cx="868680" cy="868680"/>
          </a:xfrm>
          <a:prstGeom prst="roundRect">
            <a:avLst>
              <a:gd name="adj" fmla="val 18947"/>
            </a:avLst>
          </a:prstGeom>
          <a:solidFill>
            <a:schemeClr val="bg1"/>
          </a:solidFill>
          <a:ln/>
        </p:spPr>
      </p:sp>
      <p:pic>
        <p:nvPicPr>
          <p:cNvPr id="3" name="VTU logo" descr="VTU logo">    </p:cNvPr>
          <p:cNvPicPr>
            <a:picLocks noChangeAspect="1"/>
          </p:cNvPicPr>
          <p:nvPr/>
        </p:nvPicPr>
        <p:blipFill>
          <a:blip r:embed="rId1"/>
          <a:stretch>
            <a:fillRect/>
          </a:stretch>
        </p:blipFill>
        <p:spPr>
          <a:xfrm>
            <a:off x="484632" y="329184"/>
            <a:ext cx="722376" cy="722376"/>
          </a:xfrm>
          <a:prstGeom prst="rect">
            <a:avLst/>
          </a:prstGeom>
        </p:spPr>
      </p:pic>
      <p:sp>
        <p:nvSpPr>
          <p:cNvPr id="4" name="Dr. TTIT logo backing"/>
          <p:cNvSpPr/>
          <p:nvPr/>
        </p:nvSpPr>
        <p:spPr>
          <a:xfrm>
            <a:off x="7863840" y="256032"/>
            <a:ext cx="868680" cy="868680"/>
          </a:xfrm>
          <a:prstGeom prst="roundRect">
            <a:avLst>
              <a:gd name="adj" fmla="val 18947"/>
            </a:avLst>
          </a:prstGeom>
          <a:solidFill>
            <a:schemeClr val="bg1"/>
          </a:solidFill>
          <a:ln/>
        </p:spPr>
      </p:sp>
      <p:pic>
        <p:nvPicPr>
          <p:cNvPr id="5" name="Dr. TTIT logo" descr="Dr. TTIT logo">    </p:cNvPr>
          <p:cNvPicPr>
            <a:picLocks noChangeAspect="1"/>
          </p:cNvPicPr>
          <p:nvPr/>
        </p:nvPicPr>
        <p:blipFill>
          <a:blip r:embed="rId2"/>
          <a:stretch>
            <a:fillRect/>
          </a:stretch>
        </p:blipFill>
        <p:spPr>
          <a:xfrm>
            <a:off x="7936992" y="329184"/>
            <a:ext cx="722376" cy="722376"/>
          </a:xfrm>
          <a:prstGeom prst="rect">
            <a:avLst/>
          </a:prstGeom>
        </p:spPr>
      </p:pic>
      <p:sp>
        <p:nvSpPr>
          <p:cNvPr id="6" name="Institution"/>
          <p:cNvSpPr txBox="1"/>
          <p:nvPr/>
        </p:nvSpPr>
        <p:spPr>
          <a:xfrm>
            <a:off x="1417320" y="274320"/>
            <a:ext cx="6309360" cy="841248"/>
          </a:xfrm>
          <a:prstGeom prst="rect">
            <a:avLst/>
          </a:prstGeom>
          <a:noFill/>
          <a:ln/>
        </p:spPr>
        <p:txBody>
          <a:bodyPr wrap="square" lIns="0" tIns="0" rIns="0" bIns="0" rtlCol="0" anchor="ctr"/>
          <a:lstStyle/>
          <a:p>
            <a:pPr algn="ctr" indent="0" marL="0">
              <a:spcAft>
                <a:spcPts val="200"/>
              </a:spcAft>
              <a:buNone/>
            </a:pPr>
            <a:r>
              <a:rPr lang="en-US" sz="1300" b="1" dirty="0">
                <a:solidFill>
                  <a:schemeClr val="bg1"/>
                </a:solidFill>
              </a:rPr>
              <a:t>VISVESVARAYA TECHNOLOGICAL UNIVERSITY, BELAGAVI</a:t>
            </a:r>
            <a:endParaRPr lang="en-US" sz="1300" dirty="0"/>
          </a:p>
          <a:p>
            <a:pPr algn="ctr" indent="0" marL="0">
              <a:spcAft>
                <a:spcPts val="200"/>
              </a:spcAft>
              <a:buNone/>
            </a:pPr>
            <a:r>
              <a:rPr lang="en-US" sz="1200" b="1" dirty="0">
                <a:solidFill>
                  <a:schemeClr val="accent2"/>
                </a:solidFill>
              </a:rPr>
              <a:t>Dr. T. THIMMAIAH INSTITUTE OF TECHNOLOGY, KGF</a:t>
            </a:r>
            <a:endParaRPr lang="en-US" sz="1300" dirty="0"/>
          </a:p>
          <a:p>
            <a:pPr algn="ctr" indent="0" marL="0">
              <a:spcAft>
                <a:spcPts val="200"/>
              </a:spcAft>
              <a:buNone/>
            </a:pPr>
            <a:r>
              <a:rPr lang="en-US" sz="1100" dirty="0">
                <a:solidFill>
                  <a:schemeClr val="accent3"/>
                </a:solidFill>
              </a:rPr>
              <a:t>Department of Computer Science &amp; Engineering (AI &amp; ML)</a:t>
            </a:r>
            <a:endParaRPr lang="en-US" sz="1300" dirty="0"/>
          </a:p>
        </p:txBody>
      </p:sp>
      <p:sp>
        <p:nvSpPr>
          <p:cNvPr id="7" name="Review chip"/>
          <p:cNvSpPr/>
          <p:nvPr/>
        </p:nvSpPr>
        <p:spPr>
          <a:xfrm>
            <a:off x="457200" y="1417320"/>
            <a:ext cx="2788920" cy="310896"/>
          </a:xfrm>
          <a:prstGeom prst="roundRect">
            <a:avLst>
              <a:gd name="adj" fmla="val 50000"/>
            </a:avLst>
          </a:prstGeom>
          <a:solidFill>
            <a:schemeClr val="accent2"/>
          </a:solidFill>
          <a:ln/>
        </p:spPr>
      </p:sp>
      <p:sp>
        <p:nvSpPr>
          <p:cNvPr id="8" name="Review chip text"/>
          <p:cNvSpPr txBox="1"/>
          <p:nvPr/>
        </p:nvSpPr>
        <p:spPr>
          <a:xfrm>
            <a:off x="457200" y="1417320"/>
            <a:ext cx="2788920" cy="310896"/>
          </a:xfrm>
          <a:prstGeom prst="rect">
            <a:avLst/>
          </a:prstGeom>
          <a:noFill/>
          <a:ln/>
        </p:spPr>
        <p:txBody>
          <a:bodyPr wrap="square" lIns="0" tIns="0" rIns="0" bIns="0" rtlCol="0" anchor="ctr"/>
          <a:lstStyle/>
          <a:p>
            <a:pPr algn="ctr" indent="0" marL="0">
              <a:buNone/>
            </a:pPr>
            <a:r>
              <a:rPr lang="en-US" sz="1000" b="1" spc="100" kern="0" dirty="0">
                <a:solidFill>
                  <a:schemeClr val="tx1"/>
                </a:solidFill>
              </a:rPr>
              <a:t>COMMUNITY PROJECT  ·  FIRST REVIEW</a:t>
            </a:r>
            <a:endParaRPr lang="en-US" sz="1000" dirty="0"/>
          </a:p>
        </p:txBody>
      </p:sp>
      <p:sp>
        <p:nvSpPr>
          <p:cNvPr id="9" name="Project title"/>
          <p:cNvSpPr txBox="1"/>
          <p:nvPr/>
        </p:nvSpPr>
        <p:spPr>
          <a:xfrm>
            <a:off x="457200" y="1810512"/>
            <a:ext cx="4663440" cy="1097280"/>
          </a:xfrm>
          <a:prstGeom prst="rect">
            <a:avLst/>
          </a:prstGeom>
          <a:noFill/>
          <a:ln/>
        </p:spPr>
        <p:txBody>
          <a:bodyPr wrap="square" lIns="0" tIns="0" rIns="0" bIns="0" rtlCol="0" anchor="t"/>
          <a:lstStyle/>
          <a:p>
            <a:pPr indent="0" marL="0">
              <a:buNone/>
            </a:pPr>
            <a:r>
              <a:rPr lang="en-US" sz="3000" b="1" dirty="0">
                <a:solidFill>
                  <a:schemeClr val="bg1"/>
                </a:solidFill>
                <a:latin typeface="Cambria" pitchFamily="34" charset="0"/>
                <a:ea typeface="Cambria" pitchFamily="34" charset="-122"/>
                <a:cs typeface="Cambria" pitchFamily="34" charset="-120"/>
              </a:rPr>
              <a:t>Digital Inventory &amp; Sales Management System</a:t>
            </a:r>
            <a:endParaRPr lang="en-US" sz="3000" dirty="0"/>
          </a:p>
        </p:txBody>
      </p:sp>
      <p:sp>
        <p:nvSpPr>
          <p:cNvPr id="10" name="Tagline"/>
          <p:cNvSpPr txBox="1"/>
          <p:nvPr/>
        </p:nvSpPr>
        <p:spPr>
          <a:xfrm>
            <a:off x="457200" y="2907792"/>
            <a:ext cx="4663440" cy="310896"/>
          </a:xfrm>
          <a:prstGeom prst="rect">
            <a:avLst/>
          </a:prstGeom>
          <a:noFill/>
          <a:ln/>
        </p:spPr>
        <p:txBody>
          <a:bodyPr wrap="square" lIns="0" tIns="0" rIns="0" bIns="0" rtlCol="0" anchor="ctr"/>
          <a:lstStyle/>
          <a:p>
            <a:pPr indent="0" marL="0">
              <a:buNone/>
            </a:pPr>
            <a:r>
              <a:rPr lang="en-US" sz="1400" i="1" dirty="0">
                <a:solidFill>
                  <a:schemeClr val="accent3"/>
                </a:solidFill>
              </a:rPr>
              <a:t>Stock  ·  Billing  ·  GST  ·  AI-assisted restocking</a:t>
            </a:r>
            <a:endParaRPr lang="en-US" sz="1400" dirty="0"/>
          </a:p>
        </p:txBody>
      </p:sp>
      <p:sp>
        <p:nvSpPr>
          <p:cNvPr id="11" name="Team card"/>
          <p:cNvSpPr/>
          <p:nvPr/>
        </p:nvSpPr>
        <p:spPr>
          <a:xfrm>
            <a:off x="457200" y="3364992"/>
            <a:ext cx="4663440" cy="1371600"/>
          </a:xfrm>
          <a:prstGeom prst="roundRect">
            <a:avLst>
              <a:gd name="adj" fmla="val 8000"/>
            </a:avLst>
          </a:prstGeom>
          <a:solidFill>
            <a:schemeClr val="bg1">
              <a:alpha val="10000"/>
            </a:schemeClr>
          </a:solidFill>
          <a:ln w="9525">
            <a:solidFill>
              <a:schemeClr val="accent3">
                <a:alpha val="30000"/>
              </a:schemeClr>
            </a:solidFill>
            <a:prstDash val="solid"/>
          </a:ln>
        </p:spPr>
      </p:sp>
      <p:sp>
        <p:nvSpPr>
          <p:cNvPr id="12" name="Team label"/>
          <p:cNvSpPr txBox="1"/>
          <p:nvPr/>
        </p:nvSpPr>
        <p:spPr>
          <a:xfrm>
            <a:off x="658368" y="3474720"/>
            <a:ext cx="2743200" cy="228600"/>
          </a:xfrm>
          <a:prstGeom prst="rect">
            <a:avLst/>
          </a:prstGeom>
          <a:noFill/>
          <a:ln/>
        </p:spPr>
        <p:txBody>
          <a:bodyPr wrap="square" lIns="0" tIns="0" rIns="0" bIns="0" rtlCol="0" anchor="ctr"/>
          <a:lstStyle/>
          <a:p>
            <a:pPr indent="0" marL="0">
              <a:buNone/>
            </a:pPr>
            <a:r>
              <a:rPr lang="en-US" sz="1000" b="1" spc="200" kern="0" dirty="0">
                <a:solidFill>
                  <a:schemeClr val="accent2"/>
                </a:solidFill>
              </a:rPr>
              <a:t>PRESENTED BY</a:t>
            </a:r>
            <a:endParaRPr lang="en-US" sz="1000" dirty="0"/>
          </a:p>
        </p:txBody>
      </p:sp>
      <p:sp>
        <p:nvSpPr>
          <p:cNvPr id="13" name="Member 1"/>
          <p:cNvSpPr txBox="1"/>
          <p:nvPr/>
        </p:nvSpPr>
        <p:spPr>
          <a:xfrm>
            <a:off x="658368" y="3730752"/>
            <a:ext cx="2148840" cy="438912"/>
          </a:xfrm>
          <a:prstGeom prst="rect">
            <a:avLst/>
          </a:prstGeom>
          <a:noFill/>
          <a:ln/>
        </p:spPr>
        <p:txBody>
          <a:bodyPr wrap="square" lIns="0" tIns="0" rIns="0" bIns="0" rtlCol="0" anchor="t"/>
          <a:lstStyle/>
          <a:p>
            <a:pPr indent="0" marL="0">
              <a:buNone/>
            </a:pPr>
            <a:r>
              <a:rPr lang="en-US" sz="1300" b="1" dirty="0">
                <a:solidFill>
                  <a:schemeClr val="bg1"/>
                </a:solidFill>
              </a:rPr>
              <a:t>Keerthana P</a:t>
            </a:r>
            <a:endParaRPr lang="en-US" sz="1300" dirty="0"/>
          </a:p>
          <a:p>
            <a:pPr indent="0" marL="0">
              <a:buNone/>
            </a:pPr>
            <a:r>
              <a:rPr lang="en-US" sz="1100" dirty="0">
                <a:solidFill>
                  <a:schemeClr val="accent3"/>
                </a:solidFill>
              </a:rPr>
              <a:t>1GV25CI021</a:t>
            </a:r>
            <a:endParaRPr lang="en-US" sz="1300" dirty="0"/>
          </a:p>
        </p:txBody>
      </p:sp>
      <p:sp>
        <p:nvSpPr>
          <p:cNvPr id="14" name="Member 2"/>
          <p:cNvSpPr txBox="1"/>
          <p:nvPr/>
        </p:nvSpPr>
        <p:spPr>
          <a:xfrm>
            <a:off x="2898648" y="3730752"/>
            <a:ext cx="2148840" cy="438912"/>
          </a:xfrm>
          <a:prstGeom prst="rect">
            <a:avLst/>
          </a:prstGeom>
          <a:noFill/>
          <a:ln/>
        </p:spPr>
        <p:txBody>
          <a:bodyPr wrap="square" lIns="0" tIns="0" rIns="0" bIns="0" rtlCol="0" anchor="t"/>
          <a:lstStyle/>
          <a:p>
            <a:pPr indent="0" marL="0">
              <a:buNone/>
            </a:pPr>
            <a:r>
              <a:rPr lang="en-US" sz="1300" b="1" dirty="0">
                <a:solidFill>
                  <a:schemeClr val="bg1"/>
                </a:solidFill>
              </a:rPr>
              <a:t>L Mohammed Fahad</a:t>
            </a:r>
            <a:endParaRPr lang="en-US" sz="1300" dirty="0"/>
          </a:p>
          <a:p>
            <a:pPr indent="0" marL="0">
              <a:buNone/>
            </a:pPr>
            <a:r>
              <a:rPr lang="en-US" sz="1100" dirty="0">
                <a:solidFill>
                  <a:schemeClr val="accent3"/>
                </a:solidFill>
              </a:rPr>
              <a:t>1GV25CI023</a:t>
            </a:r>
            <a:endParaRPr lang="en-US" sz="1300" dirty="0"/>
          </a:p>
        </p:txBody>
      </p:sp>
      <p:sp>
        <p:nvSpPr>
          <p:cNvPr id="15" name="Member 3"/>
          <p:cNvSpPr txBox="1"/>
          <p:nvPr/>
        </p:nvSpPr>
        <p:spPr>
          <a:xfrm>
            <a:off x="658368" y="4187952"/>
            <a:ext cx="2148840" cy="438912"/>
          </a:xfrm>
          <a:prstGeom prst="rect">
            <a:avLst/>
          </a:prstGeom>
          <a:noFill/>
          <a:ln/>
        </p:spPr>
        <p:txBody>
          <a:bodyPr wrap="square" lIns="0" tIns="0" rIns="0" bIns="0" rtlCol="0" anchor="t"/>
          <a:lstStyle/>
          <a:p>
            <a:pPr indent="0" marL="0">
              <a:buNone/>
            </a:pPr>
            <a:r>
              <a:rPr lang="en-US" sz="1300" b="1" dirty="0">
                <a:solidFill>
                  <a:schemeClr val="bg1"/>
                </a:solidFill>
              </a:rPr>
              <a:t>Mehfuza Khanum</a:t>
            </a:r>
            <a:endParaRPr lang="en-US" sz="1300" dirty="0"/>
          </a:p>
          <a:p>
            <a:pPr indent="0" marL="0">
              <a:buNone/>
            </a:pPr>
            <a:r>
              <a:rPr lang="en-US" sz="1100" dirty="0">
                <a:solidFill>
                  <a:schemeClr val="accent3"/>
                </a:solidFill>
              </a:rPr>
              <a:t>1GV25CI026</a:t>
            </a:r>
            <a:endParaRPr lang="en-US" sz="1300" dirty="0"/>
          </a:p>
        </p:txBody>
      </p:sp>
      <p:sp>
        <p:nvSpPr>
          <p:cNvPr id="16" name="Member 4"/>
          <p:cNvSpPr txBox="1"/>
          <p:nvPr/>
        </p:nvSpPr>
        <p:spPr>
          <a:xfrm>
            <a:off x="2898648" y="4187952"/>
            <a:ext cx="2148840" cy="438912"/>
          </a:xfrm>
          <a:prstGeom prst="rect">
            <a:avLst/>
          </a:prstGeom>
          <a:noFill/>
          <a:ln/>
        </p:spPr>
        <p:txBody>
          <a:bodyPr wrap="square" lIns="0" tIns="0" rIns="0" bIns="0" rtlCol="0" anchor="t"/>
          <a:lstStyle/>
          <a:p>
            <a:pPr indent="0" marL="0">
              <a:buNone/>
            </a:pPr>
            <a:r>
              <a:rPr lang="en-US" sz="1300" b="1" dirty="0">
                <a:solidFill>
                  <a:schemeClr val="bg1"/>
                </a:solidFill>
              </a:rPr>
              <a:t>Mohammed Saad</a:t>
            </a:r>
            <a:endParaRPr lang="en-US" sz="1300" dirty="0"/>
          </a:p>
          <a:p>
            <a:pPr indent="0" marL="0">
              <a:buNone/>
            </a:pPr>
            <a:r>
              <a:rPr lang="en-US" sz="1100" dirty="0">
                <a:solidFill>
                  <a:schemeClr val="accent3"/>
                </a:solidFill>
              </a:rPr>
              <a:t>1GV25CI028</a:t>
            </a:r>
            <a:endParaRPr lang="en-US" sz="1300" dirty="0"/>
          </a:p>
        </p:txBody>
      </p:sp>
      <p:sp>
        <p:nvSpPr>
          <p:cNvPr id="17" name="Screenshot frame"/>
          <p:cNvSpPr/>
          <p:nvPr/>
        </p:nvSpPr>
        <p:spPr>
          <a:xfrm>
            <a:off x="5349240" y="1417320"/>
            <a:ext cx="3383280" cy="2167128"/>
          </a:xfrm>
          <a:prstGeom prst="roundRect">
            <a:avLst>
              <a:gd name="adj" fmla="val 3376"/>
            </a:avLst>
          </a:prstGeom>
          <a:solidFill>
            <a:schemeClr val="bg1"/>
          </a:solidFill>
          <a:ln/>
          <a:effectLst>
            <a:outerShdw sx="100000" sy="100000" kx="0" ky="0" algn="bl" rotWithShape="0" blurRad="152400" dist="50800" dir="5400000">
              <a:srgbClr val="000000">
                <a:alpha val="35000"/>
              </a:srgbClr>
            </a:outerShdw>
          </a:effectLst>
        </p:spPr>
      </p:sp>
      <p:pic>
        <p:nvPicPr>
          <p:cNvPr id="18" name="Dashboard screenshot" descr="The system’s dashboard: net sales, profit, bills and a sales trend chart">    </p:cNvPr>
          <p:cNvPicPr>
            <a:picLocks noChangeAspect="1"/>
          </p:cNvPicPr>
          <p:nvPr/>
        </p:nvPicPr>
        <p:blipFill>
          <a:blip r:embed="rId3"/>
          <a:stretch>
            <a:fillRect/>
          </a:stretch>
        </p:blipFill>
        <p:spPr>
          <a:xfrm>
            <a:off x="5413248" y="1481328"/>
            <a:ext cx="3255264" cy="2039112"/>
          </a:xfrm>
          <a:prstGeom prst="rect">
            <a:avLst/>
          </a:prstGeom>
        </p:spPr>
      </p:pic>
      <p:sp>
        <p:nvSpPr>
          <p:cNvPr id="19" name="Guide"/>
          <p:cNvSpPr txBox="1"/>
          <p:nvPr/>
        </p:nvSpPr>
        <p:spPr>
          <a:xfrm>
            <a:off x="5349240" y="3840480"/>
            <a:ext cx="3383280" cy="896112"/>
          </a:xfrm>
          <a:prstGeom prst="rect">
            <a:avLst/>
          </a:prstGeom>
          <a:noFill/>
          <a:ln/>
        </p:spPr>
        <p:txBody>
          <a:bodyPr wrap="square" lIns="0" tIns="0" rIns="0" bIns="0" rtlCol="0" anchor="t"/>
          <a:lstStyle/>
          <a:p>
            <a:pPr indent="0" marL="0">
              <a:spcAft>
                <a:spcPts val="200"/>
              </a:spcAft>
              <a:buNone/>
            </a:pPr>
            <a:r>
              <a:rPr lang="en-US" sz="1000" b="1" spc="200" kern="0" dirty="0">
                <a:solidFill>
                  <a:schemeClr val="accent2"/>
                </a:solidFill>
              </a:rPr>
              <a:t>UNDER THE GUIDANCE OF</a:t>
            </a:r>
            <a:endParaRPr lang="en-US" sz="1000" dirty="0"/>
          </a:p>
          <a:p>
            <a:pPr indent="0" marL="0">
              <a:spcAft>
                <a:spcPts val="200"/>
              </a:spcAft>
              <a:buNone/>
            </a:pPr>
            <a:r>
              <a:rPr lang="en-US" sz="1500" b="1" dirty="0">
                <a:solidFill>
                  <a:schemeClr val="bg1"/>
                </a:solidFill>
              </a:rPr>
              <a:t>Prof. APOORVA D</a:t>
            </a:r>
            <a:endParaRPr lang="en-US" sz="1000" dirty="0"/>
          </a:p>
          <a:p>
            <a:pPr indent="0" marL="0">
              <a:spcAft>
                <a:spcPts val="200"/>
              </a:spcAft>
              <a:buNone/>
            </a:pPr>
            <a:r>
              <a:rPr lang="en-US" sz="1100" dirty="0">
                <a:solidFill>
                  <a:schemeClr val="accent3"/>
                </a:solidFill>
              </a:rPr>
              <a:t>Assistant Professor, Dept. of CSE (AI &amp; ML)</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Eyebrow"/>
          <p:cNvSpPr txBox="1"/>
          <p:nvPr/>
        </p:nvSpPr>
        <p:spPr>
          <a:xfrm>
            <a:off x="457200" y="274320"/>
            <a:ext cx="5486400" cy="256032"/>
          </a:xfrm>
          <a:prstGeom prst="rect">
            <a:avLst/>
          </a:prstGeom>
          <a:noFill/>
          <a:ln/>
        </p:spPr>
        <p:txBody>
          <a:bodyPr wrap="square" lIns="0" tIns="0" rIns="0" bIns="0" rtlCol="0" anchor="ctr"/>
          <a:lstStyle/>
          <a:p>
            <a:pPr indent="0" marL="0">
              <a:buNone/>
            </a:pPr>
            <a:r>
              <a:rPr lang="en-US" sz="1100" b="1" spc="200" kern="0" dirty="0">
                <a:solidFill>
                  <a:schemeClr val="accent1"/>
                </a:solidFill>
              </a:rPr>
              <a:t>FIRST REVIEW</a:t>
            </a:r>
            <a:endParaRPr lang="en-US" sz="1100" dirty="0"/>
          </a:p>
        </p:txBody>
      </p:sp>
      <p:sp>
        <p:nvSpPr>
          <p:cNvPr id="3" name="Text 0"/>
          <p:cNvSpPr/>
          <p:nvPr>
            <p:ph idx="100" type="title" hasCustomPrompt="1"/>
          </p:nvPr>
        </p:nvSpPr>
        <p:spPr>
          <a:xfrm>
            <a:off x="457200" y="502920"/>
            <a:ext cx="6400800" cy="640080"/>
          </a:xfrm>
          <a:prstGeom prst="rect">
            <a:avLst/>
          </a:prstGeom>
          <a:noFill/>
          <a:ln/>
        </p:spPr>
        <p:txBody>
          <a:bodyPr wrap="square" lIns="0" tIns="0" rIns="0" bIns="0" rtlCol="0" anchor="ctr"/>
          <a:lstStyle/>
          <a:p>
            <a:pPr algn="l" indent="0" marL="0">
              <a:buNone/>
            </a:pPr>
            <a:r>
              <a:rPr lang="en-US" sz="3400" b="1" dirty="0">
                <a:solidFill>
                  <a:schemeClr val="tx2"/>
                </a:solidFill>
                <a:latin typeface="Cambria" pitchFamily="34" charset="0"/>
                <a:ea typeface="Cambria" pitchFamily="34" charset="-122"/>
                <a:cs typeface="Cambria" pitchFamily="34" charset="-120"/>
              </a:rPr>
              <a:t>Contents</a:t>
            </a:r>
            <a:endParaRPr lang="en-US" sz="3400" dirty="0"/>
          </a:p>
        </p:txBody>
      </p:sp>
      <p:sp>
        <p:nvSpPr>
          <p:cNvPr id="4" name="Abstract row"/>
          <p:cNvSpPr/>
          <p:nvPr/>
        </p:nvSpPr>
        <p:spPr>
          <a:xfrm>
            <a:off x="457200" y="1371600"/>
            <a:ext cx="3931920" cy="438912"/>
          </a:xfrm>
          <a:prstGeom prst="roundRect">
            <a:avLst>
              <a:gd name="adj" fmla="val 20833"/>
            </a:avLst>
          </a:prstGeom>
          <a:solidFill>
            <a:schemeClr val="bg2"/>
          </a:solidFill>
          <a:ln/>
        </p:spPr>
      </p:sp>
      <p:sp>
        <p:nvSpPr>
          <p:cNvPr id="5" name="Abstract number tile"/>
          <p:cNvSpPr/>
          <p:nvPr/>
        </p:nvSpPr>
        <p:spPr>
          <a:xfrm>
            <a:off x="521208" y="1435608"/>
            <a:ext cx="457200" cy="310896"/>
          </a:xfrm>
          <a:prstGeom prst="roundRect">
            <a:avLst>
              <a:gd name="adj" fmla="val 23529"/>
            </a:avLst>
          </a:prstGeom>
          <a:solidFill>
            <a:schemeClr val="accent1"/>
          </a:solidFill>
          <a:ln/>
        </p:spPr>
      </p:sp>
      <p:sp>
        <p:nvSpPr>
          <p:cNvPr id="6" name="Abstract number"/>
          <p:cNvSpPr txBox="1"/>
          <p:nvPr/>
        </p:nvSpPr>
        <p:spPr>
          <a:xfrm>
            <a:off x="521208" y="1435608"/>
            <a:ext cx="457200" cy="310896"/>
          </a:xfrm>
          <a:prstGeom prst="rect">
            <a:avLst/>
          </a:prstGeom>
          <a:noFill/>
          <a:ln/>
        </p:spPr>
        <p:txBody>
          <a:bodyPr wrap="square" lIns="0" tIns="0" rIns="0" bIns="0" rtlCol="0" anchor="ctr"/>
          <a:lstStyle/>
          <a:p>
            <a:pPr algn="ctr" indent="0" marL="0">
              <a:buNone/>
            </a:pPr>
            <a:r>
              <a:rPr lang="en-US" sz="1300" b="1" dirty="0">
                <a:solidFill>
                  <a:schemeClr val="bg1"/>
                </a:solidFill>
              </a:rPr>
              <a:t>01</a:t>
            </a:r>
            <a:endParaRPr lang="en-US" sz="1300" dirty="0"/>
          </a:p>
        </p:txBody>
      </p:sp>
      <p:sp>
        <p:nvSpPr>
          <p:cNvPr id="7" name="Abstract label"/>
          <p:cNvSpPr txBox="1"/>
          <p:nvPr/>
        </p:nvSpPr>
        <p:spPr>
          <a:xfrm>
            <a:off x="1143000" y="1371600"/>
            <a:ext cx="3154680" cy="438912"/>
          </a:xfrm>
          <a:prstGeom prst="rect">
            <a:avLst/>
          </a:prstGeom>
          <a:noFill/>
          <a:ln/>
        </p:spPr>
        <p:txBody>
          <a:bodyPr wrap="square" lIns="0" tIns="0" rIns="0" bIns="0" rtlCol="0" anchor="ctr"/>
          <a:lstStyle/>
          <a:p>
            <a:pPr indent="0" marL="0">
              <a:buNone/>
            </a:pPr>
            <a:r>
              <a:rPr lang="en-US" sz="1500" b="1" dirty="0">
                <a:solidFill>
                  <a:schemeClr val="tx2"/>
                </a:solidFill>
              </a:rPr>
              <a:t>Abstract</a:t>
            </a:r>
            <a:endParaRPr lang="en-US" sz="1500" dirty="0"/>
          </a:p>
        </p:txBody>
      </p:sp>
      <p:sp>
        <p:nvSpPr>
          <p:cNvPr id="8" name="Introduction row"/>
          <p:cNvSpPr/>
          <p:nvPr/>
        </p:nvSpPr>
        <p:spPr>
          <a:xfrm>
            <a:off x="457200" y="1901952"/>
            <a:ext cx="3931920" cy="438912"/>
          </a:xfrm>
          <a:prstGeom prst="roundRect">
            <a:avLst>
              <a:gd name="adj" fmla="val 20833"/>
            </a:avLst>
          </a:prstGeom>
          <a:solidFill>
            <a:schemeClr val="bg2"/>
          </a:solidFill>
          <a:ln/>
        </p:spPr>
      </p:sp>
      <p:sp>
        <p:nvSpPr>
          <p:cNvPr id="9" name="Introduction number tile"/>
          <p:cNvSpPr/>
          <p:nvPr/>
        </p:nvSpPr>
        <p:spPr>
          <a:xfrm>
            <a:off x="521208" y="1965960"/>
            <a:ext cx="457200" cy="310896"/>
          </a:xfrm>
          <a:prstGeom prst="roundRect">
            <a:avLst>
              <a:gd name="adj" fmla="val 23529"/>
            </a:avLst>
          </a:prstGeom>
          <a:solidFill>
            <a:schemeClr val="tx2"/>
          </a:solidFill>
          <a:ln/>
        </p:spPr>
      </p:sp>
      <p:sp>
        <p:nvSpPr>
          <p:cNvPr id="10" name="Introduction number"/>
          <p:cNvSpPr txBox="1"/>
          <p:nvPr/>
        </p:nvSpPr>
        <p:spPr>
          <a:xfrm>
            <a:off x="521208" y="1965960"/>
            <a:ext cx="457200" cy="310896"/>
          </a:xfrm>
          <a:prstGeom prst="rect">
            <a:avLst/>
          </a:prstGeom>
          <a:noFill/>
          <a:ln/>
        </p:spPr>
        <p:txBody>
          <a:bodyPr wrap="square" lIns="0" tIns="0" rIns="0" bIns="0" rtlCol="0" anchor="ctr"/>
          <a:lstStyle/>
          <a:p>
            <a:pPr algn="ctr" indent="0" marL="0">
              <a:buNone/>
            </a:pPr>
            <a:r>
              <a:rPr lang="en-US" sz="1300" b="1" dirty="0">
                <a:solidFill>
                  <a:schemeClr val="bg1"/>
                </a:solidFill>
              </a:rPr>
              <a:t>02</a:t>
            </a:r>
            <a:endParaRPr lang="en-US" sz="1300" dirty="0"/>
          </a:p>
        </p:txBody>
      </p:sp>
      <p:sp>
        <p:nvSpPr>
          <p:cNvPr id="11" name="Introduction label"/>
          <p:cNvSpPr txBox="1"/>
          <p:nvPr/>
        </p:nvSpPr>
        <p:spPr>
          <a:xfrm>
            <a:off x="1143000" y="1901952"/>
            <a:ext cx="3154680" cy="438912"/>
          </a:xfrm>
          <a:prstGeom prst="rect">
            <a:avLst/>
          </a:prstGeom>
          <a:noFill/>
          <a:ln/>
        </p:spPr>
        <p:txBody>
          <a:bodyPr wrap="square" lIns="0" tIns="0" rIns="0" bIns="0" rtlCol="0" anchor="ctr"/>
          <a:lstStyle/>
          <a:p>
            <a:pPr indent="0" marL="0">
              <a:buNone/>
            </a:pPr>
            <a:r>
              <a:rPr lang="en-US" sz="1500" b="1" dirty="0">
                <a:solidFill>
                  <a:schemeClr val="tx2"/>
                </a:solidFill>
              </a:rPr>
              <a:t>Introduction</a:t>
            </a:r>
            <a:endParaRPr lang="en-US" sz="1500" dirty="0"/>
          </a:p>
        </p:txBody>
      </p:sp>
      <p:sp>
        <p:nvSpPr>
          <p:cNvPr id="12" name="Problem Statement row"/>
          <p:cNvSpPr/>
          <p:nvPr/>
        </p:nvSpPr>
        <p:spPr>
          <a:xfrm>
            <a:off x="457200" y="2432304"/>
            <a:ext cx="3931920" cy="438912"/>
          </a:xfrm>
          <a:prstGeom prst="roundRect">
            <a:avLst>
              <a:gd name="adj" fmla="val 20833"/>
            </a:avLst>
          </a:prstGeom>
          <a:solidFill>
            <a:schemeClr val="bg2"/>
          </a:solidFill>
          <a:ln/>
        </p:spPr>
      </p:sp>
      <p:sp>
        <p:nvSpPr>
          <p:cNvPr id="13" name="Problem Statement number tile"/>
          <p:cNvSpPr/>
          <p:nvPr/>
        </p:nvSpPr>
        <p:spPr>
          <a:xfrm>
            <a:off x="521208" y="2496312"/>
            <a:ext cx="457200" cy="310896"/>
          </a:xfrm>
          <a:prstGeom prst="roundRect">
            <a:avLst>
              <a:gd name="adj" fmla="val 23529"/>
            </a:avLst>
          </a:prstGeom>
          <a:solidFill>
            <a:schemeClr val="accent1"/>
          </a:solidFill>
          <a:ln/>
        </p:spPr>
      </p:sp>
      <p:sp>
        <p:nvSpPr>
          <p:cNvPr id="14" name="Problem Statement number"/>
          <p:cNvSpPr txBox="1"/>
          <p:nvPr/>
        </p:nvSpPr>
        <p:spPr>
          <a:xfrm>
            <a:off x="521208" y="2496312"/>
            <a:ext cx="457200" cy="310896"/>
          </a:xfrm>
          <a:prstGeom prst="rect">
            <a:avLst/>
          </a:prstGeom>
          <a:noFill/>
          <a:ln/>
        </p:spPr>
        <p:txBody>
          <a:bodyPr wrap="square" lIns="0" tIns="0" rIns="0" bIns="0" rtlCol="0" anchor="ctr"/>
          <a:lstStyle/>
          <a:p>
            <a:pPr algn="ctr" indent="0" marL="0">
              <a:buNone/>
            </a:pPr>
            <a:r>
              <a:rPr lang="en-US" sz="1300" b="1" dirty="0">
                <a:solidFill>
                  <a:schemeClr val="bg1"/>
                </a:solidFill>
              </a:rPr>
              <a:t>03</a:t>
            </a:r>
            <a:endParaRPr lang="en-US" sz="1300" dirty="0"/>
          </a:p>
        </p:txBody>
      </p:sp>
      <p:sp>
        <p:nvSpPr>
          <p:cNvPr id="15" name="Problem Statement label"/>
          <p:cNvSpPr txBox="1"/>
          <p:nvPr/>
        </p:nvSpPr>
        <p:spPr>
          <a:xfrm>
            <a:off x="1143000" y="2432304"/>
            <a:ext cx="3154680" cy="438912"/>
          </a:xfrm>
          <a:prstGeom prst="rect">
            <a:avLst/>
          </a:prstGeom>
          <a:noFill/>
          <a:ln/>
        </p:spPr>
        <p:txBody>
          <a:bodyPr wrap="square" lIns="0" tIns="0" rIns="0" bIns="0" rtlCol="0" anchor="ctr"/>
          <a:lstStyle/>
          <a:p>
            <a:pPr indent="0" marL="0">
              <a:buNone/>
            </a:pPr>
            <a:r>
              <a:rPr lang="en-US" sz="1500" b="1" dirty="0">
                <a:solidFill>
                  <a:schemeClr val="tx2"/>
                </a:solidFill>
              </a:rPr>
              <a:t>Problem Statement</a:t>
            </a:r>
            <a:endParaRPr lang="en-US" sz="1500" dirty="0"/>
          </a:p>
        </p:txBody>
      </p:sp>
      <p:sp>
        <p:nvSpPr>
          <p:cNvPr id="16" name="Objectives row"/>
          <p:cNvSpPr/>
          <p:nvPr/>
        </p:nvSpPr>
        <p:spPr>
          <a:xfrm>
            <a:off x="457200" y="2962656"/>
            <a:ext cx="3931920" cy="438912"/>
          </a:xfrm>
          <a:prstGeom prst="roundRect">
            <a:avLst>
              <a:gd name="adj" fmla="val 20833"/>
            </a:avLst>
          </a:prstGeom>
          <a:solidFill>
            <a:schemeClr val="bg2"/>
          </a:solidFill>
          <a:ln/>
        </p:spPr>
      </p:sp>
      <p:sp>
        <p:nvSpPr>
          <p:cNvPr id="17" name="Objectives number tile"/>
          <p:cNvSpPr/>
          <p:nvPr/>
        </p:nvSpPr>
        <p:spPr>
          <a:xfrm>
            <a:off x="521208" y="3026664"/>
            <a:ext cx="457200" cy="310896"/>
          </a:xfrm>
          <a:prstGeom prst="roundRect">
            <a:avLst>
              <a:gd name="adj" fmla="val 23529"/>
            </a:avLst>
          </a:prstGeom>
          <a:solidFill>
            <a:schemeClr val="tx2"/>
          </a:solidFill>
          <a:ln/>
        </p:spPr>
      </p:sp>
      <p:sp>
        <p:nvSpPr>
          <p:cNvPr id="18" name="Objectives number"/>
          <p:cNvSpPr txBox="1"/>
          <p:nvPr/>
        </p:nvSpPr>
        <p:spPr>
          <a:xfrm>
            <a:off x="521208" y="3026664"/>
            <a:ext cx="457200" cy="310896"/>
          </a:xfrm>
          <a:prstGeom prst="rect">
            <a:avLst/>
          </a:prstGeom>
          <a:noFill/>
          <a:ln/>
        </p:spPr>
        <p:txBody>
          <a:bodyPr wrap="square" lIns="0" tIns="0" rIns="0" bIns="0" rtlCol="0" anchor="ctr"/>
          <a:lstStyle/>
          <a:p>
            <a:pPr algn="ctr" indent="0" marL="0">
              <a:buNone/>
            </a:pPr>
            <a:r>
              <a:rPr lang="en-US" sz="1300" b="1" dirty="0">
                <a:solidFill>
                  <a:schemeClr val="bg1"/>
                </a:solidFill>
              </a:rPr>
              <a:t>04</a:t>
            </a:r>
            <a:endParaRPr lang="en-US" sz="1300" dirty="0"/>
          </a:p>
        </p:txBody>
      </p:sp>
      <p:sp>
        <p:nvSpPr>
          <p:cNvPr id="19" name="Objectives label"/>
          <p:cNvSpPr txBox="1"/>
          <p:nvPr/>
        </p:nvSpPr>
        <p:spPr>
          <a:xfrm>
            <a:off x="1143000" y="2962656"/>
            <a:ext cx="3154680" cy="438912"/>
          </a:xfrm>
          <a:prstGeom prst="rect">
            <a:avLst/>
          </a:prstGeom>
          <a:noFill/>
          <a:ln/>
        </p:spPr>
        <p:txBody>
          <a:bodyPr wrap="square" lIns="0" tIns="0" rIns="0" bIns="0" rtlCol="0" anchor="ctr"/>
          <a:lstStyle/>
          <a:p>
            <a:pPr indent="0" marL="0">
              <a:buNone/>
            </a:pPr>
            <a:r>
              <a:rPr lang="en-US" sz="1500" b="1" dirty="0">
                <a:solidFill>
                  <a:schemeClr val="tx2"/>
                </a:solidFill>
              </a:rPr>
              <a:t>Objectives</a:t>
            </a:r>
            <a:endParaRPr lang="en-US" sz="1500" dirty="0"/>
          </a:p>
        </p:txBody>
      </p:sp>
      <p:sp>
        <p:nvSpPr>
          <p:cNvPr id="20" name="Scope and Applications row"/>
          <p:cNvSpPr/>
          <p:nvPr/>
        </p:nvSpPr>
        <p:spPr>
          <a:xfrm>
            <a:off x="457200" y="3493008"/>
            <a:ext cx="3931920" cy="438912"/>
          </a:xfrm>
          <a:prstGeom prst="roundRect">
            <a:avLst>
              <a:gd name="adj" fmla="val 20833"/>
            </a:avLst>
          </a:prstGeom>
          <a:solidFill>
            <a:schemeClr val="bg2"/>
          </a:solidFill>
          <a:ln/>
        </p:spPr>
      </p:sp>
      <p:sp>
        <p:nvSpPr>
          <p:cNvPr id="21" name="Scope and Applications number tile"/>
          <p:cNvSpPr/>
          <p:nvPr/>
        </p:nvSpPr>
        <p:spPr>
          <a:xfrm>
            <a:off x="521208" y="3557016"/>
            <a:ext cx="457200" cy="310896"/>
          </a:xfrm>
          <a:prstGeom prst="roundRect">
            <a:avLst>
              <a:gd name="adj" fmla="val 23529"/>
            </a:avLst>
          </a:prstGeom>
          <a:solidFill>
            <a:schemeClr val="accent1"/>
          </a:solidFill>
          <a:ln/>
        </p:spPr>
      </p:sp>
      <p:sp>
        <p:nvSpPr>
          <p:cNvPr id="22" name="Scope and Applications number"/>
          <p:cNvSpPr txBox="1"/>
          <p:nvPr/>
        </p:nvSpPr>
        <p:spPr>
          <a:xfrm>
            <a:off x="521208" y="3557016"/>
            <a:ext cx="457200" cy="310896"/>
          </a:xfrm>
          <a:prstGeom prst="rect">
            <a:avLst/>
          </a:prstGeom>
          <a:noFill/>
          <a:ln/>
        </p:spPr>
        <p:txBody>
          <a:bodyPr wrap="square" lIns="0" tIns="0" rIns="0" bIns="0" rtlCol="0" anchor="ctr"/>
          <a:lstStyle/>
          <a:p>
            <a:pPr algn="ctr" indent="0" marL="0">
              <a:buNone/>
            </a:pPr>
            <a:r>
              <a:rPr lang="en-US" sz="1300" b="1" dirty="0">
                <a:solidFill>
                  <a:schemeClr val="bg1"/>
                </a:solidFill>
              </a:rPr>
              <a:t>05</a:t>
            </a:r>
            <a:endParaRPr lang="en-US" sz="1300" dirty="0"/>
          </a:p>
        </p:txBody>
      </p:sp>
      <p:sp>
        <p:nvSpPr>
          <p:cNvPr id="23" name="Scope and Applications label"/>
          <p:cNvSpPr txBox="1"/>
          <p:nvPr/>
        </p:nvSpPr>
        <p:spPr>
          <a:xfrm>
            <a:off x="1143000" y="3493008"/>
            <a:ext cx="3154680" cy="438912"/>
          </a:xfrm>
          <a:prstGeom prst="rect">
            <a:avLst/>
          </a:prstGeom>
          <a:noFill/>
          <a:ln/>
        </p:spPr>
        <p:txBody>
          <a:bodyPr wrap="square" lIns="0" tIns="0" rIns="0" bIns="0" rtlCol="0" anchor="ctr"/>
          <a:lstStyle/>
          <a:p>
            <a:pPr indent="0" marL="0">
              <a:buNone/>
            </a:pPr>
            <a:r>
              <a:rPr lang="en-US" sz="1500" b="1" dirty="0">
                <a:solidFill>
                  <a:schemeClr val="tx2"/>
                </a:solidFill>
              </a:rPr>
              <a:t>Scope and Applications</a:t>
            </a:r>
            <a:endParaRPr lang="en-US" sz="1500" dirty="0"/>
          </a:p>
        </p:txBody>
      </p:sp>
      <p:sp>
        <p:nvSpPr>
          <p:cNvPr id="24" name="Literature Review row"/>
          <p:cNvSpPr/>
          <p:nvPr/>
        </p:nvSpPr>
        <p:spPr>
          <a:xfrm>
            <a:off x="457200" y="4023360"/>
            <a:ext cx="3931920" cy="438912"/>
          </a:xfrm>
          <a:prstGeom prst="roundRect">
            <a:avLst>
              <a:gd name="adj" fmla="val 20833"/>
            </a:avLst>
          </a:prstGeom>
          <a:solidFill>
            <a:schemeClr val="bg2"/>
          </a:solidFill>
          <a:ln/>
        </p:spPr>
      </p:sp>
      <p:sp>
        <p:nvSpPr>
          <p:cNvPr id="25" name="Literature Review number tile"/>
          <p:cNvSpPr/>
          <p:nvPr/>
        </p:nvSpPr>
        <p:spPr>
          <a:xfrm>
            <a:off x="521208" y="4087368"/>
            <a:ext cx="457200" cy="310896"/>
          </a:xfrm>
          <a:prstGeom prst="roundRect">
            <a:avLst>
              <a:gd name="adj" fmla="val 23529"/>
            </a:avLst>
          </a:prstGeom>
          <a:solidFill>
            <a:schemeClr val="tx2"/>
          </a:solidFill>
          <a:ln/>
        </p:spPr>
      </p:sp>
      <p:sp>
        <p:nvSpPr>
          <p:cNvPr id="26" name="Literature Review number"/>
          <p:cNvSpPr txBox="1"/>
          <p:nvPr/>
        </p:nvSpPr>
        <p:spPr>
          <a:xfrm>
            <a:off x="521208" y="4087368"/>
            <a:ext cx="457200" cy="310896"/>
          </a:xfrm>
          <a:prstGeom prst="rect">
            <a:avLst/>
          </a:prstGeom>
          <a:noFill/>
          <a:ln/>
        </p:spPr>
        <p:txBody>
          <a:bodyPr wrap="square" lIns="0" tIns="0" rIns="0" bIns="0" rtlCol="0" anchor="ctr"/>
          <a:lstStyle/>
          <a:p>
            <a:pPr algn="ctr" indent="0" marL="0">
              <a:buNone/>
            </a:pPr>
            <a:r>
              <a:rPr lang="en-US" sz="1300" b="1" dirty="0">
                <a:solidFill>
                  <a:schemeClr val="bg1"/>
                </a:solidFill>
              </a:rPr>
              <a:t>06</a:t>
            </a:r>
            <a:endParaRPr lang="en-US" sz="1300" dirty="0"/>
          </a:p>
        </p:txBody>
      </p:sp>
      <p:sp>
        <p:nvSpPr>
          <p:cNvPr id="27" name="Literature Review label"/>
          <p:cNvSpPr txBox="1"/>
          <p:nvPr/>
        </p:nvSpPr>
        <p:spPr>
          <a:xfrm>
            <a:off x="1143000" y="4023360"/>
            <a:ext cx="3154680" cy="438912"/>
          </a:xfrm>
          <a:prstGeom prst="rect">
            <a:avLst/>
          </a:prstGeom>
          <a:noFill/>
          <a:ln/>
        </p:spPr>
        <p:txBody>
          <a:bodyPr wrap="square" lIns="0" tIns="0" rIns="0" bIns="0" rtlCol="0" anchor="ctr"/>
          <a:lstStyle/>
          <a:p>
            <a:pPr indent="0" marL="0">
              <a:buNone/>
            </a:pPr>
            <a:r>
              <a:rPr lang="en-US" sz="1500" b="1" dirty="0">
                <a:solidFill>
                  <a:schemeClr val="tx2"/>
                </a:solidFill>
              </a:rPr>
              <a:t>Literature Review</a:t>
            </a:r>
            <a:endParaRPr lang="en-US" sz="1500" dirty="0"/>
          </a:p>
        </p:txBody>
      </p:sp>
      <p:sp>
        <p:nvSpPr>
          <p:cNvPr id="28" name="Existing vs Proposed System row"/>
          <p:cNvSpPr/>
          <p:nvPr/>
        </p:nvSpPr>
        <p:spPr>
          <a:xfrm>
            <a:off x="4663440" y="1371600"/>
            <a:ext cx="3931920" cy="438912"/>
          </a:xfrm>
          <a:prstGeom prst="roundRect">
            <a:avLst>
              <a:gd name="adj" fmla="val 20833"/>
            </a:avLst>
          </a:prstGeom>
          <a:solidFill>
            <a:schemeClr val="bg2"/>
          </a:solidFill>
          <a:ln/>
        </p:spPr>
      </p:sp>
      <p:sp>
        <p:nvSpPr>
          <p:cNvPr id="29" name="Existing vs Proposed System number tile"/>
          <p:cNvSpPr/>
          <p:nvPr/>
        </p:nvSpPr>
        <p:spPr>
          <a:xfrm>
            <a:off x="4727448" y="1435608"/>
            <a:ext cx="457200" cy="310896"/>
          </a:xfrm>
          <a:prstGeom prst="roundRect">
            <a:avLst>
              <a:gd name="adj" fmla="val 23529"/>
            </a:avLst>
          </a:prstGeom>
          <a:solidFill>
            <a:schemeClr val="accent1"/>
          </a:solidFill>
          <a:ln/>
        </p:spPr>
      </p:sp>
      <p:sp>
        <p:nvSpPr>
          <p:cNvPr id="30" name="Existing vs Proposed System number"/>
          <p:cNvSpPr txBox="1"/>
          <p:nvPr/>
        </p:nvSpPr>
        <p:spPr>
          <a:xfrm>
            <a:off x="4727448" y="1435608"/>
            <a:ext cx="457200" cy="310896"/>
          </a:xfrm>
          <a:prstGeom prst="rect">
            <a:avLst/>
          </a:prstGeom>
          <a:noFill/>
          <a:ln/>
        </p:spPr>
        <p:txBody>
          <a:bodyPr wrap="square" lIns="0" tIns="0" rIns="0" bIns="0" rtlCol="0" anchor="ctr"/>
          <a:lstStyle/>
          <a:p>
            <a:pPr algn="ctr" indent="0" marL="0">
              <a:buNone/>
            </a:pPr>
            <a:r>
              <a:rPr lang="en-US" sz="1300" b="1" dirty="0">
                <a:solidFill>
                  <a:schemeClr val="bg1"/>
                </a:solidFill>
              </a:rPr>
              <a:t>07</a:t>
            </a:r>
            <a:endParaRPr lang="en-US" sz="1300" dirty="0"/>
          </a:p>
        </p:txBody>
      </p:sp>
      <p:sp>
        <p:nvSpPr>
          <p:cNvPr id="31" name="Existing vs Proposed System label"/>
          <p:cNvSpPr txBox="1"/>
          <p:nvPr/>
        </p:nvSpPr>
        <p:spPr>
          <a:xfrm>
            <a:off x="5349240" y="1371600"/>
            <a:ext cx="3154680" cy="438912"/>
          </a:xfrm>
          <a:prstGeom prst="rect">
            <a:avLst/>
          </a:prstGeom>
          <a:noFill/>
          <a:ln/>
        </p:spPr>
        <p:txBody>
          <a:bodyPr wrap="square" lIns="0" tIns="0" rIns="0" bIns="0" rtlCol="0" anchor="ctr"/>
          <a:lstStyle/>
          <a:p>
            <a:pPr indent="0" marL="0">
              <a:buNone/>
            </a:pPr>
            <a:r>
              <a:rPr lang="en-US" sz="1500" b="1" dirty="0">
                <a:solidFill>
                  <a:schemeClr val="tx2"/>
                </a:solidFill>
              </a:rPr>
              <a:t>Existing vs Proposed System</a:t>
            </a:r>
            <a:endParaRPr lang="en-US" sz="1500" dirty="0"/>
          </a:p>
        </p:txBody>
      </p:sp>
      <p:sp>
        <p:nvSpPr>
          <p:cNvPr id="32" name="System Architecture row"/>
          <p:cNvSpPr/>
          <p:nvPr/>
        </p:nvSpPr>
        <p:spPr>
          <a:xfrm>
            <a:off x="4663440" y="1901952"/>
            <a:ext cx="3931920" cy="438912"/>
          </a:xfrm>
          <a:prstGeom prst="roundRect">
            <a:avLst>
              <a:gd name="adj" fmla="val 20833"/>
            </a:avLst>
          </a:prstGeom>
          <a:solidFill>
            <a:schemeClr val="bg2"/>
          </a:solidFill>
          <a:ln/>
        </p:spPr>
      </p:sp>
      <p:sp>
        <p:nvSpPr>
          <p:cNvPr id="33" name="System Architecture number tile"/>
          <p:cNvSpPr/>
          <p:nvPr/>
        </p:nvSpPr>
        <p:spPr>
          <a:xfrm>
            <a:off x="4727448" y="1965960"/>
            <a:ext cx="457200" cy="310896"/>
          </a:xfrm>
          <a:prstGeom prst="roundRect">
            <a:avLst>
              <a:gd name="adj" fmla="val 23529"/>
            </a:avLst>
          </a:prstGeom>
          <a:solidFill>
            <a:schemeClr val="tx2"/>
          </a:solidFill>
          <a:ln/>
        </p:spPr>
      </p:sp>
      <p:sp>
        <p:nvSpPr>
          <p:cNvPr id="34" name="System Architecture number"/>
          <p:cNvSpPr txBox="1"/>
          <p:nvPr/>
        </p:nvSpPr>
        <p:spPr>
          <a:xfrm>
            <a:off x="4727448" y="1965960"/>
            <a:ext cx="457200" cy="310896"/>
          </a:xfrm>
          <a:prstGeom prst="rect">
            <a:avLst/>
          </a:prstGeom>
          <a:noFill/>
          <a:ln/>
        </p:spPr>
        <p:txBody>
          <a:bodyPr wrap="square" lIns="0" tIns="0" rIns="0" bIns="0" rtlCol="0" anchor="ctr"/>
          <a:lstStyle/>
          <a:p>
            <a:pPr algn="ctr" indent="0" marL="0">
              <a:buNone/>
            </a:pPr>
            <a:r>
              <a:rPr lang="en-US" sz="1300" b="1" dirty="0">
                <a:solidFill>
                  <a:schemeClr val="bg1"/>
                </a:solidFill>
              </a:rPr>
              <a:t>08</a:t>
            </a:r>
            <a:endParaRPr lang="en-US" sz="1300" dirty="0"/>
          </a:p>
        </p:txBody>
      </p:sp>
      <p:sp>
        <p:nvSpPr>
          <p:cNvPr id="35" name="System Architecture label"/>
          <p:cNvSpPr txBox="1"/>
          <p:nvPr/>
        </p:nvSpPr>
        <p:spPr>
          <a:xfrm>
            <a:off x="5349240" y="1901952"/>
            <a:ext cx="3154680" cy="438912"/>
          </a:xfrm>
          <a:prstGeom prst="rect">
            <a:avLst/>
          </a:prstGeom>
          <a:noFill/>
          <a:ln/>
        </p:spPr>
        <p:txBody>
          <a:bodyPr wrap="square" lIns="0" tIns="0" rIns="0" bIns="0" rtlCol="0" anchor="ctr"/>
          <a:lstStyle/>
          <a:p>
            <a:pPr indent="0" marL="0">
              <a:buNone/>
            </a:pPr>
            <a:r>
              <a:rPr lang="en-US" sz="1500" b="1" dirty="0">
                <a:solidFill>
                  <a:schemeClr val="tx2"/>
                </a:solidFill>
              </a:rPr>
              <a:t>System Architecture</a:t>
            </a:r>
            <a:endParaRPr lang="en-US" sz="1500" dirty="0"/>
          </a:p>
        </p:txBody>
      </p:sp>
      <p:sp>
        <p:nvSpPr>
          <p:cNvPr id="36" name="Modules row"/>
          <p:cNvSpPr/>
          <p:nvPr/>
        </p:nvSpPr>
        <p:spPr>
          <a:xfrm>
            <a:off x="4663440" y="2432304"/>
            <a:ext cx="3931920" cy="438912"/>
          </a:xfrm>
          <a:prstGeom prst="roundRect">
            <a:avLst>
              <a:gd name="adj" fmla="val 20833"/>
            </a:avLst>
          </a:prstGeom>
          <a:solidFill>
            <a:schemeClr val="bg2"/>
          </a:solidFill>
          <a:ln/>
        </p:spPr>
      </p:sp>
      <p:sp>
        <p:nvSpPr>
          <p:cNvPr id="37" name="Modules number tile"/>
          <p:cNvSpPr/>
          <p:nvPr/>
        </p:nvSpPr>
        <p:spPr>
          <a:xfrm>
            <a:off x="4727448" y="2496312"/>
            <a:ext cx="457200" cy="310896"/>
          </a:xfrm>
          <a:prstGeom prst="roundRect">
            <a:avLst>
              <a:gd name="adj" fmla="val 23529"/>
            </a:avLst>
          </a:prstGeom>
          <a:solidFill>
            <a:schemeClr val="accent1"/>
          </a:solidFill>
          <a:ln/>
        </p:spPr>
      </p:sp>
      <p:sp>
        <p:nvSpPr>
          <p:cNvPr id="38" name="Modules number"/>
          <p:cNvSpPr txBox="1"/>
          <p:nvPr/>
        </p:nvSpPr>
        <p:spPr>
          <a:xfrm>
            <a:off x="4727448" y="2496312"/>
            <a:ext cx="457200" cy="310896"/>
          </a:xfrm>
          <a:prstGeom prst="rect">
            <a:avLst/>
          </a:prstGeom>
          <a:noFill/>
          <a:ln/>
        </p:spPr>
        <p:txBody>
          <a:bodyPr wrap="square" lIns="0" tIns="0" rIns="0" bIns="0" rtlCol="0" anchor="ctr"/>
          <a:lstStyle/>
          <a:p>
            <a:pPr algn="ctr" indent="0" marL="0">
              <a:buNone/>
            </a:pPr>
            <a:r>
              <a:rPr lang="en-US" sz="1300" b="1" dirty="0">
                <a:solidFill>
                  <a:schemeClr val="bg1"/>
                </a:solidFill>
              </a:rPr>
              <a:t>09</a:t>
            </a:r>
            <a:endParaRPr lang="en-US" sz="1300" dirty="0"/>
          </a:p>
        </p:txBody>
      </p:sp>
      <p:sp>
        <p:nvSpPr>
          <p:cNvPr id="39" name="Modules label"/>
          <p:cNvSpPr txBox="1"/>
          <p:nvPr/>
        </p:nvSpPr>
        <p:spPr>
          <a:xfrm>
            <a:off x="5349240" y="2432304"/>
            <a:ext cx="3154680" cy="438912"/>
          </a:xfrm>
          <a:prstGeom prst="rect">
            <a:avLst/>
          </a:prstGeom>
          <a:noFill/>
          <a:ln/>
        </p:spPr>
        <p:txBody>
          <a:bodyPr wrap="square" lIns="0" tIns="0" rIns="0" bIns="0" rtlCol="0" anchor="ctr"/>
          <a:lstStyle/>
          <a:p>
            <a:pPr indent="0" marL="0">
              <a:buNone/>
            </a:pPr>
            <a:r>
              <a:rPr lang="en-US" sz="1500" b="1" dirty="0">
                <a:solidFill>
                  <a:schemeClr val="tx2"/>
                </a:solidFill>
              </a:rPr>
              <a:t>Modules</a:t>
            </a:r>
            <a:endParaRPr lang="en-US" sz="1500" dirty="0"/>
          </a:p>
        </p:txBody>
      </p:sp>
      <p:sp>
        <p:nvSpPr>
          <p:cNvPr id="40" name="Methodology row"/>
          <p:cNvSpPr/>
          <p:nvPr/>
        </p:nvSpPr>
        <p:spPr>
          <a:xfrm>
            <a:off x="4663440" y="2962656"/>
            <a:ext cx="3931920" cy="438912"/>
          </a:xfrm>
          <a:prstGeom prst="roundRect">
            <a:avLst>
              <a:gd name="adj" fmla="val 20833"/>
            </a:avLst>
          </a:prstGeom>
          <a:solidFill>
            <a:schemeClr val="bg2"/>
          </a:solidFill>
          <a:ln/>
        </p:spPr>
      </p:sp>
      <p:sp>
        <p:nvSpPr>
          <p:cNvPr id="41" name="Methodology number tile"/>
          <p:cNvSpPr/>
          <p:nvPr/>
        </p:nvSpPr>
        <p:spPr>
          <a:xfrm>
            <a:off x="4727448" y="3026664"/>
            <a:ext cx="457200" cy="310896"/>
          </a:xfrm>
          <a:prstGeom prst="roundRect">
            <a:avLst>
              <a:gd name="adj" fmla="val 23529"/>
            </a:avLst>
          </a:prstGeom>
          <a:solidFill>
            <a:schemeClr val="tx2"/>
          </a:solidFill>
          <a:ln/>
        </p:spPr>
      </p:sp>
      <p:sp>
        <p:nvSpPr>
          <p:cNvPr id="42" name="Methodology number"/>
          <p:cNvSpPr txBox="1"/>
          <p:nvPr/>
        </p:nvSpPr>
        <p:spPr>
          <a:xfrm>
            <a:off x="4727448" y="3026664"/>
            <a:ext cx="457200" cy="310896"/>
          </a:xfrm>
          <a:prstGeom prst="rect">
            <a:avLst/>
          </a:prstGeom>
          <a:noFill/>
          <a:ln/>
        </p:spPr>
        <p:txBody>
          <a:bodyPr wrap="square" lIns="0" tIns="0" rIns="0" bIns="0" rtlCol="0" anchor="ctr"/>
          <a:lstStyle/>
          <a:p>
            <a:pPr algn="ctr" indent="0" marL="0">
              <a:buNone/>
            </a:pPr>
            <a:r>
              <a:rPr lang="en-US" sz="1300" b="1" dirty="0">
                <a:solidFill>
                  <a:schemeClr val="bg1"/>
                </a:solidFill>
              </a:rPr>
              <a:t>10</a:t>
            </a:r>
            <a:endParaRPr lang="en-US" sz="1300" dirty="0"/>
          </a:p>
        </p:txBody>
      </p:sp>
      <p:sp>
        <p:nvSpPr>
          <p:cNvPr id="43" name="Methodology label"/>
          <p:cNvSpPr txBox="1"/>
          <p:nvPr/>
        </p:nvSpPr>
        <p:spPr>
          <a:xfrm>
            <a:off x="5349240" y="2962656"/>
            <a:ext cx="3154680" cy="438912"/>
          </a:xfrm>
          <a:prstGeom prst="rect">
            <a:avLst/>
          </a:prstGeom>
          <a:noFill/>
          <a:ln/>
        </p:spPr>
        <p:txBody>
          <a:bodyPr wrap="square" lIns="0" tIns="0" rIns="0" bIns="0" rtlCol="0" anchor="ctr"/>
          <a:lstStyle/>
          <a:p>
            <a:pPr indent="0" marL="0">
              <a:buNone/>
            </a:pPr>
            <a:r>
              <a:rPr lang="en-US" sz="1500" b="1" dirty="0">
                <a:solidFill>
                  <a:schemeClr val="tx2"/>
                </a:solidFill>
              </a:rPr>
              <a:t>Methodology</a:t>
            </a:r>
            <a:endParaRPr lang="en-US" sz="1500" dirty="0"/>
          </a:p>
        </p:txBody>
      </p:sp>
      <p:sp>
        <p:nvSpPr>
          <p:cNvPr id="44" name="AI Restocking Method row"/>
          <p:cNvSpPr/>
          <p:nvPr/>
        </p:nvSpPr>
        <p:spPr>
          <a:xfrm>
            <a:off x="4663440" y="3493008"/>
            <a:ext cx="3931920" cy="438912"/>
          </a:xfrm>
          <a:prstGeom prst="roundRect">
            <a:avLst>
              <a:gd name="adj" fmla="val 20833"/>
            </a:avLst>
          </a:prstGeom>
          <a:solidFill>
            <a:schemeClr val="bg2"/>
          </a:solidFill>
          <a:ln/>
        </p:spPr>
      </p:sp>
      <p:sp>
        <p:nvSpPr>
          <p:cNvPr id="45" name="AI Restocking Method number tile"/>
          <p:cNvSpPr/>
          <p:nvPr/>
        </p:nvSpPr>
        <p:spPr>
          <a:xfrm>
            <a:off x="4727448" y="3557016"/>
            <a:ext cx="457200" cy="310896"/>
          </a:xfrm>
          <a:prstGeom prst="roundRect">
            <a:avLst>
              <a:gd name="adj" fmla="val 23529"/>
            </a:avLst>
          </a:prstGeom>
          <a:solidFill>
            <a:schemeClr val="accent1"/>
          </a:solidFill>
          <a:ln/>
        </p:spPr>
      </p:sp>
      <p:sp>
        <p:nvSpPr>
          <p:cNvPr id="46" name="AI Restocking Method number"/>
          <p:cNvSpPr txBox="1"/>
          <p:nvPr/>
        </p:nvSpPr>
        <p:spPr>
          <a:xfrm>
            <a:off x="4727448" y="3557016"/>
            <a:ext cx="457200" cy="310896"/>
          </a:xfrm>
          <a:prstGeom prst="rect">
            <a:avLst/>
          </a:prstGeom>
          <a:noFill/>
          <a:ln/>
        </p:spPr>
        <p:txBody>
          <a:bodyPr wrap="square" lIns="0" tIns="0" rIns="0" bIns="0" rtlCol="0" anchor="ctr"/>
          <a:lstStyle/>
          <a:p>
            <a:pPr algn="ctr" indent="0" marL="0">
              <a:buNone/>
            </a:pPr>
            <a:r>
              <a:rPr lang="en-US" sz="1300" b="1" dirty="0">
                <a:solidFill>
                  <a:schemeClr val="bg1"/>
                </a:solidFill>
              </a:rPr>
              <a:t>11</a:t>
            </a:r>
            <a:endParaRPr lang="en-US" sz="1300" dirty="0"/>
          </a:p>
        </p:txBody>
      </p:sp>
      <p:sp>
        <p:nvSpPr>
          <p:cNvPr id="47" name="AI Restocking Method label"/>
          <p:cNvSpPr txBox="1"/>
          <p:nvPr/>
        </p:nvSpPr>
        <p:spPr>
          <a:xfrm>
            <a:off x="5349240" y="3493008"/>
            <a:ext cx="3154680" cy="438912"/>
          </a:xfrm>
          <a:prstGeom prst="rect">
            <a:avLst/>
          </a:prstGeom>
          <a:noFill/>
          <a:ln/>
        </p:spPr>
        <p:txBody>
          <a:bodyPr wrap="square" lIns="0" tIns="0" rIns="0" bIns="0" rtlCol="0" anchor="ctr"/>
          <a:lstStyle/>
          <a:p>
            <a:pPr indent="0" marL="0">
              <a:buNone/>
            </a:pPr>
            <a:r>
              <a:rPr lang="en-US" sz="1500" b="1" dirty="0">
                <a:solidFill>
                  <a:schemeClr val="tx2"/>
                </a:solidFill>
              </a:rPr>
              <a:t>AI Restocking Method</a:t>
            </a:r>
            <a:endParaRPr lang="en-US" sz="1500" dirty="0"/>
          </a:p>
        </p:txBody>
      </p:sp>
      <p:sp>
        <p:nvSpPr>
          <p:cNvPr id="48" name="References row"/>
          <p:cNvSpPr/>
          <p:nvPr/>
        </p:nvSpPr>
        <p:spPr>
          <a:xfrm>
            <a:off x="4663440" y="4023360"/>
            <a:ext cx="3931920" cy="438912"/>
          </a:xfrm>
          <a:prstGeom prst="roundRect">
            <a:avLst>
              <a:gd name="adj" fmla="val 20833"/>
            </a:avLst>
          </a:prstGeom>
          <a:solidFill>
            <a:schemeClr val="bg2"/>
          </a:solidFill>
          <a:ln/>
        </p:spPr>
      </p:sp>
      <p:sp>
        <p:nvSpPr>
          <p:cNvPr id="49" name="References number tile"/>
          <p:cNvSpPr/>
          <p:nvPr/>
        </p:nvSpPr>
        <p:spPr>
          <a:xfrm>
            <a:off x="4727448" y="4087368"/>
            <a:ext cx="457200" cy="310896"/>
          </a:xfrm>
          <a:prstGeom prst="roundRect">
            <a:avLst>
              <a:gd name="adj" fmla="val 23529"/>
            </a:avLst>
          </a:prstGeom>
          <a:solidFill>
            <a:schemeClr val="tx2"/>
          </a:solidFill>
          <a:ln/>
        </p:spPr>
      </p:sp>
      <p:sp>
        <p:nvSpPr>
          <p:cNvPr id="50" name="References number"/>
          <p:cNvSpPr txBox="1"/>
          <p:nvPr/>
        </p:nvSpPr>
        <p:spPr>
          <a:xfrm>
            <a:off x="4727448" y="4087368"/>
            <a:ext cx="457200" cy="310896"/>
          </a:xfrm>
          <a:prstGeom prst="rect">
            <a:avLst/>
          </a:prstGeom>
          <a:noFill/>
          <a:ln/>
        </p:spPr>
        <p:txBody>
          <a:bodyPr wrap="square" lIns="0" tIns="0" rIns="0" bIns="0" rtlCol="0" anchor="ctr"/>
          <a:lstStyle/>
          <a:p>
            <a:pPr algn="ctr" indent="0" marL="0">
              <a:buNone/>
            </a:pPr>
            <a:r>
              <a:rPr lang="en-US" sz="1300" b="1" dirty="0">
                <a:solidFill>
                  <a:schemeClr val="bg1"/>
                </a:solidFill>
              </a:rPr>
              <a:t>12</a:t>
            </a:r>
            <a:endParaRPr lang="en-US" sz="1300" dirty="0"/>
          </a:p>
        </p:txBody>
      </p:sp>
      <p:sp>
        <p:nvSpPr>
          <p:cNvPr id="51" name="References label"/>
          <p:cNvSpPr txBox="1"/>
          <p:nvPr/>
        </p:nvSpPr>
        <p:spPr>
          <a:xfrm>
            <a:off x="5349240" y="4023360"/>
            <a:ext cx="3154680" cy="438912"/>
          </a:xfrm>
          <a:prstGeom prst="rect">
            <a:avLst/>
          </a:prstGeom>
          <a:noFill/>
          <a:ln/>
        </p:spPr>
        <p:txBody>
          <a:bodyPr wrap="square" lIns="0" tIns="0" rIns="0" bIns="0" rtlCol="0" anchor="ctr"/>
          <a:lstStyle/>
          <a:p>
            <a:pPr indent="0" marL="0">
              <a:buNone/>
            </a:pPr>
            <a:r>
              <a:rPr lang="en-US" sz="1500" b="1" dirty="0">
                <a:solidFill>
                  <a:schemeClr val="tx2"/>
                </a:solidFill>
              </a:rPr>
              <a:t>References</a:t>
            </a:r>
            <a:endParaRPr lang="en-US" sz="15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Eyebrow"/>
          <p:cNvSpPr txBox="1"/>
          <p:nvPr/>
        </p:nvSpPr>
        <p:spPr>
          <a:xfrm>
            <a:off x="457200" y="274320"/>
            <a:ext cx="5486400" cy="256032"/>
          </a:xfrm>
          <a:prstGeom prst="rect">
            <a:avLst/>
          </a:prstGeom>
          <a:noFill/>
          <a:ln/>
        </p:spPr>
        <p:txBody>
          <a:bodyPr wrap="square" lIns="0" tIns="0" rIns="0" bIns="0" rtlCol="0" anchor="ctr"/>
          <a:lstStyle/>
          <a:p>
            <a:pPr indent="0" marL="0">
              <a:buNone/>
            </a:pPr>
            <a:r>
              <a:rPr lang="en-US" sz="1100" b="1" spc="200" kern="0" dirty="0">
                <a:solidFill>
                  <a:schemeClr val="accent1"/>
                </a:solidFill>
              </a:rPr>
              <a:t>01 · ABSTRACT</a:t>
            </a:r>
            <a:endParaRPr lang="en-US" sz="1100" dirty="0"/>
          </a:p>
        </p:txBody>
      </p:sp>
      <p:sp>
        <p:nvSpPr>
          <p:cNvPr id="3" name="Text 0"/>
          <p:cNvSpPr/>
          <p:nvPr>
            <p:ph idx="100" type="title" hasCustomPrompt="1"/>
          </p:nvPr>
        </p:nvSpPr>
        <p:spPr>
          <a:xfrm>
            <a:off x="457200" y="502920"/>
            <a:ext cx="6400800" cy="640080"/>
          </a:xfrm>
          <a:prstGeom prst="rect">
            <a:avLst/>
          </a:prstGeom>
          <a:noFill/>
          <a:ln/>
        </p:spPr>
        <p:txBody>
          <a:bodyPr wrap="square" lIns="0" tIns="0" rIns="0" bIns="0" rtlCol="0" anchor="ctr"/>
          <a:lstStyle/>
          <a:p>
            <a:pPr algn="l" indent="0" marL="0">
              <a:buNone/>
            </a:pPr>
            <a:r>
              <a:rPr lang="en-US" sz="3400" b="1" dirty="0">
                <a:solidFill>
                  <a:schemeClr val="tx2"/>
                </a:solidFill>
                <a:latin typeface="Cambria" pitchFamily="34" charset="0"/>
                <a:ea typeface="Cambria" pitchFamily="34" charset="-122"/>
                <a:cs typeface="Cambria" pitchFamily="34" charset="-120"/>
              </a:rPr>
              <a:t>Abstract</a:t>
            </a:r>
            <a:endParaRPr lang="en-US" sz="3400" dirty="0"/>
          </a:p>
        </p:txBody>
      </p:sp>
      <p:sp>
        <p:nvSpPr>
          <p:cNvPr id="4" name="Summary"/>
          <p:cNvSpPr txBox="1"/>
          <p:nvPr/>
        </p:nvSpPr>
        <p:spPr>
          <a:xfrm>
            <a:off x="457200" y="1371600"/>
            <a:ext cx="3246120" cy="1508760"/>
          </a:xfrm>
          <a:prstGeom prst="rect">
            <a:avLst/>
          </a:prstGeom>
          <a:noFill/>
          <a:ln/>
        </p:spPr>
        <p:txBody>
          <a:bodyPr wrap="square" lIns="0" tIns="0" rIns="0" bIns="0" rtlCol="0" anchor="t"/>
          <a:lstStyle/>
          <a:p>
            <a:pPr indent="0" marL="0">
              <a:buNone/>
            </a:pPr>
            <a:r>
              <a:rPr lang="en-US" sz="1500" dirty="0">
                <a:solidFill>
                  <a:schemeClr val="tx1"/>
                </a:solidFill>
              </a:rPr>
              <a:t>A web application that runs a retail store’s catalogue, stock, purchases, billing and reports in one place, following Indian GST rules, with AI that helps the owner decide what to reorder and when.</a:t>
            </a:r>
            <a:endParaRPr lang="en-US" sz="1500" dirty="0"/>
          </a:p>
        </p:txBody>
      </p:sp>
      <p:sp>
        <p:nvSpPr>
          <p:cNvPr id="5" name="Stat 1"/>
          <p:cNvSpPr txBox="1"/>
          <p:nvPr/>
        </p:nvSpPr>
        <p:spPr>
          <a:xfrm>
            <a:off x="457200" y="3017520"/>
            <a:ext cx="1143000" cy="640080"/>
          </a:xfrm>
          <a:prstGeom prst="rect">
            <a:avLst/>
          </a:prstGeom>
          <a:noFill/>
          <a:ln/>
        </p:spPr>
        <p:txBody>
          <a:bodyPr wrap="square" lIns="0" tIns="0" rIns="0" bIns="0" rtlCol="0" anchor="ctr"/>
          <a:lstStyle/>
          <a:p>
            <a:pPr indent="0" marL="0">
              <a:buNone/>
            </a:pPr>
            <a:r>
              <a:rPr lang="en-US" sz="3000" b="1" dirty="0">
                <a:solidFill>
                  <a:schemeClr val="accent1"/>
                </a:solidFill>
                <a:latin typeface="Cambria" pitchFamily="34" charset="0"/>
                <a:ea typeface="Cambria" pitchFamily="34" charset="-122"/>
                <a:cs typeface="Cambria" pitchFamily="34" charset="-120"/>
              </a:rPr>
              <a:t>3</a:t>
            </a:r>
            <a:endParaRPr lang="en-US" sz="3000" dirty="0"/>
          </a:p>
        </p:txBody>
      </p:sp>
      <p:sp>
        <p:nvSpPr>
          <p:cNvPr id="6" name="Stat 1 label"/>
          <p:cNvSpPr txBox="1"/>
          <p:nvPr/>
        </p:nvSpPr>
        <p:spPr>
          <a:xfrm>
            <a:off x="1645920" y="3017520"/>
            <a:ext cx="2057400" cy="640080"/>
          </a:xfrm>
          <a:prstGeom prst="rect">
            <a:avLst/>
          </a:prstGeom>
          <a:noFill/>
          <a:ln/>
        </p:spPr>
        <p:txBody>
          <a:bodyPr wrap="square" lIns="0" tIns="0" rIns="0" bIns="0" rtlCol="0" anchor="ctr"/>
          <a:lstStyle/>
          <a:p>
            <a:pPr indent="0" marL="0">
              <a:buNone/>
            </a:pPr>
            <a:r>
              <a:rPr lang="en-US" sz="1300" dirty="0">
                <a:solidFill>
                  <a:schemeClr val="tx1"/>
                </a:solidFill>
              </a:rPr>
              <a:t>user roles: admin, manager, cashier</a:t>
            </a:r>
            <a:endParaRPr lang="en-US" sz="1300" dirty="0"/>
          </a:p>
        </p:txBody>
      </p:sp>
      <p:sp>
        <p:nvSpPr>
          <p:cNvPr id="7" name="Stat 2"/>
          <p:cNvSpPr txBox="1"/>
          <p:nvPr/>
        </p:nvSpPr>
        <p:spPr>
          <a:xfrm>
            <a:off x="457200" y="3794760"/>
            <a:ext cx="1143000" cy="640080"/>
          </a:xfrm>
          <a:prstGeom prst="rect">
            <a:avLst/>
          </a:prstGeom>
          <a:noFill/>
          <a:ln/>
        </p:spPr>
        <p:txBody>
          <a:bodyPr wrap="square" lIns="0" tIns="0" rIns="0" bIns="0" rtlCol="0" anchor="ctr"/>
          <a:lstStyle/>
          <a:p>
            <a:pPr indent="0" marL="0">
              <a:buNone/>
            </a:pPr>
            <a:r>
              <a:rPr lang="en-US" sz="3000" b="1" dirty="0">
                <a:solidFill>
                  <a:schemeClr val="accent1"/>
                </a:solidFill>
                <a:latin typeface="Cambria" pitchFamily="34" charset="0"/>
                <a:ea typeface="Cambria" pitchFamily="34" charset="-122"/>
                <a:cs typeface="Cambria" pitchFamily="34" charset="-120"/>
              </a:rPr>
              <a:t>1 year</a:t>
            </a:r>
            <a:endParaRPr lang="en-US" sz="3000" dirty="0"/>
          </a:p>
        </p:txBody>
      </p:sp>
      <p:sp>
        <p:nvSpPr>
          <p:cNvPr id="8" name="Stat 2 label"/>
          <p:cNvSpPr txBox="1"/>
          <p:nvPr/>
        </p:nvSpPr>
        <p:spPr>
          <a:xfrm>
            <a:off x="1645920" y="3794760"/>
            <a:ext cx="2057400" cy="640080"/>
          </a:xfrm>
          <a:prstGeom prst="rect">
            <a:avLst/>
          </a:prstGeom>
          <a:noFill/>
          <a:ln/>
        </p:spPr>
        <p:txBody>
          <a:bodyPr wrap="square" lIns="0" tIns="0" rIns="0" bIns="0" rtlCol="0" anchor="ctr"/>
          <a:lstStyle/>
          <a:p>
            <a:pPr indent="0" marL="0">
              <a:buNone/>
            </a:pPr>
            <a:r>
              <a:rPr lang="en-US" sz="1300" dirty="0">
                <a:solidFill>
                  <a:schemeClr val="tx1"/>
                </a:solidFill>
              </a:rPr>
              <a:t>of realistic demo sales to test with</a:t>
            </a:r>
            <a:endParaRPr lang="en-US" sz="1300" dirty="0"/>
          </a:p>
        </p:txBody>
      </p:sp>
      <p:sp>
        <p:nvSpPr>
          <p:cNvPr id="9" name="LuBoxes tile"/>
          <p:cNvSpPr/>
          <p:nvPr/>
        </p:nvSpPr>
        <p:spPr>
          <a:xfrm>
            <a:off x="4069080" y="1408176"/>
            <a:ext cx="457200" cy="457200"/>
          </a:xfrm>
          <a:prstGeom prst="roundRect">
            <a:avLst>
              <a:gd name="adj" fmla="val 22000"/>
            </a:avLst>
          </a:prstGeom>
          <a:solidFill>
            <a:schemeClr val="accent1"/>
          </a:solidFill>
          <a:ln/>
        </p:spPr>
      </p:sp>
      <p:pic>
        <p:nvPicPr>
          <p:cNvPr id="10" name="LuBoxes icon" descr="preencoded.png">    </p:cNvPr>
          <p:cNvPicPr>
            <a:picLocks noChangeAspect="1"/>
          </p:cNvPicPr>
          <p:nvPr/>
        </p:nvPicPr>
        <p:blipFill>
          <a:blip r:embed="rId1"/>
          <a:stretch>
            <a:fillRect/>
          </a:stretch>
        </p:blipFill>
        <p:spPr>
          <a:xfrm>
            <a:off x="4178808" y="1517904"/>
            <a:ext cx="237744" cy="237744"/>
          </a:xfrm>
          <a:prstGeom prst="rect">
            <a:avLst/>
          </a:prstGeom>
        </p:spPr>
      </p:pic>
      <p:sp>
        <p:nvSpPr>
          <p:cNvPr id="11" name="Catalogue &amp; stock point"/>
          <p:cNvSpPr txBox="1"/>
          <p:nvPr/>
        </p:nvSpPr>
        <p:spPr>
          <a:xfrm>
            <a:off x="4636008" y="1371600"/>
            <a:ext cx="1719072" cy="987552"/>
          </a:xfrm>
          <a:prstGeom prst="rect">
            <a:avLst/>
          </a:prstGeom>
          <a:noFill/>
          <a:ln/>
        </p:spPr>
        <p:txBody>
          <a:bodyPr wrap="square" lIns="0" tIns="0" rIns="0" bIns="0" rtlCol="0" anchor="t"/>
          <a:lstStyle/>
          <a:p>
            <a:pPr indent="0" marL="0">
              <a:spcAft>
                <a:spcPts val="200"/>
              </a:spcAft>
              <a:buNone/>
            </a:pPr>
            <a:r>
              <a:rPr lang="en-US" sz="1400" b="1" dirty="0">
                <a:solidFill>
                  <a:schemeClr val="tx2"/>
                </a:solidFill>
              </a:rPr>
              <a:t>Catalogue &amp; stock</a:t>
            </a:r>
            <a:endParaRPr lang="en-US" sz="1400" dirty="0"/>
          </a:p>
          <a:p>
            <a:pPr indent="0" marL="0">
              <a:spcAft>
                <a:spcPts val="200"/>
              </a:spcAft>
              <a:buNone/>
            </a:pPr>
            <a:r>
              <a:rPr lang="en-US" sz="1150" dirty="0">
                <a:solidFill>
                  <a:schemeClr val="accent6"/>
                </a:solidFill>
              </a:rPr>
              <a:t>Products, HSN codes and suppliers; every stock change kept in a ledger.</a:t>
            </a:r>
            <a:endParaRPr lang="en-US" sz="1400" dirty="0"/>
          </a:p>
        </p:txBody>
      </p:sp>
      <p:sp>
        <p:nvSpPr>
          <p:cNvPr id="12" name="LuScanBarcode tile"/>
          <p:cNvSpPr/>
          <p:nvPr/>
        </p:nvSpPr>
        <p:spPr>
          <a:xfrm>
            <a:off x="6446520" y="1408176"/>
            <a:ext cx="457200" cy="457200"/>
          </a:xfrm>
          <a:prstGeom prst="roundRect">
            <a:avLst>
              <a:gd name="adj" fmla="val 22000"/>
            </a:avLst>
          </a:prstGeom>
          <a:solidFill>
            <a:schemeClr val="accent1"/>
          </a:solidFill>
          <a:ln/>
        </p:spPr>
      </p:sp>
      <p:pic>
        <p:nvPicPr>
          <p:cNvPr id="13" name="LuScanBarcode icon" descr="preencoded.png">    </p:cNvPr>
          <p:cNvPicPr>
            <a:picLocks noChangeAspect="1"/>
          </p:cNvPicPr>
          <p:nvPr/>
        </p:nvPicPr>
        <p:blipFill>
          <a:blip r:embed="rId2"/>
          <a:stretch>
            <a:fillRect/>
          </a:stretch>
        </p:blipFill>
        <p:spPr>
          <a:xfrm>
            <a:off x="6556248" y="1517904"/>
            <a:ext cx="237744" cy="237744"/>
          </a:xfrm>
          <a:prstGeom prst="rect">
            <a:avLst/>
          </a:prstGeom>
        </p:spPr>
      </p:pic>
      <p:sp>
        <p:nvSpPr>
          <p:cNvPr id="14" name="Fast billing point"/>
          <p:cNvSpPr txBox="1"/>
          <p:nvPr/>
        </p:nvSpPr>
        <p:spPr>
          <a:xfrm>
            <a:off x="7013448" y="1371600"/>
            <a:ext cx="1719072" cy="987552"/>
          </a:xfrm>
          <a:prstGeom prst="rect">
            <a:avLst/>
          </a:prstGeom>
          <a:noFill/>
          <a:ln/>
        </p:spPr>
        <p:txBody>
          <a:bodyPr wrap="square" lIns="0" tIns="0" rIns="0" bIns="0" rtlCol="0" anchor="t"/>
          <a:lstStyle/>
          <a:p>
            <a:pPr indent="0" marL="0">
              <a:spcAft>
                <a:spcPts val="200"/>
              </a:spcAft>
              <a:buNone/>
            </a:pPr>
            <a:r>
              <a:rPr lang="en-US" sz="1400" b="1" dirty="0">
                <a:solidFill>
                  <a:schemeClr val="tx2"/>
                </a:solidFill>
              </a:rPr>
              <a:t>Fast billing</a:t>
            </a:r>
            <a:endParaRPr lang="en-US" sz="1400" dirty="0"/>
          </a:p>
          <a:p>
            <a:pPr indent="0" marL="0">
              <a:spcAft>
                <a:spcPts val="200"/>
              </a:spcAft>
              <a:buNone/>
            </a:pPr>
            <a:r>
              <a:rPr lang="en-US" sz="1150" dirty="0">
                <a:solidFill>
                  <a:schemeClr val="accent6"/>
                </a:solidFill>
              </a:rPr>
              <a:t>Barcode billing, discounts, cash, UPI or card, and a GST invoice PDF.</a:t>
            </a:r>
            <a:endParaRPr lang="en-US" sz="1400" dirty="0"/>
          </a:p>
        </p:txBody>
      </p:sp>
      <p:sp>
        <p:nvSpPr>
          <p:cNvPr id="15" name="LuReceiptIndianRupee tile"/>
          <p:cNvSpPr/>
          <p:nvPr/>
        </p:nvSpPr>
        <p:spPr>
          <a:xfrm>
            <a:off x="4069080" y="2505456"/>
            <a:ext cx="457200" cy="457200"/>
          </a:xfrm>
          <a:prstGeom prst="roundRect">
            <a:avLst>
              <a:gd name="adj" fmla="val 22000"/>
            </a:avLst>
          </a:prstGeom>
          <a:solidFill>
            <a:schemeClr val="accent1"/>
          </a:solidFill>
          <a:ln/>
        </p:spPr>
      </p:sp>
      <p:pic>
        <p:nvPicPr>
          <p:cNvPr id="16" name="LuReceiptIndianRupee icon" descr="preencoded.png">    </p:cNvPr>
          <p:cNvPicPr>
            <a:picLocks noChangeAspect="1"/>
          </p:cNvPicPr>
          <p:nvPr/>
        </p:nvPicPr>
        <p:blipFill>
          <a:blip r:embed="rId3"/>
          <a:stretch>
            <a:fillRect/>
          </a:stretch>
        </p:blipFill>
        <p:spPr>
          <a:xfrm>
            <a:off x="4178808" y="2615184"/>
            <a:ext cx="237744" cy="237744"/>
          </a:xfrm>
          <a:prstGeom prst="rect">
            <a:avLst/>
          </a:prstGeom>
        </p:spPr>
      </p:pic>
      <p:sp>
        <p:nvSpPr>
          <p:cNvPr id="17" name="GST ready point"/>
          <p:cNvSpPr txBox="1"/>
          <p:nvPr/>
        </p:nvSpPr>
        <p:spPr>
          <a:xfrm>
            <a:off x="4636008" y="2468880"/>
            <a:ext cx="1719072" cy="987552"/>
          </a:xfrm>
          <a:prstGeom prst="rect">
            <a:avLst/>
          </a:prstGeom>
          <a:noFill/>
          <a:ln/>
        </p:spPr>
        <p:txBody>
          <a:bodyPr wrap="square" lIns="0" tIns="0" rIns="0" bIns="0" rtlCol="0" anchor="t"/>
          <a:lstStyle/>
          <a:p>
            <a:pPr indent="0" marL="0">
              <a:spcAft>
                <a:spcPts val="200"/>
              </a:spcAft>
              <a:buNone/>
            </a:pPr>
            <a:r>
              <a:rPr lang="en-US" sz="1400" b="1" dirty="0">
                <a:solidFill>
                  <a:schemeClr val="tx2"/>
                </a:solidFill>
              </a:rPr>
              <a:t>GST ready</a:t>
            </a:r>
            <a:endParaRPr lang="en-US" sz="1400" dirty="0"/>
          </a:p>
          <a:p>
            <a:pPr indent="0" marL="0">
              <a:spcAft>
                <a:spcPts val="200"/>
              </a:spcAft>
              <a:buNone/>
            </a:pPr>
            <a:r>
              <a:rPr lang="en-US" sz="1150" dirty="0">
                <a:solidFill>
                  <a:schemeClr val="accent6"/>
                </a:solidFill>
              </a:rPr>
              <a:t>CGST + SGST or IGST by place of supply; credit notes for returns.</a:t>
            </a:r>
            <a:endParaRPr lang="en-US" sz="1400" dirty="0"/>
          </a:p>
        </p:txBody>
      </p:sp>
      <p:sp>
        <p:nvSpPr>
          <p:cNvPr id="18" name="LuTruck tile"/>
          <p:cNvSpPr/>
          <p:nvPr/>
        </p:nvSpPr>
        <p:spPr>
          <a:xfrm>
            <a:off x="6446520" y="2505456"/>
            <a:ext cx="457200" cy="457200"/>
          </a:xfrm>
          <a:prstGeom prst="roundRect">
            <a:avLst>
              <a:gd name="adj" fmla="val 22000"/>
            </a:avLst>
          </a:prstGeom>
          <a:solidFill>
            <a:schemeClr val="accent1"/>
          </a:solidFill>
          <a:ln/>
        </p:spPr>
      </p:sp>
      <p:pic>
        <p:nvPicPr>
          <p:cNvPr id="19" name="LuTruck icon" descr="preencoded.png">    </p:cNvPr>
          <p:cNvPicPr>
            <a:picLocks noChangeAspect="1"/>
          </p:cNvPicPr>
          <p:nvPr/>
        </p:nvPicPr>
        <p:blipFill>
          <a:blip r:embed="rId4"/>
          <a:stretch>
            <a:fillRect/>
          </a:stretch>
        </p:blipFill>
        <p:spPr>
          <a:xfrm>
            <a:off x="6556248" y="2615184"/>
            <a:ext cx="237744" cy="237744"/>
          </a:xfrm>
          <a:prstGeom prst="rect">
            <a:avLst/>
          </a:prstGeom>
        </p:spPr>
      </p:pic>
      <p:sp>
        <p:nvSpPr>
          <p:cNvPr id="20" name="Purchases point"/>
          <p:cNvSpPr txBox="1"/>
          <p:nvPr/>
        </p:nvSpPr>
        <p:spPr>
          <a:xfrm>
            <a:off x="7013448" y="2468880"/>
            <a:ext cx="1719072" cy="987552"/>
          </a:xfrm>
          <a:prstGeom prst="rect">
            <a:avLst/>
          </a:prstGeom>
          <a:noFill/>
          <a:ln/>
        </p:spPr>
        <p:txBody>
          <a:bodyPr wrap="square" lIns="0" tIns="0" rIns="0" bIns="0" rtlCol="0" anchor="t"/>
          <a:lstStyle/>
          <a:p>
            <a:pPr indent="0" marL="0">
              <a:spcAft>
                <a:spcPts val="200"/>
              </a:spcAft>
              <a:buNone/>
            </a:pPr>
            <a:r>
              <a:rPr lang="en-US" sz="1400" b="1" dirty="0">
                <a:solidFill>
                  <a:schemeClr val="tx2"/>
                </a:solidFill>
              </a:rPr>
              <a:t>Purchases</a:t>
            </a:r>
            <a:endParaRPr lang="en-US" sz="1400" dirty="0"/>
          </a:p>
          <a:p>
            <a:pPr indent="0" marL="0">
              <a:spcAft>
                <a:spcPts val="200"/>
              </a:spcAft>
              <a:buNone/>
            </a:pPr>
            <a:r>
              <a:rPr lang="en-US" sz="1150" dirty="0">
                <a:solidFill>
                  <a:schemeClr val="accent6"/>
                </a:solidFill>
              </a:rPr>
              <a:t>Purchase orders, part deliveries and average cost price.</a:t>
            </a:r>
            <a:endParaRPr lang="en-US" sz="1400" dirty="0"/>
          </a:p>
        </p:txBody>
      </p:sp>
      <p:sp>
        <p:nvSpPr>
          <p:cNvPr id="21" name="LuChartColumn tile"/>
          <p:cNvSpPr/>
          <p:nvPr/>
        </p:nvSpPr>
        <p:spPr>
          <a:xfrm>
            <a:off x="4069080" y="3602736"/>
            <a:ext cx="457200" cy="457200"/>
          </a:xfrm>
          <a:prstGeom prst="roundRect">
            <a:avLst>
              <a:gd name="adj" fmla="val 22000"/>
            </a:avLst>
          </a:prstGeom>
          <a:solidFill>
            <a:schemeClr val="accent1"/>
          </a:solidFill>
          <a:ln/>
        </p:spPr>
      </p:sp>
      <p:pic>
        <p:nvPicPr>
          <p:cNvPr id="22" name="LuChartColumn icon" descr="preencoded.png">    </p:cNvPr>
          <p:cNvPicPr>
            <a:picLocks noChangeAspect="1"/>
          </p:cNvPicPr>
          <p:nvPr/>
        </p:nvPicPr>
        <p:blipFill>
          <a:blip r:embed="rId5"/>
          <a:stretch>
            <a:fillRect/>
          </a:stretch>
        </p:blipFill>
        <p:spPr>
          <a:xfrm>
            <a:off x="4178808" y="3712464"/>
            <a:ext cx="237744" cy="237744"/>
          </a:xfrm>
          <a:prstGeom prst="rect">
            <a:avLst/>
          </a:prstGeom>
        </p:spPr>
      </p:pic>
      <p:sp>
        <p:nvSpPr>
          <p:cNvPr id="23" name="Reports point"/>
          <p:cNvSpPr txBox="1"/>
          <p:nvPr/>
        </p:nvSpPr>
        <p:spPr>
          <a:xfrm>
            <a:off x="4636008" y="3566160"/>
            <a:ext cx="1719072" cy="987552"/>
          </a:xfrm>
          <a:prstGeom prst="rect">
            <a:avLst/>
          </a:prstGeom>
          <a:noFill/>
          <a:ln/>
        </p:spPr>
        <p:txBody>
          <a:bodyPr wrap="square" lIns="0" tIns="0" rIns="0" bIns="0" rtlCol="0" anchor="t"/>
          <a:lstStyle/>
          <a:p>
            <a:pPr indent="0" marL="0">
              <a:spcAft>
                <a:spcPts val="200"/>
              </a:spcAft>
              <a:buNone/>
            </a:pPr>
            <a:r>
              <a:rPr lang="en-US" sz="1400" b="1" dirty="0">
                <a:solidFill>
                  <a:schemeClr val="tx2"/>
                </a:solidFill>
              </a:rPr>
              <a:t>Reports</a:t>
            </a:r>
            <a:endParaRPr lang="en-US" sz="1400" dirty="0"/>
          </a:p>
          <a:p>
            <a:pPr indent="0" marL="0">
              <a:spcAft>
                <a:spcPts val="200"/>
              </a:spcAft>
              <a:buNone/>
            </a:pPr>
            <a:r>
              <a:rPr lang="en-US" sz="1150" dirty="0">
                <a:solidFill>
                  <a:schemeClr val="accent6"/>
                </a:solidFill>
              </a:rPr>
              <a:t>Sales, profit, GST summary and stock value, as CSV or PDF.</a:t>
            </a:r>
            <a:endParaRPr lang="en-US" sz="1400" dirty="0"/>
          </a:p>
        </p:txBody>
      </p:sp>
      <p:sp>
        <p:nvSpPr>
          <p:cNvPr id="24" name="LuSparkles tile"/>
          <p:cNvSpPr/>
          <p:nvPr/>
        </p:nvSpPr>
        <p:spPr>
          <a:xfrm>
            <a:off x="6446520" y="3602736"/>
            <a:ext cx="457200" cy="457200"/>
          </a:xfrm>
          <a:prstGeom prst="roundRect">
            <a:avLst>
              <a:gd name="adj" fmla="val 22000"/>
            </a:avLst>
          </a:prstGeom>
          <a:solidFill>
            <a:schemeClr val="accent1"/>
          </a:solidFill>
          <a:ln/>
        </p:spPr>
      </p:sp>
      <p:pic>
        <p:nvPicPr>
          <p:cNvPr id="25" name="LuSparkles icon" descr="preencoded.png">    </p:cNvPr>
          <p:cNvPicPr>
            <a:picLocks noChangeAspect="1"/>
          </p:cNvPicPr>
          <p:nvPr/>
        </p:nvPicPr>
        <p:blipFill>
          <a:blip r:embed="rId6"/>
          <a:stretch>
            <a:fillRect/>
          </a:stretch>
        </p:blipFill>
        <p:spPr>
          <a:xfrm>
            <a:off x="6556248" y="3712464"/>
            <a:ext cx="237744" cy="237744"/>
          </a:xfrm>
          <a:prstGeom prst="rect">
            <a:avLst/>
          </a:prstGeom>
        </p:spPr>
      </p:pic>
      <p:sp>
        <p:nvSpPr>
          <p:cNvPr id="26" name="AI assistance point"/>
          <p:cNvSpPr txBox="1"/>
          <p:nvPr/>
        </p:nvSpPr>
        <p:spPr>
          <a:xfrm>
            <a:off x="7013448" y="3566160"/>
            <a:ext cx="1719072" cy="987552"/>
          </a:xfrm>
          <a:prstGeom prst="rect">
            <a:avLst/>
          </a:prstGeom>
          <a:noFill/>
          <a:ln/>
        </p:spPr>
        <p:txBody>
          <a:bodyPr wrap="square" lIns="0" tIns="0" rIns="0" bIns="0" rtlCol="0" anchor="t"/>
          <a:lstStyle/>
          <a:p>
            <a:pPr indent="0" marL="0">
              <a:spcAft>
                <a:spcPts val="200"/>
              </a:spcAft>
              <a:buNone/>
            </a:pPr>
            <a:r>
              <a:rPr lang="en-US" sz="1400" b="1" dirty="0">
                <a:solidFill>
                  <a:schemeClr val="tx2"/>
                </a:solidFill>
              </a:rPr>
              <a:t>AI assistance</a:t>
            </a:r>
            <a:endParaRPr lang="en-US" sz="1400" dirty="0"/>
          </a:p>
          <a:p>
            <a:pPr indent="0" marL="0">
              <a:spcAft>
                <a:spcPts val="200"/>
              </a:spcAft>
              <a:buNone/>
            </a:pPr>
            <a:r>
              <a:rPr lang="en-US" sz="1150" dirty="0">
                <a:solidFill>
                  <a:schemeClr val="accent6"/>
                </a:solidFill>
              </a:rPr>
              <a:t>Demand forecasts, restock plans the owner confirms, a Gemini assistant.</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Eyebrow"/>
          <p:cNvSpPr txBox="1"/>
          <p:nvPr/>
        </p:nvSpPr>
        <p:spPr>
          <a:xfrm>
            <a:off x="457200" y="274320"/>
            <a:ext cx="5486400" cy="256032"/>
          </a:xfrm>
          <a:prstGeom prst="rect">
            <a:avLst/>
          </a:prstGeom>
          <a:noFill/>
          <a:ln/>
        </p:spPr>
        <p:txBody>
          <a:bodyPr wrap="square" lIns="0" tIns="0" rIns="0" bIns="0" rtlCol="0" anchor="ctr"/>
          <a:lstStyle/>
          <a:p>
            <a:pPr indent="0" marL="0">
              <a:buNone/>
            </a:pPr>
            <a:r>
              <a:rPr lang="en-US" sz="1100" b="1" spc="200" kern="0" dirty="0">
                <a:solidFill>
                  <a:schemeClr val="accent1"/>
                </a:solidFill>
              </a:rPr>
              <a:t>02 · INTRODUCTION</a:t>
            </a:r>
            <a:endParaRPr lang="en-US" sz="1100" dirty="0"/>
          </a:p>
        </p:txBody>
      </p:sp>
      <p:sp>
        <p:nvSpPr>
          <p:cNvPr id="3" name="Text 0"/>
          <p:cNvSpPr/>
          <p:nvPr>
            <p:ph idx="100" type="title" hasCustomPrompt="1"/>
          </p:nvPr>
        </p:nvSpPr>
        <p:spPr>
          <a:xfrm>
            <a:off x="457200" y="502920"/>
            <a:ext cx="6400800" cy="640080"/>
          </a:xfrm>
          <a:prstGeom prst="rect">
            <a:avLst/>
          </a:prstGeom>
          <a:noFill/>
          <a:ln/>
        </p:spPr>
        <p:txBody>
          <a:bodyPr wrap="square" lIns="0" tIns="0" rIns="0" bIns="0" rtlCol="0" anchor="ctr"/>
          <a:lstStyle/>
          <a:p>
            <a:pPr algn="l" indent="0" marL="0">
              <a:buNone/>
            </a:pPr>
            <a:r>
              <a:rPr lang="en-US" sz="3400" b="1" dirty="0">
                <a:solidFill>
                  <a:schemeClr val="tx2"/>
                </a:solidFill>
                <a:latin typeface="Cambria" pitchFamily="34" charset="0"/>
                <a:ea typeface="Cambria" pitchFamily="34" charset="-122"/>
                <a:cs typeface="Cambria" pitchFamily="34" charset="-120"/>
              </a:rPr>
              <a:t>Introduction</a:t>
            </a:r>
            <a:endParaRPr lang="en-US" sz="3400" dirty="0"/>
          </a:p>
        </p:txBody>
      </p:sp>
      <p:sp>
        <p:nvSpPr>
          <p:cNvPr id="4" name="Problem panel"/>
          <p:cNvSpPr/>
          <p:nvPr/>
        </p:nvSpPr>
        <p:spPr>
          <a:xfrm>
            <a:off x="457200" y="1371600"/>
            <a:ext cx="3703320" cy="2788920"/>
          </a:xfrm>
          <a:prstGeom prst="roundRect">
            <a:avLst>
              <a:gd name="adj" fmla="val 3934"/>
            </a:avLst>
          </a:prstGeom>
          <a:solidFill>
            <a:schemeClr val="bg2"/>
          </a:solidFill>
          <a:ln/>
        </p:spPr>
      </p:sp>
      <p:sp>
        <p:nvSpPr>
          <p:cNvPr id="5" name="LuTriangleAlert tile"/>
          <p:cNvSpPr/>
          <p:nvPr/>
        </p:nvSpPr>
        <p:spPr>
          <a:xfrm>
            <a:off x="713232" y="1572768"/>
            <a:ext cx="457200" cy="457200"/>
          </a:xfrm>
          <a:prstGeom prst="roundRect">
            <a:avLst>
              <a:gd name="adj" fmla="val 22000"/>
            </a:avLst>
          </a:prstGeom>
          <a:solidFill>
            <a:schemeClr val="accent4"/>
          </a:solidFill>
          <a:ln/>
        </p:spPr>
      </p:sp>
      <p:pic>
        <p:nvPicPr>
          <p:cNvPr id="6" name="LuTriangleAlert icon" descr="preencoded.png">    </p:cNvPr>
          <p:cNvPicPr>
            <a:picLocks noChangeAspect="1"/>
          </p:cNvPicPr>
          <p:nvPr/>
        </p:nvPicPr>
        <p:blipFill>
          <a:blip r:embed="rId1"/>
          <a:stretch>
            <a:fillRect/>
          </a:stretch>
        </p:blipFill>
        <p:spPr>
          <a:xfrm>
            <a:off x="822960" y="1682496"/>
            <a:ext cx="237744" cy="237744"/>
          </a:xfrm>
          <a:prstGeom prst="rect">
            <a:avLst/>
          </a:prstGeom>
        </p:spPr>
      </p:pic>
      <p:sp>
        <p:nvSpPr>
          <p:cNvPr id="7" name="Problem heading"/>
          <p:cNvSpPr txBox="1"/>
          <p:nvPr/>
        </p:nvSpPr>
        <p:spPr>
          <a:xfrm>
            <a:off x="1280160" y="1572768"/>
            <a:ext cx="2743200" cy="457200"/>
          </a:xfrm>
          <a:prstGeom prst="rect">
            <a:avLst/>
          </a:prstGeom>
          <a:noFill/>
          <a:ln/>
        </p:spPr>
        <p:txBody>
          <a:bodyPr wrap="square" lIns="0" tIns="0" rIns="0" bIns="0" rtlCol="0" anchor="ctr"/>
          <a:lstStyle/>
          <a:p>
            <a:pPr indent="0" marL="0">
              <a:buNone/>
            </a:pPr>
            <a:r>
              <a:rPr lang="en-US" sz="1800" b="1" dirty="0">
                <a:solidFill>
                  <a:schemeClr val="tx2"/>
                </a:solidFill>
              </a:rPr>
              <a:t>In a small store today</a:t>
            </a:r>
            <a:endParaRPr lang="en-US" sz="1800" dirty="0"/>
          </a:p>
        </p:txBody>
      </p:sp>
      <p:sp>
        <p:nvSpPr>
          <p:cNvPr id="8" name="Problem points"/>
          <p:cNvSpPr txBox="1"/>
          <p:nvPr/>
        </p:nvSpPr>
        <p:spPr>
          <a:xfrm>
            <a:off x="713232" y="2194560"/>
            <a:ext cx="3246120" cy="18288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Stock kept in paper registers and spreadsheets</a:t>
            </a:r>
            <a:endParaRPr lang="en-US" sz="1400" dirty="0"/>
          </a:p>
          <a:p>
            <a:pPr marL="342900" indent="-342900">
              <a:spcAft>
                <a:spcPts val="600"/>
              </a:spcAft>
              <a:buSzPct val="100000"/>
              <a:buChar char="•"/>
            </a:pPr>
            <a:r>
              <a:rPr lang="en-US" sz="1400" dirty="0">
                <a:solidFill>
                  <a:schemeClr val="tx1"/>
                </a:solidFill>
              </a:rPr>
              <a:t>Books drift from the shelf; reorders by guesswork</a:t>
            </a:r>
            <a:endParaRPr lang="en-US" sz="1400" dirty="0"/>
          </a:p>
          <a:p>
            <a:pPr marL="342900" indent="-342900">
              <a:spcAft>
                <a:spcPts val="600"/>
              </a:spcAft>
              <a:buSzPct val="100000"/>
              <a:buChar char="•"/>
            </a:pPr>
            <a:r>
              <a:rPr lang="en-US" sz="1400" dirty="0">
                <a:solidFill>
                  <a:schemeClr val="tx1"/>
                </a:solidFill>
              </a:rPr>
              <a:t>GST invoices and tax summaries made by hand</a:t>
            </a:r>
            <a:endParaRPr lang="en-US" sz="1400" dirty="0"/>
          </a:p>
          <a:p>
            <a:pPr marL="342900" indent="-342900">
              <a:spcAft>
                <a:spcPts val="600"/>
              </a:spcAft>
              <a:buSzPct val="100000"/>
              <a:buChar char="•"/>
            </a:pPr>
            <a:r>
              <a:rPr lang="en-US" sz="1400" dirty="0">
                <a:solidFill>
                  <a:schemeClr val="tx1"/>
                </a:solidFill>
              </a:rPr>
              <a:t>No quick view of sales or profit</a:t>
            </a:r>
            <a:endParaRPr lang="en-US" sz="1400" dirty="0"/>
          </a:p>
        </p:txBody>
      </p:sp>
      <p:sp>
        <p:nvSpPr>
          <p:cNvPr id="9" name="Solution panel"/>
          <p:cNvSpPr/>
          <p:nvPr/>
        </p:nvSpPr>
        <p:spPr>
          <a:xfrm>
            <a:off x="4983480" y="1371600"/>
            <a:ext cx="3703320" cy="2788920"/>
          </a:xfrm>
          <a:prstGeom prst="roundRect">
            <a:avLst>
              <a:gd name="adj" fmla="val 3934"/>
            </a:avLst>
          </a:prstGeom>
          <a:solidFill>
            <a:srgbClr val="E2F1EC"/>
          </a:solidFill>
          <a:ln/>
        </p:spPr>
      </p:sp>
      <p:sp>
        <p:nvSpPr>
          <p:cNvPr id="10" name="LuCircleCheck tile"/>
          <p:cNvSpPr/>
          <p:nvPr/>
        </p:nvSpPr>
        <p:spPr>
          <a:xfrm>
            <a:off x="5239512" y="1572768"/>
            <a:ext cx="457200" cy="457200"/>
          </a:xfrm>
          <a:prstGeom prst="roundRect">
            <a:avLst>
              <a:gd name="adj" fmla="val 22000"/>
            </a:avLst>
          </a:prstGeom>
          <a:solidFill>
            <a:schemeClr val="accent1"/>
          </a:solidFill>
          <a:ln/>
        </p:spPr>
      </p:sp>
      <p:pic>
        <p:nvPicPr>
          <p:cNvPr id="11" name="LuCircleCheck icon" descr="preencoded.png">    </p:cNvPr>
          <p:cNvPicPr>
            <a:picLocks noChangeAspect="1"/>
          </p:cNvPicPr>
          <p:nvPr/>
        </p:nvPicPr>
        <p:blipFill>
          <a:blip r:embed="rId2"/>
          <a:stretch>
            <a:fillRect/>
          </a:stretch>
        </p:blipFill>
        <p:spPr>
          <a:xfrm>
            <a:off x="5349240" y="1682496"/>
            <a:ext cx="237744" cy="237744"/>
          </a:xfrm>
          <a:prstGeom prst="rect">
            <a:avLst/>
          </a:prstGeom>
        </p:spPr>
      </p:pic>
      <p:sp>
        <p:nvSpPr>
          <p:cNvPr id="12" name="Solution heading"/>
          <p:cNvSpPr txBox="1"/>
          <p:nvPr/>
        </p:nvSpPr>
        <p:spPr>
          <a:xfrm>
            <a:off x="5806440" y="1572768"/>
            <a:ext cx="2743200" cy="457200"/>
          </a:xfrm>
          <a:prstGeom prst="rect">
            <a:avLst/>
          </a:prstGeom>
          <a:noFill/>
          <a:ln/>
        </p:spPr>
        <p:txBody>
          <a:bodyPr wrap="square" lIns="0" tIns="0" rIns="0" bIns="0" rtlCol="0" anchor="ctr"/>
          <a:lstStyle/>
          <a:p>
            <a:pPr indent="0" marL="0">
              <a:buNone/>
            </a:pPr>
            <a:r>
              <a:rPr lang="en-US" sz="1800" b="1" dirty="0">
                <a:solidFill>
                  <a:schemeClr val="tx2"/>
                </a:solidFill>
              </a:rPr>
              <a:t>With our system</a:t>
            </a:r>
            <a:endParaRPr lang="en-US" sz="1800" dirty="0"/>
          </a:p>
        </p:txBody>
      </p:sp>
      <p:sp>
        <p:nvSpPr>
          <p:cNvPr id="13" name="Solution points"/>
          <p:cNvSpPr txBox="1"/>
          <p:nvPr/>
        </p:nvSpPr>
        <p:spPr>
          <a:xfrm>
            <a:off x="5239512" y="2194560"/>
            <a:ext cx="3246120" cy="18288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One app for stock, purchases and billing</a:t>
            </a:r>
            <a:endParaRPr lang="en-US" sz="1400" dirty="0"/>
          </a:p>
          <a:p>
            <a:pPr marL="342900" indent="-342900">
              <a:spcAft>
                <a:spcPts val="600"/>
              </a:spcAft>
              <a:buSzPct val="100000"/>
              <a:buChar char="•"/>
            </a:pPr>
            <a:r>
              <a:rPr lang="en-US" sz="1400" dirty="0">
                <a:solidFill>
                  <a:schemeClr val="tx1"/>
                </a:solidFill>
              </a:rPr>
              <a:t>Every movement recorded; stock never goes negative</a:t>
            </a:r>
            <a:endParaRPr lang="en-US" sz="1400" dirty="0"/>
          </a:p>
          <a:p>
            <a:pPr marL="342900" indent="-342900">
              <a:spcAft>
                <a:spcPts val="600"/>
              </a:spcAft>
              <a:buSzPct val="100000"/>
              <a:buChar char="•"/>
            </a:pPr>
            <a:r>
              <a:rPr lang="en-US" sz="1400" dirty="0">
                <a:solidFill>
                  <a:schemeClr val="tx1"/>
                </a:solidFill>
              </a:rPr>
              <a:t>GST invoices, credit notes and GST summary built in</a:t>
            </a:r>
            <a:endParaRPr lang="en-US" sz="1400" dirty="0"/>
          </a:p>
          <a:p>
            <a:pPr marL="342900" indent="-342900">
              <a:spcAft>
                <a:spcPts val="600"/>
              </a:spcAft>
              <a:buSzPct val="100000"/>
              <a:buChar char="•"/>
            </a:pPr>
            <a:r>
              <a:rPr lang="en-US" sz="1400" dirty="0">
                <a:solidFill>
                  <a:schemeClr val="tx1"/>
                </a:solidFill>
              </a:rPr>
              <a:t>Dashboard, reports and AI restock tips</a:t>
            </a:r>
            <a:endParaRPr lang="en-US" sz="1400" dirty="0"/>
          </a:p>
        </p:txBody>
      </p:sp>
      <p:sp>
        <p:nvSpPr>
          <p:cNvPr id="14" name="Arrow backing"/>
          <p:cNvSpPr/>
          <p:nvPr/>
        </p:nvSpPr>
        <p:spPr>
          <a:xfrm>
            <a:off x="4325112" y="2560320"/>
            <a:ext cx="502920" cy="502920"/>
          </a:xfrm>
          <a:prstGeom prst="ellipse">
            <a:avLst/>
          </a:prstGeom>
          <a:solidFill>
            <a:schemeClr val="accent2"/>
          </a:solidFill>
          <a:ln/>
          <a:effectLst>
            <a:outerShdw sx="100000" sy="100000" kx="0" ky="0" algn="bl" rotWithShape="0" blurRad="101600" dist="25400" dir="5400000">
              <a:srgbClr val="0B2A30">
                <a:alpha val="18000"/>
              </a:srgbClr>
            </a:outerShdw>
          </a:effectLst>
        </p:spPr>
      </p:sp>
      <p:pic>
        <p:nvPicPr>
          <p:cNvPr id="15" name="Arrow" descr="preencoded.png">    </p:cNvPr>
          <p:cNvPicPr>
            <a:picLocks noChangeAspect="1"/>
          </p:cNvPicPr>
          <p:nvPr/>
        </p:nvPicPr>
        <p:blipFill>
          <a:blip r:embed="rId3"/>
          <a:stretch>
            <a:fillRect/>
          </a:stretch>
        </p:blipFill>
        <p:spPr>
          <a:xfrm>
            <a:off x="4434840" y="2670048"/>
            <a:ext cx="283464" cy="283464"/>
          </a:xfrm>
          <a:prstGeom prst="rect">
            <a:avLst/>
          </a:prstGeom>
        </p:spPr>
      </p:pic>
      <p:sp>
        <p:nvSpPr>
          <p:cNvPr id="16" name="LuCode tile"/>
          <p:cNvSpPr/>
          <p:nvPr/>
        </p:nvSpPr>
        <p:spPr>
          <a:xfrm>
            <a:off x="457200" y="4297680"/>
            <a:ext cx="310896" cy="310896"/>
          </a:xfrm>
          <a:prstGeom prst="roundRect">
            <a:avLst>
              <a:gd name="adj" fmla="val 22000"/>
            </a:avLst>
          </a:prstGeom>
          <a:solidFill>
            <a:schemeClr val="bg2"/>
          </a:solidFill>
          <a:ln/>
        </p:spPr>
      </p:sp>
      <p:pic>
        <p:nvPicPr>
          <p:cNvPr id="17" name="LuCode icon" descr="preencoded.png">    </p:cNvPr>
          <p:cNvPicPr>
            <a:picLocks noChangeAspect="1"/>
          </p:cNvPicPr>
          <p:nvPr/>
        </p:nvPicPr>
        <p:blipFill>
          <a:blip r:embed="rId4"/>
          <a:stretch>
            <a:fillRect/>
          </a:stretch>
        </p:blipFill>
        <p:spPr>
          <a:xfrm>
            <a:off x="531815" y="4372295"/>
            <a:ext cx="161666" cy="161666"/>
          </a:xfrm>
          <a:prstGeom prst="rect">
            <a:avLst/>
          </a:prstGeom>
        </p:spPr>
      </p:pic>
      <p:sp>
        <p:nvSpPr>
          <p:cNvPr id="18" name="Stack note"/>
          <p:cNvSpPr txBox="1"/>
          <p:nvPr/>
        </p:nvSpPr>
        <p:spPr>
          <a:xfrm>
            <a:off x="868680" y="4297680"/>
            <a:ext cx="7772400" cy="310896"/>
          </a:xfrm>
          <a:prstGeom prst="rect">
            <a:avLst/>
          </a:prstGeom>
          <a:noFill/>
          <a:ln/>
        </p:spPr>
        <p:txBody>
          <a:bodyPr wrap="square" lIns="0" tIns="0" rIns="0" bIns="0" rtlCol="0" anchor="ctr"/>
          <a:lstStyle/>
          <a:p>
            <a:pPr indent="0" marL="0">
              <a:buNone/>
            </a:pPr>
            <a:r>
              <a:rPr lang="en-US" sz="1200" dirty="0">
                <a:solidFill>
                  <a:schemeClr val="accent6"/>
                </a:solidFill>
              </a:rPr>
              <a:t>Built on the MERN stack in TypeScript: MongoDB, Express, React and Node.js</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Eyebrow"/>
          <p:cNvSpPr txBox="1"/>
          <p:nvPr/>
        </p:nvSpPr>
        <p:spPr>
          <a:xfrm>
            <a:off x="457200" y="274320"/>
            <a:ext cx="5486400" cy="256032"/>
          </a:xfrm>
          <a:prstGeom prst="rect">
            <a:avLst/>
          </a:prstGeom>
          <a:noFill/>
          <a:ln/>
        </p:spPr>
        <p:txBody>
          <a:bodyPr wrap="square" lIns="0" tIns="0" rIns="0" bIns="0" rtlCol="0" anchor="ctr"/>
          <a:lstStyle/>
          <a:p>
            <a:pPr indent="0" marL="0">
              <a:buNone/>
            </a:pPr>
            <a:r>
              <a:rPr lang="en-US" sz="1100" b="1" spc="200" kern="0" dirty="0">
                <a:solidFill>
                  <a:schemeClr val="accent1"/>
                </a:solidFill>
              </a:rPr>
              <a:t>03 · PROBLEM STATEMENT</a:t>
            </a:r>
            <a:endParaRPr lang="en-US" sz="1100" dirty="0"/>
          </a:p>
        </p:txBody>
      </p:sp>
      <p:sp>
        <p:nvSpPr>
          <p:cNvPr id="3" name="Text 0"/>
          <p:cNvSpPr/>
          <p:nvPr>
            <p:ph idx="100" type="title" hasCustomPrompt="1"/>
          </p:nvPr>
        </p:nvSpPr>
        <p:spPr>
          <a:xfrm>
            <a:off x="457200" y="502920"/>
            <a:ext cx="6400800" cy="640080"/>
          </a:xfrm>
          <a:prstGeom prst="rect">
            <a:avLst/>
          </a:prstGeom>
          <a:noFill/>
          <a:ln/>
        </p:spPr>
        <p:txBody>
          <a:bodyPr wrap="square" lIns="0" tIns="0" rIns="0" bIns="0" rtlCol="0" anchor="ctr"/>
          <a:lstStyle/>
          <a:p>
            <a:pPr algn="l" indent="0" marL="0">
              <a:buNone/>
            </a:pPr>
            <a:r>
              <a:rPr lang="en-US" sz="3400" b="1" dirty="0">
                <a:solidFill>
                  <a:schemeClr val="tx2"/>
                </a:solidFill>
                <a:latin typeface="Cambria" pitchFamily="34" charset="0"/>
                <a:ea typeface="Cambria" pitchFamily="34" charset="-122"/>
                <a:cs typeface="Cambria" pitchFamily="34" charset="-120"/>
              </a:rPr>
              <a:t>Problem Statement</a:t>
            </a:r>
            <a:endParaRPr lang="en-US" sz="3400" dirty="0"/>
          </a:p>
        </p:txBody>
      </p:sp>
      <p:sp>
        <p:nvSpPr>
          <p:cNvPr id="4" name="Statement card"/>
          <p:cNvSpPr/>
          <p:nvPr/>
        </p:nvSpPr>
        <p:spPr>
          <a:xfrm>
            <a:off x="457200" y="1325880"/>
            <a:ext cx="8229600" cy="1234440"/>
          </a:xfrm>
          <a:prstGeom prst="roundRect">
            <a:avLst>
              <a:gd name="adj" fmla="val 8889"/>
            </a:avLst>
          </a:prstGeom>
          <a:solidFill>
            <a:schemeClr val="tx2"/>
          </a:solidFill>
          <a:ln/>
        </p:spPr>
      </p:sp>
      <p:sp>
        <p:nvSpPr>
          <p:cNvPr id="5" name="LuCircleHelp tile"/>
          <p:cNvSpPr/>
          <p:nvPr/>
        </p:nvSpPr>
        <p:spPr>
          <a:xfrm>
            <a:off x="685800" y="1572768"/>
            <a:ext cx="731520" cy="731520"/>
          </a:xfrm>
          <a:prstGeom prst="roundRect">
            <a:avLst>
              <a:gd name="adj" fmla="val 22000"/>
            </a:avLst>
          </a:prstGeom>
          <a:solidFill>
            <a:schemeClr val="accent2"/>
          </a:solidFill>
          <a:ln/>
        </p:spPr>
      </p:sp>
      <p:pic>
        <p:nvPicPr>
          <p:cNvPr id="6" name="LuCircleHelp icon" descr="preencoded.png">    </p:cNvPr>
          <p:cNvPicPr>
            <a:picLocks noChangeAspect="1"/>
          </p:cNvPicPr>
          <p:nvPr/>
        </p:nvPicPr>
        <p:blipFill>
          <a:blip r:embed="rId1"/>
          <a:stretch>
            <a:fillRect/>
          </a:stretch>
        </p:blipFill>
        <p:spPr>
          <a:xfrm>
            <a:off x="861365" y="1748333"/>
            <a:ext cx="380390" cy="380390"/>
          </a:xfrm>
          <a:prstGeom prst="rect">
            <a:avLst/>
          </a:prstGeom>
        </p:spPr>
      </p:pic>
      <p:sp>
        <p:nvSpPr>
          <p:cNvPr id="7" name="Statement"/>
          <p:cNvSpPr txBox="1"/>
          <p:nvPr/>
        </p:nvSpPr>
        <p:spPr>
          <a:xfrm>
            <a:off x="1645920" y="1417320"/>
            <a:ext cx="6858000" cy="1051560"/>
          </a:xfrm>
          <a:prstGeom prst="rect">
            <a:avLst/>
          </a:prstGeom>
          <a:noFill/>
          <a:ln/>
        </p:spPr>
        <p:txBody>
          <a:bodyPr wrap="square" lIns="0" tIns="0" rIns="0" bIns="0" rtlCol="0" anchor="ctr"/>
          <a:lstStyle/>
          <a:p>
            <a:pPr indent="0" marL="0">
              <a:buNone/>
            </a:pPr>
            <a:r>
              <a:rPr lang="en-US" sz="1600" dirty="0">
                <a:solidFill>
                  <a:schemeClr val="bg1"/>
                </a:solidFill>
              </a:rPr>
              <a:t>Small and medium retail stores lack an affordable, integrated system that keeps stock records accurate, produces GST-compliant documents and helps them decide what to reorder.</a:t>
            </a:r>
            <a:endParaRPr lang="en-US" sz="1600" dirty="0"/>
          </a:p>
        </p:txBody>
      </p:sp>
      <p:sp>
        <p:nvSpPr>
          <p:cNvPr id="8" name="Effects label"/>
          <p:cNvSpPr txBox="1"/>
          <p:nvPr/>
        </p:nvSpPr>
        <p:spPr>
          <a:xfrm>
            <a:off x="457200" y="2743200"/>
            <a:ext cx="3657600" cy="256032"/>
          </a:xfrm>
          <a:prstGeom prst="rect">
            <a:avLst/>
          </a:prstGeom>
          <a:noFill/>
          <a:ln/>
        </p:spPr>
        <p:txBody>
          <a:bodyPr wrap="square" lIns="0" tIns="0" rIns="0" bIns="0" rtlCol="0" anchor="ctr"/>
          <a:lstStyle/>
          <a:p>
            <a:pPr indent="0" marL="0">
              <a:buNone/>
            </a:pPr>
            <a:r>
              <a:rPr lang="en-US" sz="1100" b="1" spc="200" kern="0" dirty="0">
                <a:solidFill>
                  <a:schemeClr val="accent1"/>
                </a:solidFill>
              </a:rPr>
              <a:t>WHAT THIS LEADS TO</a:t>
            </a:r>
            <a:endParaRPr lang="en-US" sz="1100" dirty="0"/>
          </a:p>
        </p:txBody>
      </p:sp>
      <p:sp>
        <p:nvSpPr>
          <p:cNvPr id="9" name="Wrong stock figures card"/>
          <p:cNvSpPr/>
          <p:nvPr/>
        </p:nvSpPr>
        <p:spPr>
          <a:xfrm>
            <a:off x="457200" y="3063240"/>
            <a:ext cx="1920240" cy="1508760"/>
          </a:xfrm>
          <a:prstGeom prst="roundRect">
            <a:avLst>
              <a:gd name="adj" fmla="val 6061"/>
            </a:avLst>
          </a:prstGeom>
          <a:solidFill>
            <a:schemeClr val="bg2"/>
          </a:solidFill>
          <a:ln/>
        </p:spPr>
      </p:sp>
      <p:sp>
        <p:nvSpPr>
          <p:cNvPr id="10" name="LuPackageSearch tile"/>
          <p:cNvSpPr/>
          <p:nvPr/>
        </p:nvSpPr>
        <p:spPr>
          <a:xfrm>
            <a:off x="640080" y="3218688"/>
            <a:ext cx="420624" cy="420624"/>
          </a:xfrm>
          <a:prstGeom prst="roundRect">
            <a:avLst>
              <a:gd name="adj" fmla="val 22000"/>
            </a:avLst>
          </a:prstGeom>
          <a:solidFill>
            <a:schemeClr val="accent4"/>
          </a:solidFill>
          <a:ln/>
        </p:spPr>
      </p:sp>
      <p:pic>
        <p:nvPicPr>
          <p:cNvPr id="11" name="LuPackageSearch icon" descr="preencoded.png">    </p:cNvPr>
          <p:cNvPicPr>
            <a:picLocks noChangeAspect="1"/>
          </p:cNvPicPr>
          <p:nvPr/>
        </p:nvPicPr>
        <p:blipFill>
          <a:blip r:embed="rId2"/>
          <a:stretch>
            <a:fillRect/>
          </a:stretch>
        </p:blipFill>
        <p:spPr>
          <a:xfrm>
            <a:off x="741030" y="3319638"/>
            <a:ext cx="218724" cy="218724"/>
          </a:xfrm>
          <a:prstGeom prst="rect">
            <a:avLst/>
          </a:prstGeom>
        </p:spPr>
      </p:pic>
      <p:sp>
        <p:nvSpPr>
          <p:cNvPr id="12" name="Wrong stock figures text"/>
          <p:cNvSpPr txBox="1"/>
          <p:nvPr/>
        </p:nvSpPr>
        <p:spPr>
          <a:xfrm>
            <a:off x="640080" y="3712464"/>
            <a:ext cx="1600200" cy="822960"/>
          </a:xfrm>
          <a:prstGeom prst="rect">
            <a:avLst/>
          </a:prstGeom>
          <a:noFill/>
          <a:ln/>
        </p:spPr>
        <p:txBody>
          <a:bodyPr wrap="square" lIns="0" tIns="0" rIns="0" bIns="0" rtlCol="0" anchor="t"/>
          <a:lstStyle/>
          <a:p>
            <a:pPr indent="0" marL="0">
              <a:spcAft>
                <a:spcPts val="200"/>
              </a:spcAft>
              <a:buNone/>
            </a:pPr>
            <a:r>
              <a:rPr lang="en-US" sz="1350" b="1" dirty="0">
                <a:solidFill>
                  <a:schemeClr val="tx2"/>
                </a:solidFill>
              </a:rPr>
              <a:t>Wrong stock figures</a:t>
            </a:r>
            <a:endParaRPr lang="en-US" sz="1350" dirty="0"/>
          </a:p>
          <a:p>
            <a:pPr indent="0" marL="0">
              <a:spcAft>
                <a:spcPts val="200"/>
              </a:spcAft>
              <a:buNone/>
            </a:pPr>
            <a:r>
              <a:rPr lang="en-US" sz="1150" dirty="0">
                <a:solidFill>
                  <a:schemeClr val="accent6"/>
                </a:solidFill>
              </a:rPr>
              <a:t>Registers and billing drift apart from the shelves</a:t>
            </a:r>
            <a:endParaRPr lang="en-US" sz="1350" dirty="0"/>
          </a:p>
        </p:txBody>
      </p:sp>
      <p:sp>
        <p:nvSpPr>
          <p:cNvPr id="13" name="Lost sales card"/>
          <p:cNvSpPr/>
          <p:nvPr/>
        </p:nvSpPr>
        <p:spPr>
          <a:xfrm>
            <a:off x="2560320" y="3063240"/>
            <a:ext cx="1920240" cy="1508760"/>
          </a:xfrm>
          <a:prstGeom prst="roundRect">
            <a:avLst>
              <a:gd name="adj" fmla="val 6061"/>
            </a:avLst>
          </a:prstGeom>
          <a:solidFill>
            <a:schemeClr val="bg2"/>
          </a:solidFill>
          <a:ln/>
        </p:spPr>
      </p:sp>
      <p:sp>
        <p:nvSpPr>
          <p:cNvPr id="14" name="LuPackageX tile"/>
          <p:cNvSpPr/>
          <p:nvPr/>
        </p:nvSpPr>
        <p:spPr>
          <a:xfrm>
            <a:off x="2743200" y="3218688"/>
            <a:ext cx="420624" cy="420624"/>
          </a:xfrm>
          <a:prstGeom prst="roundRect">
            <a:avLst>
              <a:gd name="adj" fmla="val 22000"/>
            </a:avLst>
          </a:prstGeom>
          <a:solidFill>
            <a:schemeClr val="accent4"/>
          </a:solidFill>
          <a:ln/>
        </p:spPr>
      </p:sp>
      <p:pic>
        <p:nvPicPr>
          <p:cNvPr id="15" name="LuPackageX icon" descr="preencoded.png">    </p:cNvPr>
          <p:cNvPicPr>
            <a:picLocks noChangeAspect="1"/>
          </p:cNvPicPr>
          <p:nvPr/>
        </p:nvPicPr>
        <p:blipFill>
          <a:blip r:embed="rId3"/>
          <a:stretch>
            <a:fillRect/>
          </a:stretch>
        </p:blipFill>
        <p:spPr>
          <a:xfrm>
            <a:off x="2844150" y="3319638"/>
            <a:ext cx="218724" cy="218724"/>
          </a:xfrm>
          <a:prstGeom prst="rect">
            <a:avLst/>
          </a:prstGeom>
        </p:spPr>
      </p:pic>
      <p:sp>
        <p:nvSpPr>
          <p:cNvPr id="16" name="Lost sales text"/>
          <p:cNvSpPr txBox="1"/>
          <p:nvPr/>
        </p:nvSpPr>
        <p:spPr>
          <a:xfrm>
            <a:off x="2743200" y="3712464"/>
            <a:ext cx="1600200" cy="822960"/>
          </a:xfrm>
          <a:prstGeom prst="rect">
            <a:avLst/>
          </a:prstGeom>
          <a:noFill/>
          <a:ln/>
        </p:spPr>
        <p:txBody>
          <a:bodyPr wrap="square" lIns="0" tIns="0" rIns="0" bIns="0" rtlCol="0" anchor="t"/>
          <a:lstStyle/>
          <a:p>
            <a:pPr indent="0" marL="0">
              <a:spcAft>
                <a:spcPts val="200"/>
              </a:spcAft>
              <a:buNone/>
            </a:pPr>
            <a:r>
              <a:rPr lang="en-US" sz="1350" b="1" dirty="0">
                <a:solidFill>
                  <a:schemeClr val="tx2"/>
                </a:solidFill>
              </a:rPr>
              <a:t>Lost sales</a:t>
            </a:r>
            <a:endParaRPr lang="en-US" sz="1350" dirty="0"/>
          </a:p>
          <a:p>
            <a:pPr indent="0" marL="0">
              <a:spcAft>
                <a:spcPts val="200"/>
              </a:spcAft>
              <a:buNone/>
            </a:pPr>
            <a:r>
              <a:rPr lang="en-US" sz="1150" dirty="0">
                <a:solidFill>
                  <a:schemeClr val="accent6"/>
                </a:solidFill>
              </a:rPr>
              <a:t>Popular items run out before anyone notices</a:t>
            </a:r>
            <a:endParaRPr lang="en-US" sz="1350" dirty="0"/>
          </a:p>
        </p:txBody>
      </p:sp>
      <p:sp>
        <p:nvSpPr>
          <p:cNvPr id="17" name="Money stuck card"/>
          <p:cNvSpPr/>
          <p:nvPr/>
        </p:nvSpPr>
        <p:spPr>
          <a:xfrm>
            <a:off x="4663440" y="3063240"/>
            <a:ext cx="1920240" cy="1508760"/>
          </a:xfrm>
          <a:prstGeom prst="roundRect">
            <a:avLst>
              <a:gd name="adj" fmla="val 6061"/>
            </a:avLst>
          </a:prstGeom>
          <a:solidFill>
            <a:schemeClr val="bg2"/>
          </a:solidFill>
          <a:ln/>
        </p:spPr>
      </p:sp>
      <p:sp>
        <p:nvSpPr>
          <p:cNvPr id="18" name="LuHandCoins tile"/>
          <p:cNvSpPr/>
          <p:nvPr/>
        </p:nvSpPr>
        <p:spPr>
          <a:xfrm>
            <a:off x="4846320" y="3218688"/>
            <a:ext cx="420624" cy="420624"/>
          </a:xfrm>
          <a:prstGeom prst="roundRect">
            <a:avLst>
              <a:gd name="adj" fmla="val 22000"/>
            </a:avLst>
          </a:prstGeom>
          <a:solidFill>
            <a:schemeClr val="accent4"/>
          </a:solidFill>
          <a:ln/>
        </p:spPr>
      </p:sp>
      <p:pic>
        <p:nvPicPr>
          <p:cNvPr id="19" name="LuHandCoins icon" descr="preencoded.png">    </p:cNvPr>
          <p:cNvPicPr>
            <a:picLocks noChangeAspect="1"/>
          </p:cNvPicPr>
          <p:nvPr/>
        </p:nvPicPr>
        <p:blipFill>
          <a:blip r:embed="rId4"/>
          <a:stretch>
            <a:fillRect/>
          </a:stretch>
        </p:blipFill>
        <p:spPr>
          <a:xfrm>
            <a:off x="4947270" y="3319638"/>
            <a:ext cx="218724" cy="218724"/>
          </a:xfrm>
          <a:prstGeom prst="rect">
            <a:avLst/>
          </a:prstGeom>
        </p:spPr>
      </p:pic>
      <p:sp>
        <p:nvSpPr>
          <p:cNvPr id="20" name="Money stuck text"/>
          <p:cNvSpPr txBox="1"/>
          <p:nvPr/>
        </p:nvSpPr>
        <p:spPr>
          <a:xfrm>
            <a:off x="4846320" y="3712464"/>
            <a:ext cx="1600200" cy="822960"/>
          </a:xfrm>
          <a:prstGeom prst="rect">
            <a:avLst/>
          </a:prstGeom>
          <a:noFill/>
          <a:ln/>
        </p:spPr>
        <p:txBody>
          <a:bodyPr wrap="square" lIns="0" tIns="0" rIns="0" bIns="0" rtlCol="0" anchor="t"/>
          <a:lstStyle/>
          <a:p>
            <a:pPr indent="0" marL="0">
              <a:spcAft>
                <a:spcPts val="200"/>
              </a:spcAft>
              <a:buNone/>
            </a:pPr>
            <a:r>
              <a:rPr lang="en-US" sz="1350" b="1" dirty="0">
                <a:solidFill>
                  <a:schemeClr val="tx2"/>
                </a:solidFill>
              </a:rPr>
              <a:t>Money stuck</a:t>
            </a:r>
            <a:endParaRPr lang="en-US" sz="1350" dirty="0"/>
          </a:p>
          <a:p>
            <a:pPr indent="0" marL="0">
              <a:spcAft>
                <a:spcPts val="200"/>
              </a:spcAft>
              <a:buNone/>
            </a:pPr>
            <a:r>
              <a:rPr lang="en-US" sz="1150" dirty="0">
                <a:solidFill>
                  <a:schemeClr val="accent6"/>
                </a:solidFill>
              </a:rPr>
              <a:t>Slow-moving goods are reordered anyway</a:t>
            </a:r>
            <a:endParaRPr lang="en-US" sz="1350" dirty="0"/>
          </a:p>
        </p:txBody>
      </p:sp>
      <p:sp>
        <p:nvSpPr>
          <p:cNvPr id="21" name="Tax errors card"/>
          <p:cNvSpPr/>
          <p:nvPr/>
        </p:nvSpPr>
        <p:spPr>
          <a:xfrm>
            <a:off x="6766560" y="3063240"/>
            <a:ext cx="1920240" cy="1508760"/>
          </a:xfrm>
          <a:prstGeom prst="roundRect">
            <a:avLst>
              <a:gd name="adj" fmla="val 6061"/>
            </a:avLst>
          </a:prstGeom>
          <a:solidFill>
            <a:schemeClr val="bg2"/>
          </a:solidFill>
          <a:ln/>
        </p:spPr>
      </p:sp>
      <p:sp>
        <p:nvSpPr>
          <p:cNvPr id="22" name="LuCalculator tile"/>
          <p:cNvSpPr/>
          <p:nvPr/>
        </p:nvSpPr>
        <p:spPr>
          <a:xfrm>
            <a:off x="6949440" y="3218688"/>
            <a:ext cx="420624" cy="420624"/>
          </a:xfrm>
          <a:prstGeom prst="roundRect">
            <a:avLst>
              <a:gd name="adj" fmla="val 22000"/>
            </a:avLst>
          </a:prstGeom>
          <a:solidFill>
            <a:schemeClr val="accent4"/>
          </a:solidFill>
          <a:ln/>
        </p:spPr>
      </p:sp>
      <p:pic>
        <p:nvPicPr>
          <p:cNvPr id="23" name="LuCalculator icon" descr="preencoded.png">    </p:cNvPr>
          <p:cNvPicPr>
            <a:picLocks noChangeAspect="1"/>
          </p:cNvPicPr>
          <p:nvPr/>
        </p:nvPicPr>
        <p:blipFill>
          <a:blip r:embed="rId5"/>
          <a:stretch>
            <a:fillRect/>
          </a:stretch>
        </p:blipFill>
        <p:spPr>
          <a:xfrm>
            <a:off x="7050390" y="3319638"/>
            <a:ext cx="218724" cy="218724"/>
          </a:xfrm>
          <a:prstGeom prst="rect">
            <a:avLst/>
          </a:prstGeom>
        </p:spPr>
      </p:pic>
      <p:sp>
        <p:nvSpPr>
          <p:cNvPr id="24" name="Tax errors text"/>
          <p:cNvSpPr txBox="1"/>
          <p:nvPr/>
        </p:nvSpPr>
        <p:spPr>
          <a:xfrm>
            <a:off x="6949440" y="3712464"/>
            <a:ext cx="1600200" cy="822960"/>
          </a:xfrm>
          <a:prstGeom prst="rect">
            <a:avLst/>
          </a:prstGeom>
          <a:noFill/>
          <a:ln/>
        </p:spPr>
        <p:txBody>
          <a:bodyPr wrap="square" lIns="0" tIns="0" rIns="0" bIns="0" rtlCol="0" anchor="t"/>
          <a:lstStyle/>
          <a:p>
            <a:pPr indent="0" marL="0">
              <a:spcAft>
                <a:spcPts val="200"/>
              </a:spcAft>
              <a:buNone/>
            </a:pPr>
            <a:r>
              <a:rPr lang="en-US" sz="1350" b="1" dirty="0">
                <a:solidFill>
                  <a:schemeClr val="tx2"/>
                </a:solidFill>
              </a:rPr>
              <a:t>Tax errors</a:t>
            </a:r>
            <a:endParaRPr lang="en-US" sz="1350" dirty="0"/>
          </a:p>
          <a:p>
            <a:pPr indent="0" marL="0">
              <a:spcAft>
                <a:spcPts val="200"/>
              </a:spcAft>
              <a:buNone/>
            </a:pPr>
            <a:r>
              <a:rPr lang="en-US" sz="1150" dirty="0">
                <a:solidFill>
                  <a:schemeClr val="accent6"/>
                </a:solidFill>
              </a:rPr>
              <a:t>CGST, SGST and IGST worked out by hand</a:t>
            </a:r>
            <a:endParaRPr lang="en-US" sz="135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Eyebrow"/>
          <p:cNvSpPr txBox="1"/>
          <p:nvPr/>
        </p:nvSpPr>
        <p:spPr>
          <a:xfrm>
            <a:off x="457200" y="274320"/>
            <a:ext cx="5486400" cy="256032"/>
          </a:xfrm>
          <a:prstGeom prst="rect">
            <a:avLst/>
          </a:prstGeom>
          <a:noFill/>
          <a:ln/>
        </p:spPr>
        <p:txBody>
          <a:bodyPr wrap="square" lIns="0" tIns="0" rIns="0" bIns="0" rtlCol="0" anchor="ctr"/>
          <a:lstStyle/>
          <a:p>
            <a:pPr indent="0" marL="0">
              <a:buNone/>
            </a:pPr>
            <a:r>
              <a:rPr lang="en-US" sz="1100" b="1" spc="200" kern="0" dirty="0">
                <a:solidFill>
                  <a:schemeClr val="accent1"/>
                </a:solidFill>
              </a:rPr>
              <a:t>04 · OBJECTIVES</a:t>
            </a:r>
            <a:endParaRPr lang="en-US" sz="1100" dirty="0"/>
          </a:p>
        </p:txBody>
      </p:sp>
      <p:sp>
        <p:nvSpPr>
          <p:cNvPr id="3" name="Text 0"/>
          <p:cNvSpPr/>
          <p:nvPr>
            <p:ph idx="100" type="title" hasCustomPrompt="1"/>
          </p:nvPr>
        </p:nvSpPr>
        <p:spPr>
          <a:xfrm>
            <a:off x="457200" y="502920"/>
            <a:ext cx="6400800" cy="640080"/>
          </a:xfrm>
          <a:prstGeom prst="rect">
            <a:avLst/>
          </a:prstGeom>
          <a:noFill/>
          <a:ln/>
        </p:spPr>
        <p:txBody>
          <a:bodyPr wrap="square" lIns="0" tIns="0" rIns="0" bIns="0" rtlCol="0" anchor="ctr"/>
          <a:lstStyle/>
          <a:p>
            <a:pPr algn="l" indent="0" marL="0">
              <a:buNone/>
            </a:pPr>
            <a:r>
              <a:rPr lang="en-US" sz="3400" b="1" dirty="0">
                <a:solidFill>
                  <a:schemeClr val="tx2"/>
                </a:solidFill>
                <a:latin typeface="Cambria" pitchFamily="34" charset="0"/>
                <a:ea typeface="Cambria" pitchFamily="34" charset="-122"/>
                <a:cs typeface="Cambria" pitchFamily="34" charset="-120"/>
              </a:rPr>
              <a:t>Objectives</a:t>
            </a:r>
            <a:endParaRPr lang="en-US" sz="3400" dirty="0"/>
          </a:p>
        </p:txBody>
      </p:sp>
      <p:sp>
        <p:nvSpPr>
          <p:cNvPr id="4" name="Objective 1 card"/>
          <p:cNvSpPr/>
          <p:nvPr/>
        </p:nvSpPr>
        <p:spPr>
          <a:xfrm>
            <a:off x="457200" y="1371600"/>
            <a:ext cx="1901952" cy="1371600"/>
          </a:xfrm>
          <a:prstGeom prst="roundRect">
            <a:avLst>
              <a:gd name="adj" fmla="val 6667"/>
            </a:avLst>
          </a:prstGeom>
          <a:solidFill>
            <a:schemeClr val="bg2"/>
          </a:solidFill>
          <a:ln/>
        </p:spPr>
      </p:sp>
      <p:sp>
        <p:nvSpPr>
          <p:cNvPr id="5" name="LuBoxes tile"/>
          <p:cNvSpPr/>
          <p:nvPr/>
        </p:nvSpPr>
        <p:spPr>
          <a:xfrm>
            <a:off x="640080" y="1554480"/>
            <a:ext cx="402336" cy="402336"/>
          </a:xfrm>
          <a:prstGeom prst="roundRect">
            <a:avLst>
              <a:gd name="adj" fmla="val 22000"/>
            </a:avLst>
          </a:prstGeom>
          <a:solidFill>
            <a:schemeClr val="accent1"/>
          </a:solidFill>
          <a:ln/>
        </p:spPr>
      </p:sp>
      <p:pic>
        <p:nvPicPr>
          <p:cNvPr id="6" name="LuBoxes icon" descr="preencoded.png">    </p:cNvPr>
          <p:cNvPicPr>
            <a:picLocks noChangeAspect="1"/>
          </p:cNvPicPr>
          <p:nvPr/>
        </p:nvPicPr>
        <p:blipFill>
          <a:blip r:embed="rId1"/>
          <a:stretch>
            <a:fillRect/>
          </a:stretch>
        </p:blipFill>
        <p:spPr>
          <a:xfrm>
            <a:off x="736641" y="1651041"/>
            <a:ext cx="209215" cy="209215"/>
          </a:xfrm>
          <a:prstGeom prst="rect">
            <a:avLst/>
          </a:prstGeom>
        </p:spPr>
      </p:pic>
      <p:sp>
        <p:nvSpPr>
          <p:cNvPr id="7" name="Objective 1 number"/>
          <p:cNvSpPr txBox="1"/>
          <p:nvPr/>
        </p:nvSpPr>
        <p:spPr>
          <a:xfrm>
            <a:off x="1673352" y="1554480"/>
            <a:ext cx="502920" cy="402336"/>
          </a:xfrm>
          <a:prstGeom prst="rect">
            <a:avLst/>
          </a:prstGeom>
          <a:noFill/>
          <a:ln/>
        </p:spPr>
        <p:txBody>
          <a:bodyPr wrap="square" lIns="0" tIns="0" rIns="0" bIns="0" rtlCol="0" anchor="ctr"/>
          <a:lstStyle/>
          <a:p>
            <a:pPr algn="r" indent="0" marL="0">
              <a:buNone/>
            </a:pPr>
            <a:r>
              <a:rPr lang="en-US" sz="1800" b="1" dirty="0">
                <a:solidFill>
                  <a:schemeClr val="accent2"/>
                </a:solidFill>
                <a:latin typeface="Cambria" pitchFamily="34" charset="0"/>
                <a:ea typeface="Cambria" pitchFamily="34" charset="-122"/>
                <a:cs typeface="Cambria" pitchFamily="34" charset="-120"/>
              </a:rPr>
              <a:t>01</a:t>
            </a:r>
            <a:endParaRPr lang="en-US" sz="1800" dirty="0"/>
          </a:p>
        </p:txBody>
      </p:sp>
      <p:sp>
        <p:nvSpPr>
          <p:cNvPr id="8" name="Objective 1"/>
          <p:cNvSpPr txBox="1"/>
          <p:nvPr/>
        </p:nvSpPr>
        <p:spPr>
          <a:xfrm>
            <a:off x="640080" y="2048256"/>
            <a:ext cx="1581912" cy="640080"/>
          </a:xfrm>
          <a:prstGeom prst="rect">
            <a:avLst/>
          </a:prstGeom>
          <a:noFill/>
          <a:ln/>
        </p:spPr>
        <p:txBody>
          <a:bodyPr wrap="square" lIns="0" tIns="0" rIns="0" bIns="0" rtlCol="0" anchor="t"/>
          <a:lstStyle/>
          <a:p>
            <a:pPr indent="0" marL="0">
              <a:buNone/>
            </a:pPr>
            <a:r>
              <a:rPr lang="en-US" sz="1200" dirty="0">
                <a:solidFill>
                  <a:schemeClr val="tx1"/>
                </a:solidFill>
              </a:rPr>
              <a:t>Digitise products and suppliers with HSN codes and GST rates</a:t>
            </a:r>
            <a:endParaRPr lang="en-US" sz="1200" dirty="0"/>
          </a:p>
        </p:txBody>
      </p:sp>
      <p:sp>
        <p:nvSpPr>
          <p:cNvPr id="9" name="Objective 2 card"/>
          <p:cNvSpPr/>
          <p:nvPr/>
        </p:nvSpPr>
        <p:spPr>
          <a:xfrm>
            <a:off x="2565806" y="1371600"/>
            <a:ext cx="1901952" cy="1371600"/>
          </a:xfrm>
          <a:prstGeom prst="roundRect">
            <a:avLst>
              <a:gd name="adj" fmla="val 6667"/>
            </a:avLst>
          </a:prstGeom>
          <a:solidFill>
            <a:schemeClr val="bg2"/>
          </a:solidFill>
          <a:ln/>
        </p:spPr>
      </p:sp>
      <p:sp>
        <p:nvSpPr>
          <p:cNvPr id="10" name="LuLayers tile"/>
          <p:cNvSpPr/>
          <p:nvPr/>
        </p:nvSpPr>
        <p:spPr>
          <a:xfrm>
            <a:off x="2748686" y="1554480"/>
            <a:ext cx="402336" cy="402336"/>
          </a:xfrm>
          <a:prstGeom prst="roundRect">
            <a:avLst>
              <a:gd name="adj" fmla="val 22000"/>
            </a:avLst>
          </a:prstGeom>
          <a:solidFill>
            <a:schemeClr val="accent1"/>
          </a:solidFill>
          <a:ln/>
        </p:spPr>
      </p:sp>
      <p:pic>
        <p:nvPicPr>
          <p:cNvPr id="11" name="LuLayers icon" descr="preencoded.png">    </p:cNvPr>
          <p:cNvPicPr>
            <a:picLocks noChangeAspect="1"/>
          </p:cNvPicPr>
          <p:nvPr/>
        </p:nvPicPr>
        <p:blipFill>
          <a:blip r:embed="rId2"/>
          <a:stretch>
            <a:fillRect/>
          </a:stretch>
        </p:blipFill>
        <p:spPr>
          <a:xfrm>
            <a:off x="2845247" y="1651041"/>
            <a:ext cx="209215" cy="209215"/>
          </a:xfrm>
          <a:prstGeom prst="rect">
            <a:avLst/>
          </a:prstGeom>
        </p:spPr>
      </p:pic>
      <p:sp>
        <p:nvSpPr>
          <p:cNvPr id="12" name="Objective 2 number"/>
          <p:cNvSpPr txBox="1"/>
          <p:nvPr/>
        </p:nvSpPr>
        <p:spPr>
          <a:xfrm>
            <a:off x="3781958" y="1554480"/>
            <a:ext cx="502920" cy="402336"/>
          </a:xfrm>
          <a:prstGeom prst="rect">
            <a:avLst/>
          </a:prstGeom>
          <a:noFill/>
          <a:ln/>
        </p:spPr>
        <p:txBody>
          <a:bodyPr wrap="square" lIns="0" tIns="0" rIns="0" bIns="0" rtlCol="0" anchor="ctr"/>
          <a:lstStyle/>
          <a:p>
            <a:pPr algn="r" indent="0" marL="0">
              <a:buNone/>
            </a:pPr>
            <a:r>
              <a:rPr lang="en-US" sz="1800" b="1" dirty="0">
                <a:solidFill>
                  <a:schemeClr val="accent2"/>
                </a:solidFill>
                <a:latin typeface="Cambria" pitchFamily="34" charset="0"/>
                <a:ea typeface="Cambria" pitchFamily="34" charset="-122"/>
                <a:cs typeface="Cambria" pitchFamily="34" charset="-120"/>
              </a:rPr>
              <a:t>02</a:t>
            </a:r>
            <a:endParaRPr lang="en-US" sz="1800" dirty="0"/>
          </a:p>
        </p:txBody>
      </p:sp>
      <p:sp>
        <p:nvSpPr>
          <p:cNvPr id="13" name="Objective 2"/>
          <p:cNvSpPr txBox="1"/>
          <p:nvPr/>
        </p:nvSpPr>
        <p:spPr>
          <a:xfrm>
            <a:off x="2748686" y="2048256"/>
            <a:ext cx="1581912" cy="640080"/>
          </a:xfrm>
          <a:prstGeom prst="rect">
            <a:avLst/>
          </a:prstGeom>
          <a:noFill/>
          <a:ln/>
        </p:spPr>
        <p:txBody>
          <a:bodyPr wrap="square" lIns="0" tIns="0" rIns="0" bIns="0" rtlCol="0" anchor="t"/>
          <a:lstStyle/>
          <a:p>
            <a:pPr indent="0" marL="0">
              <a:buNone/>
            </a:pPr>
            <a:r>
              <a:rPr lang="en-US" sz="1200" dirty="0">
                <a:solidFill>
                  <a:schemeClr val="tx1"/>
                </a:solidFill>
              </a:rPr>
              <a:t>Keep stock exact with a ledger and all-or-nothing transactions</a:t>
            </a:r>
            <a:endParaRPr lang="en-US" sz="1200" dirty="0"/>
          </a:p>
        </p:txBody>
      </p:sp>
      <p:sp>
        <p:nvSpPr>
          <p:cNvPr id="14" name="Objective 3 card"/>
          <p:cNvSpPr/>
          <p:nvPr/>
        </p:nvSpPr>
        <p:spPr>
          <a:xfrm>
            <a:off x="4674413" y="1371600"/>
            <a:ext cx="1901952" cy="1371600"/>
          </a:xfrm>
          <a:prstGeom prst="roundRect">
            <a:avLst>
              <a:gd name="adj" fmla="val 6667"/>
            </a:avLst>
          </a:prstGeom>
          <a:solidFill>
            <a:schemeClr val="bg2"/>
          </a:solidFill>
          <a:ln/>
        </p:spPr>
      </p:sp>
      <p:sp>
        <p:nvSpPr>
          <p:cNvPr id="15" name="LuScanBarcode tile"/>
          <p:cNvSpPr/>
          <p:nvPr/>
        </p:nvSpPr>
        <p:spPr>
          <a:xfrm>
            <a:off x="4857293" y="1554480"/>
            <a:ext cx="402336" cy="402336"/>
          </a:xfrm>
          <a:prstGeom prst="roundRect">
            <a:avLst>
              <a:gd name="adj" fmla="val 22000"/>
            </a:avLst>
          </a:prstGeom>
          <a:solidFill>
            <a:schemeClr val="accent1"/>
          </a:solidFill>
          <a:ln/>
        </p:spPr>
      </p:sp>
      <p:pic>
        <p:nvPicPr>
          <p:cNvPr id="16" name="LuScanBarcode icon" descr="preencoded.png">    </p:cNvPr>
          <p:cNvPicPr>
            <a:picLocks noChangeAspect="1"/>
          </p:cNvPicPr>
          <p:nvPr/>
        </p:nvPicPr>
        <p:blipFill>
          <a:blip r:embed="rId3"/>
          <a:stretch>
            <a:fillRect/>
          </a:stretch>
        </p:blipFill>
        <p:spPr>
          <a:xfrm>
            <a:off x="4953853" y="1651041"/>
            <a:ext cx="209215" cy="209215"/>
          </a:xfrm>
          <a:prstGeom prst="rect">
            <a:avLst/>
          </a:prstGeom>
        </p:spPr>
      </p:pic>
      <p:sp>
        <p:nvSpPr>
          <p:cNvPr id="17" name="Objective 3 number"/>
          <p:cNvSpPr txBox="1"/>
          <p:nvPr/>
        </p:nvSpPr>
        <p:spPr>
          <a:xfrm>
            <a:off x="5890565" y="1554480"/>
            <a:ext cx="502920" cy="402336"/>
          </a:xfrm>
          <a:prstGeom prst="rect">
            <a:avLst/>
          </a:prstGeom>
          <a:noFill/>
          <a:ln/>
        </p:spPr>
        <p:txBody>
          <a:bodyPr wrap="square" lIns="0" tIns="0" rIns="0" bIns="0" rtlCol="0" anchor="ctr"/>
          <a:lstStyle/>
          <a:p>
            <a:pPr algn="r" indent="0" marL="0">
              <a:buNone/>
            </a:pPr>
            <a:r>
              <a:rPr lang="en-US" sz="1800" b="1" dirty="0">
                <a:solidFill>
                  <a:schemeClr val="accent2"/>
                </a:solidFill>
                <a:latin typeface="Cambria" pitchFamily="34" charset="0"/>
                <a:ea typeface="Cambria" pitchFamily="34" charset="-122"/>
                <a:cs typeface="Cambria" pitchFamily="34" charset="-120"/>
              </a:rPr>
              <a:t>03</a:t>
            </a:r>
            <a:endParaRPr lang="en-US" sz="1800" dirty="0"/>
          </a:p>
        </p:txBody>
      </p:sp>
      <p:sp>
        <p:nvSpPr>
          <p:cNvPr id="18" name="Objective 3"/>
          <p:cNvSpPr txBox="1"/>
          <p:nvPr/>
        </p:nvSpPr>
        <p:spPr>
          <a:xfrm>
            <a:off x="4857293" y="2048256"/>
            <a:ext cx="1581912" cy="640080"/>
          </a:xfrm>
          <a:prstGeom prst="rect">
            <a:avLst/>
          </a:prstGeom>
          <a:noFill/>
          <a:ln/>
        </p:spPr>
        <p:txBody>
          <a:bodyPr wrap="square" lIns="0" tIns="0" rIns="0" bIns="0" rtlCol="0" anchor="t"/>
          <a:lstStyle/>
          <a:p>
            <a:pPr indent="0" marL="0">
              <a:buNone/>
            </a:pPr>
            <a:r>
              <a:rPr lang="en-US" sz="1200" dirty="0">
                <a:solidFill>
                  <a:schemeClr val="tx1"/>
                </a:solidFill>
              </a:rPr>
              <a:t>Bill quickly at the counter and print a GST invoice</a:t>
            </a:r>
            <a:endParaRPr lang="en-US" sz="1200" dirty="0"/>
          </a:p>
        </p:txBody>
      </p:sp>
      <p:sp>
        <p:nvSpPr>
          <p:cNvPr id="19" name="Objective 4 card"/>
          <p:cNvSpPr/>
          <p:nvPr/>
        </p:nvSpPr>
        <p:spPr>
          <a:xfrm>
            <a:off x="6783019" y="1371600"/>
            <a:ext cx="1901952" cy="1371600"/>
          </a:xfrm>
          <a:prstGeom prst="roundRect">
            <a:avLst>
              <a:gd name="adj" fmla="val 6667"/>
            </a:avLst>
          </a:prstGeom>
          <a:solidFill>
            <a:schemeClr val="bg2"/>
          </a:solidFill>
          <a:ln/>
        </p:spPr>
      </p:sp>
      <p:sp>
        <p:nvSpPr>
          <p:cNvPr id="20" name="LuTruck tile"/>
          <p:cNvSpPr/>
          <p:nvPr/>
        </p:nvSpPr>
        <p:spPr>
          <a:xfrm>
            <a:off x="6965899" y="1554480"/>
            <a:ext cx="402336" cy="402336"/>
          </a:xfrm>
          <a:prstGeom prst="roundRect">
            <a:avLst>
              <a:gd name="adj" fmla="val 22000"/>
            </a:avLst>
          </a:prstGeom>
          <a:solidFill>
            <a:schemeClr val="accent1"/>
          </a:solidFill>
          <a:ln/>
        </p:spPr>
      </p:sp>
      <p:pic>
        <p:nvPicPr>
          <p:cNvPr id="21" name="LuTruck icon" descr="preencoded.png">    </p:cNvPr>
          <p:cNvPicPr>
            <a:picLocks noChangeAspect="1"/>
          </p:cNvPicPr>
          <p:nvPr/>
        </p:nvPicPr>
        <p:blipFill>
          <a:blip r:embed="rId4"/>
          <a:stretch>
            <a:fillRect/>
          </a:stretch>
        </p:blipFill>
        <p:spPr>
          <a:xfrm>
            <a:off x="7062460" y="1651041"/>
            <a:ext cx="209215" cy="209215"/>
          </a:xfrm>
          <a:prstGeom prst="rect">
            <a:avLst/>
          </a:prstGeom>
        </p:spPr>
      </p:pic>
      <p:sp>
        <p:nvSpPr>
          <p:cNvPr id="22" name="Objective 4 number"/>
          <p:cNvSpPr txBox="1"/>
          <p:nvPr/>
        </p:nvSpPr>
        <p:spPr>
          <a:xfrm>
            <a:off x="7999171" y="1554480"/>
            <a:ext cx="502920" cy="402336"/>
          </a:xfrm>
          <a:prstGeom prst="rect">
            <a:avLst/>
          </a:prstGeom>
          <a:noFill/>
          <a:ln/>
        </p:spPr>
        <p:txBody>
          <a:bodyPr wrap="square" lIns="0" tIns="0" rIns="0" bIns="0" rtlCol="0" anchor="ctr"/>
          <a:lstStyle/>
          <a:p>
            <a:pPr algn="r" indent="0" marL="0">
              <a:buNone/>
            </a:pPr>
            <a:r>
              <a:rPr lang="en-US" sz="1800" b="1" dirty="0">
                <a:solidFill>
                  <a:schemeClr val="accent2"/>
                </a:solidFill>
                <a:latin typeface="Cambria" pitchFamily="34" charset="0"/>
                <a:ea typeface="Cambria" pitchFamily="34" charset="-122"/>
                <a:cs typeface="Cambria" pitchFamily="34" charset="-120"/>
              </a:rPr>
              <a:t>04</a:t>
            </a:r>
            <a:endParaRPr lang="en-US" sz="1800" dirty="0"/>
          </a:p>
        </p:txBody>
      </p:sp>
      <p:sp>
        <p:nvSpPr>
          <p:cNvPr id="23" name="Objective 4"/>
          <p:cNvSpPr txBox="1"/>
          <p:nvPr/>
        </p:nvSpPr>
        <p:spPr>
          <a:xfrm>
            <a:off x="6965899" y="2048256"/>
            <a:ext cx="1581912" cy="640080"/>
          </a:xfrm>
          <a:prstGeom prst="rect">
            <a:avLst/>
          </a:prstGeom>
          <a:noFill/>
          <a:ln/>
        </p:spPr>
        <p:txBody>
          <a:bodyPr wrap="square" lIns="0" tIns="0" rIns="0" bIns="0" rtlCol="0" anchor="t"/>
          <a:lstStyle/>
          <a:p>
            <a:pPr indent="0" marL="0">
              <a:buNone/>
            </a:pPr>
            <a:r>
              <a:rPr lang="en-US" sz="1200" dirty="0">
                <a:solidFill>
                  <a:schemeClr val="tx1"/>
                </a:solidFill>
              </a:rPr>
              <a:t>Handle purchase orders, deliveries and customer returns</a:t>
            </a:r>
            <a:endParaRPr lang="en-US" sz="1200" dirty="0"/>
          </a:p>
        </p:txBody>
      </p:sp>
      <p:sp>
        <p:nvSpPr>
          <p:cNvPr id="24" name="Objective 5 card"/>
          <p:cNvSpPr/>
          <p:nvPr/>
        </p:nvSpPr>
        <p:spPr>
          <a:xfrm>
            <a:off x="457200" y="2907792"/>
            <a:ext cx="1901952" cy="1371600"/>
          </a:xfrm>
          <a:prstGeom prst="roundRect">
            <a:avLst>
              <a:gd name="adj" fmla="val 6667"/>
            </a:avLst>
          </a:prstGeom>
          <a:solidFill>
            <a:schemeClr val="bg2"/>
          </a:solidFill>
          <a:ln/>
        </p:spPr>
      </p:sp>
      <p:sp>
        <p:nvSpPr>
          <p:cNvPr id="25" name="LuChartColumn tile"/>
          <p:cNvSpPr/>
          <p:nvPr/>
        </p:nvSpPr>
        <p:spPr>
          <a:xfrm>
            <a:off x="640080" y="3090672"/>
            <a:ext cx="402336" cy="402336"/>
          </a:xfrm>
          <a:prstGeom prst="roundRect">
            <a:avLst>
              <a:gd name="adj" fmla="val 22000"/>
            </a:avLst>
          </a:prstGeom>
          <a:solidFill>
            <a:schemeClr val="accent1"/>
          </a:solidFill>
          <a:ln/>
        </p:spPr>
      </p:sp>
      <p:pic>
        <p:nvPicPr>
          <p:cNvPr id="26" name="LuChartColumn icon" descr="preencoded.png">    </p:cNvPr>
          <p:cNvPicPr>
            <a:picLocks noChangeAspect="1"/>
          </p:cNvPicPr>
          <p:nvPr/>
        </p:nvPicPr>
        <p:blipFill>
          <a:blip r:embed="rId5"/>
          <a:stretch>
            <a:fillRect/>
          </a:stretch>
        </p:blipFill>
        <p:spPr>
          <a:xfrm>
            <a:off x="736641" y="3187233"/>
            <a:ext cx="209215" cy="209215"/>
          </a:xfrm>
          <a:prstGeom prst="rect">
            <a:avLst/>
          </a:prstGeom>
        </p:spPr>
      </p:pic>
      <p:sp>
        <p:nvSpPr>
          <p:cNvPr id="27" name="Objective 5 number"/>
          <p:cNvSpPr txBox="1"/>
          <p:nvPr/>
        </p:nvSpPr>
        <p:spPr>
          <a:xfrm>
            <a:off x="1673352" y="3090672"/>
            <a:ext cx="502920" cy="402336"/>
          </a:xfrm>
          <a:prstGeom prst="rect">
            <a:avLst/>
          </a:prstGeom>
          <a:noFill/>
          <a:ln/>
        </p:spPr>
        <p:txBody>
          <a:bodyPr wrap="square" lIns="0" tIns="0" rIns="0" bIns="0" rtlCol="0" anchor="ctr"/>
          <a:lstStyle/>
          <a:p>
            <a:pPr algn="r" indent="0" marL="0">
              <a:buNone/>
            </a:pPr>
            <a:r>
              <a:rPr lang="en-US" sz="1800" b="1" dirty="0">
                <a:solidFill>
                  <a:schemeClr val="accent2"/>
                </a:solidFill>
                <a:latin typeface="Cambria" pitchFamily="34" charset="0"/>
                <a:ea typeface="Cambria" pitchFamily="34" charset="-122"/>
                <a:cs typeface="Cambria" pitchFamily="34" charset="-120"/>
              </a:rPr>
              <a:t>05</a:t>
            </a:r>
            <a:endParaRPr lang="en-US" sz="1800" dirty="0"/>
          </a:p>
        </p:txBody>
      </p:sp>
      <p:sp>
        <p:nvSpPr>
          <p:cNvPr id="28" name="Objective 5"/>
          <p:cNvSpPr txBox="1"/>
          <p:nvPr/>
        </p:nvSpPr>
        <p:spPr>
          <a:xfrm>
            <a:off x="640080" y="3584448"/>
            <a:ext cx="1581912" cy="640080"/>
          </a:xfrm>
          <a:prstGeom prst="rect">
            <a:avLst/>
          </a:prstGeom>
          <a:noFill/>
          <a:ln/>
        </p:spPr>
        <p:txBody>
          <a:bodyPr wrap="square" lIns="0" tIns="0" rIns="0" bIns="0" rtlCol="0" anchor="t"/>
          <a:lstStyle/>
          <a:p>
            <a:pPr indent="0" marL="0">
              <a:buNone/>
            </a:pPr>
            <a:r>
              <a:rPr lang="en-US" sz="1200" dirty="0">
                <a:solidFill>
                  <a:schemeClr val="tx1"/>
                </a:solidFill>
              </a:rPr>
              <a:t>Show sales, profit and GST in a dashboard and reports</a:t>
            </a:r>
            <a:endParaRPr lang="en-US" sz="1200" dirty="0"/>
          </a:p>
        </p:txBody>
      </p:sp>
      <p:sp>
        <p:nvSpPr>
          <p:cNvPr id="29" name="Objective 6 card"/>
          <p:cNvSpPr/>
          <p:nvPr/>
        </p:nvSpPr>
        <p:spPr>
          <a:xfrm>
            <a:off x="2565806" y="2907792"/>
            <a:ext cx="1901952" cy="1371600"/>
          </a:xfrm>
          <a:prstGeom prst="roundRect">
            <a:avLst>
              <a:gd name="adj" fmla="val 6667"/>
            </a:avLst>
          </a:prstGeom>
          <a:solidFill>
            <a:schemeClr val="bg2"/>
          </a:solidFill>
          <a:ln/>
        </p:spPr>
      </p:sp>
      <p:sp>
        <p:nvSpPr>
          <p:cNvPr id="30" name="LuTrendingUp tile"/>
          <p:cNvSpPr/>
          <p:nvPr/>
        </p:nvSpPr>
        <p:spPr>
          <a:xfrm>
            <a:off x="2748686" y="3090672"/>
            <a:ext cx="402336" cy="402336"/>
          </a:xfrm>
          <a:prstGeom prst="roundRect">
            <a:avLst>
              <a:gd name="adj" fmla="val 22000"/>
            </a:avLst>
          </a:prstGeom>
          <a:solidFill>
            <a:schemeClr val="accent1"/>
          </a:solidFill>
          <a:ln/>
        </p:spPr>
      </p:sp>
      <p:pic>
        <p:nvPicPr>
          <p:cNvPr id="31" name="LuTrendingUp icon" descr="preencoded.png">    </p:cNvPr>
          <p:cNvPicPr>
            <a:picLocks noChangeAspect="1"/>
          </p:cNvPicPr>
          <p:nvPr/>
        </p:nvPicPr>
        <p:blipFill>
          <a:blip r:embed="rId6"/>
          <a:stretch>
            <a:fillRect/>
          </a:stretch>
        </p:blipFill>
        <p:spPr>
          <a:xfrm>
            <a:off x="2845247" y="3187233"/>
            <a:ext cx="209215" cy="209215"/>
          </a:xfrm>
          <a:prstGeom prst="rect">
            <a:avLst/>
          </a:prstGeom>
        </p:spPr>
      </p:pic>
      <p:sp>
        <p:nvSpPr>
          <p:cNvPr id="32" name="Objective 6 number"/>
          <p:cNvSpPr txBox="1"/>
          <p:nvPr/>
        </p:nvSpPr>
        <p:spPr>
          <a:xfrm>
            <a:off x="3781958" y="3090672"/>
            <a:ext cx="502920" cy="402336"/>
          </a:xfrm>
          <a:prstGeom prst="rect">
            <a:avLst/>
          </a:prstGeom>
          <a:noFill/>
          <a:ln/>
        </p:spPr>
        <p:txBody>
          <a:bodyPr wrap="square" lIns="0" tIns="0" rIns="0" bIns="0" rtlCol="0" anchor="ctr"/>
          <a:lstStyle/>
          <a:p>
            <a:pPr algn="r" indent="0" marL="0">
              <a:buNone/>
            </a:pPr>
            <a:r>
              <a:rPr lang="en-US" sz="1800" b="1" dirty="0">
                <a:solidFill>
                  <a:schemeClr val="accent2"/>
                </a:solidFill>
                <a:latin typeface="Cambria" pitchFamily="34" charset="0"/>
                <a:ea typeface="Cambria" pitchFamily="34" charset="-122"/>
                <a:cs typeface="Cambria" pitchFamily="34" charset="-120"/>
              </a:rPr>
              <a:t>06</a:t>
            </a:r>
            <a:endParaRPr lang="en-US" sz="1800" dirty="0"/>
          </a:p>
        </p:txBody>
      </p:sp>
      <p:sp>
        <p:nvSpPr>
          <p:cNvPr id="33" name="Objective 6"/>
          <p:cNvSpPr txBox="1"/>
          <p:nvPr/>
        </p:nvSpPr>
        <p:spPr>
          <a:xfrm>
            <a:off x="2748686" y="3584448"/>
            <a:ext cx="1581912" cy="640080"/>
          </a:xfrm>
          <a:prstGeom prst="rect">
            <a:avLst/>
          </a:prstGeom>
          <a:noFill/>
          <a:ln/>
        </p:spPr>
        <p:txBody>
          <a:bodyPr wrap="square" lIns="0" tIns="0" rIns="0" bIns="0" rtlCol="0" anchor="t"/>
          <a:lstStyle/>
          <a:p>
            <a:pPr indent="0" marL="0">
              <a:buNone/>
            </a:pPr>
            <a:r>
              <a:rPr lang="en-US" sz="1200" dirty="0">
                <a:solidFill>
                  <a:schemeClr val="tx1"/>
                </a:solidFill>
              </a:rPr>
              <a:t>Forecast demand and prepare restock plans the owner confirms</a:t>
            </a:r>
            <a:endParaRPr lang="en-US" sz="1200" dirty="0"/>
          </a:p>
        </p:txBody>
      </p:sp>
      <p:sp>
        <p:nvSpPr>
          <p:cNvPr id="34" name="Objective 7 card"/>
          <p:cNvSpPr/>
          <p:nvPr/>
        </p:nvSpPr>
        <p:spPr>
          <a:xfrm>
            <a:off x="4674413" y="2907792"/>
            <a:ext cx="1901952" cy="1371600"/>
          </a:xfrm>
          <a:prstGeom prst="roundRect">
            <a:avLst>
              <a:gd name="adj" fmla="val 6667"/>
            </a:avLst>
          </a:prstGeom>
          <a:solidFill>
            <a:schemeClr val="bg2"/>
          </a:solidFill>
          <a:ln/>
        </p:spPr>
      </p:sp>
      <p:sp>
        <p:nvSpPr>
          <p:cNvPr id="35" name="LuMessageSquareText tile"/>
          <p:cNvSpPr/>
          <p:nvPr/>
        </p:nvSpPr>
        <p:spPr>
          <a:xfrm>
            <a:off x="4857293" y="3090672"/>
            <a:ext cx="402336" cy="402336"/>
          </a:xfrm>
          <a:prstGeom prst="roundRect">
            <a:avLst>
              <a:gd name="adj" fmla="val 22000"/>
            </a:avLst>
          </a:prstGeom>
          <a:solidFill>
            <a:schemeClr val="accent1"/>
          </a:solidFill>
          <a:ln/>
        </p:spPr>
      </p:sp>
      <p:pic>
        <p:nvPicPr>
          <p:cNvPr id="36" name="LuMessageSquareText icon" descr="preencoded.png">    </p:cNvPr>
          <p:cNvPicPr>
            <a:picLocks noChangeAspect="1"/>
          </p:cNvPicPr>
          <p:nvPr/>
        </p:nvPicPr>
        <p:blipFill>
          <a:blip r:embed="rId7"/>
          <a:stretch>
            <a:fillRect/>
          </a:stretch>
        </p:blipFill>
        <p:spPr>
          <a:xfrm>
            <a:off x="4953853" y="3187233"/>
            <a:ext cx="209215" cy="209215"/>
          </a:xfrm>
          <a:prstGeom prst="rect">
            <a:avLst/>
          </a:prstGeom>
        </p:spPr>
      </p:pic>
      <p:sp>
        <p:nvSpPr>
          <p:cNvPr id="37" name="Objective 7 number"/>
          <p:cNvSpPr txBox="1"/>
          <p:nvPr/>
        </p:nvSpPr>
        <p:spPr>
          <a:xfrm>
            <a:off x="5890565" y="3090672"/>
            <a:ext cx="502920" cy="402336"/>
          </a:xfrm>
          <a:prstGeom prst="rect">
            <a:avLst/>
          </a:prstGeom>
          <a:noFill/>
          <a:ln/>
        </p:spPr>
        <p:txBody>
          <a:bodyPr wrap="square" lIns="0" tIns="0" rIns="0" bIns="0" rtlCol="0" anchor="ctr"/>
          <a:lstStyle/>
          <a:p>
            <a:pPr algn="r" indent="0" marL="0">
              <a:buNone/>
            </a:pPr>
            <a:r>
              <a:rPr lang="en-US" sz="1800" b="1" dirty="0">
                <a:solidFill>
                  <a:schemeClr val="accent2"/>
                </a:solidFill>
                <a:latin typeface="Cambria" pitchFamily="34" charset="0"/>
                <a:ea typeface="Cambria" pitchFamily="34" charset="-122"/>
                <a:cs typeface="Cambria" pitchFamily="34" charset="-120"/>
              </a:rPr>
              <a:t>07</a:t>
            </a:r>
            <a:endParaRPr lang="en-US" sz="1800" dirty="0"/>
          </a:p>
        </p:txBody>
      </p:sp>
      <p:sp>
        <p:nvSpPr>
          <p:cNvPr id="38" name="Objective 7"/>
          <p:cNvSpPr txBox="1"/>
          <p:nvPr/>
        </p:nvSpPr>
        <p:spPr>
          <a:xfrm>
            <a:off x="4857293" y="3584448"/>
            <a:ext cx="1581912" cy="640080"/>
          </a:xfrm>
          <a:prstGeom prst="rect">
            <a:avLst/>
          </a:prstGeom>
          <a:noFill/>
          <a:ln/>
        </p:spPr>
        <p:txBody>
          <a:bodyPr wrap="square" lIns="0" tIns="0" rIns="0" bIns="0" rtlCol="0" anchor="t"/>
          <a:lstStyle/>
          <a:p>
            <a:pPr indent="0" marL="0">
              <a:buNone/>
            </a:pPr>
            <a:r>
              <a:rPr lang="en-US" sz="1200" dirty="0">
                <a:solidFill>
                  <a:schemeClr val="tx1"/>
                </a:solidFill>
              </a:rPr>
              <a:t>Answer the owner’s questions in plain English with AI</a:t>
            </a:r>
            <a:endParaRPr lang="en-US" sz="1200" dirty="0"/>
          </a:p>
        </p:txBody>
      </p:sp>
      <p:sp>
        <p:nvSpPr>
          <p:cNvPr id="39" name="Objective 8 card"/>
          <p:cNvSpPr/>
          <p:nvPr/>
        </p:nvSpPr>
        <p:spPr>
          <a:xfrm>
            <a:off x="6783019" y="2907792"/>
            <a:ext cx="1901952" cy="1371600"/>
          </a:xfrm>
          <a:prstGeom prst="roundRect">
            <a:avLst>
              <a:gd name="adj" fmla="val 6667"/>
            </a:avLst>
          </a:prstGeom>
          <a:solidFill>
            <a:schemeClr val="bg2"/>
          </a:solidFill>
          <a:ln/>
        </p:spPr>
      </p:sp>
      <p:sp>
        <p:nvSpPr>
          <p:cNvPr id="40" name="LuShieldCheck tile"/>
          <p:cNvSpPr/>
          <p:nvPr/>
        </p:nvSpPr>
        <p:spPr>
          <a:xfrm>
            <a:off x="6965899" y="3090672"/>
            <a:ext cx="402336" cy="402336"/>
          </a:xfrm>
          <a:prstGeom prst="roundRect">
            <a:avLst>
              <a:gd name="adj" fmla="val 22000"/>
            </a:avLst>
          </a:prstGeom>
          <a:solidFill>
            <a:schemeClr val="accent1"/>
          </a:solidFill>
          <a:ln/>
        </p:spPr>
      </p:sp>
      <p:pic>
        <p:nvPicPr>
          <p:cNvPr id="41" name="LuShieldCheck icon" descr="preencoded.png">    </p:cNvPr>
          <p:cNvPicPr>
            <a:picLocks noChangeAspect="1"/>
          </p:cNvPicPr>
          <p:nvPr/>
        </p:nvPicPr>
        <p:blipFill>
          <a:blip r:embed="rId8"/>
          <a:stretch>
            <a:fillRect/>
          </a:stretch>
        </p:blipFill>
        <p:spPr>
          <a:xfrm>
            <a:off x="7062460" y="3187233"/>
            <a:ext cx="209215" cy="209215"/>
          </a:xfrm>
          <a:prstGeom prst="rect">
            <a:avLst/>
          </a:prstGeom>
        </p:spPr>
      </p:pic>
      <p:sp>
        <p:nvSpPr>
          <p:cNvPr id="42" name="Objective 8 number"/>
          <p:cNvSpPr txBox="1"/>
          <p:nvPr/>
        </p:nvSpPr>
        <p:spPr>
          <a:xfrm>
            <a:off x="7999171" y="3090672"/>
            <a:ext cx="502920" cy="402336"/>
          </a:xfrm>
          <a:prstGeom prst="rect">
            <a:avLst/>
          </a:prstGeom>
          <a:noFill/>
          <a:ln/>
        </p:spPr>
        <p:txBody>
          <a:bodyPr wrap="square" lIns="0" tIns="0" rIns="0" bIns="0" rtlCol="0" anchor="ctr"/>
          <a:lstStyle/>
          <a:p>
            <a:pPr algn="r" indent="0" marL="0">
              <a:buNone/>
            </a:pPr>
            <a:r>
              <a:rPr lang="en-US" sz="1800" b="1" dirty="0">
                <a:solidFill>
                  <a:schemeClr val="accent2"/>
                </a:solidFill>
                <a:latin typeface="Cambria" pitchFamily="34" charset="0"/>
                <a:ea typeface="Cambria" pitchFamily="34" charset="-122"/>
                <a:cs typeface="Cambria" pitchFamily="34" charset="-120"/>
              </a:rPr>
              <a:t>08</a:t>
            </a:r>
            <a:endParaRPr lang="en-US" sz="1800" dirty="0"/>
          </a:p>
        </p:txBody>
      </p:sp>
      <p:sp>
        <p:nvSpPr>
          <p:cNvPr id="43" name="Objective 8"/>
          <p:cNvSpPr txBox="1"/>
          <p:nvPr/>
        </p:nvSpPr>
        <p:spPr>
          <a:xfrm>
            <a:off x="6965899" y="3584448"/>
            <a:ext cx="1581912" cy="640080"/>
          </a:xfrm>
          <a:prstGeom prst="rect">
            <a:avLst/>
          </a:prstGeom>
          <a:noFill/>
          <a:ln/>
        </p:spPr>
        <p:txBody>
          <a:bodyPr wrap="square" lIns="0" tIns="0" rIns="0" bIns="0" rtlCol="0" anchor="t"/>
          <a:lstStyle/>
          <a:p>
            <a:pPr indent="0" marL="0">
              <a:buNone/>
            </a:pPr>
            <a:r>
              <a:rPr lang="en-US" sz="1200" dirty="0">
                <a:solidFill>
                  <a:schemeClr val="tx1"/>
                </a:solidFill>
              </a:rPr>
              <a:t>Secure access for admin, manager and cashier roles</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Eyebrow"/>
          <p:cNvSpPr txBox="1"/>
          <p:nvPr/>
        </p:nvSpPr>
        <p:spPr>
          <a:xfrm>
            <a:off x="457200" y="274320"/>
            <a:ext cx="5486400" cy="256032"/>
          </a:xfrm>
          <a:prstGeom prst="rect">
            <a:avLst/>
          </a:prstGeom>
          <a:noFill/>
          <a:ln/>
        </p:spPr>
        <p:txBody>
          <a:bodyPr wrap="square" lIns="0" tIns="0" rIns="0" bIns="0" rtlCol="0" anchor="ctr"/>
          <a:lstStyle/>
          <a:p>
            <a:pPr indent="0" marL="0">
              <a:buNone/>
            </a:pPr>
            <a:r>
              <a:rPr lang="en-US" sz="1100" b="1" spc="200" kern="0" dirty="0">
                <a:solidFill>
                  <a:schemeClr val="accent1"/>
                </a:solidFill>
              </a:rPr>
              <a:t>05 · SCOPE</a:t>
            </a:r>
            <a:endParaRPr lang="en-US" sz="1100" dirty="0"/>
          </a:p>
        </p:txBody>
      </p:sp>
      <p:sp>
        <p:nvSpPr>
          <p:cNvPr id="3" name="Text 0"/>
          <p:cNvSpPr/>
          <p:nvPr>
            <p:ph idx="100" type="title" hasCustomPrompt="1"/>
          </p:nvPr>
        </p:nvSpPr>
        <p:spPr>
          <a:xfrm>
            <a:off x="457200" y="502920"/>
            <a:ext cx="6400800" cy="640080"/>
          </a:xfrm>
          <a:prstGeom prst="rect">
            <a:avLst/>
          </a:prstGeom>
          <a:noFill/>
          <a:ln/>
        </p:spPr>
        <p:txBody>
          <a:bodyPr wrap="square" lIns="0" tIns="0" rIns="0" bIns="0" rtlCol="0" anchor="ctr"/>
          <a:lstStyle/>
          <a:p>
            <a:pPr algn="l" indent="0" marL="0">
              <a:buNone/>
            </a:pPr>
            <a:r>
              <a:rPr lang="en-US" sz="3400" b="1" dirty="0">
                <a:solidFill>
                  <a:schemeClr val="tx2"/>
                </a:solidFill>
                <a:latin typeface="Cambria" pitchFamily="34" charset="0"/>
                <a:ea typeface="Cambria" pitchFamily="34" charset="-122"/>
                <a:cs typeface="Cambria" pitchFamily="34" charset="-120"/>
              </a:rPr>
              <a:t>Scope of the Project</a:t>
            </a:r>
            <a:endParaRPr lang="en-US" sz="3400" dirty="0"/>
          </a:p>
        </p:txBody>
      </p:sp>
      <p:sp>
        <p:nvSpPr>
          <p:cNvPr id="4" name="Scope intro"/>
          <p:cNvSpPr txBox="1"/>
          <p:nvPr/>
        </p:nvSpPr>
        <p:spPr>
          <a:xfrm>
            <a:off x="457200" y="1280160"/>
            <a:ext cx="8229600" cy="320040"/>
          </a:xfrm>
          <a:prstGeom prst="rect">
            <a:avLst/>
          </a:prstGeom>
          <a:noFill/>
          <a:ln/>
        </p:spPr>
        <p:txBody>
          <a:bodyPr wrap="square" lIns="0" tIns="0" rIns="0" bIns="0" rtlCol="0" anchor="ctr"/>
          <a:lstStyle/>
          <a:p>
            <a:pPr indent="0" marL="0">
              <a:buNone/>
            </a:pPr>
            <a:r>
              <a:rPr lang="en-US" sz="1400" dirty="0">
                <a:solidFill>
                  <a:schemeClr val="tx1"/>
                </a:solidFill>
              </a:rPr>
              <a:t>One retail store with one or more billing counters and a small team. Three roles:</a:t>
            </a:r>
            <a:endParaRPr lang="en-US" sz="1400" dirty="0"/>
          </a:p>
        </p:txBody>
      </p:sp>
      <p:sp>
        <p:nvSpPr>
          <p:cNvPr id="5" name="Admin (owner) card"/>
          <p:cNvSpPr/>
          <p:nvPr/>
        </p:nvSpPr>
        <p:spPr>
          <a:xfrm>
            <a:off x="457200" y="1737360"/>
            <a:ext cx="2615184" cy="1325880"/>
          </a:xfrm>
          <a:prstGeom prst="roundRect">
            <a:avLst>
              <a:gd name="adj" fmla="val 6897"/>
            </a:avLst>
          </a:prstGeom>
          <a:solidFill>
            <a:schemeClr val="bg2"/>
          </a:solidFill>
          <a:ln/>
        </p:spPr>
      </p:sp>
      <p:sp>
        <p:nvSpPr>
          <p:cNvPr id="6" name="LuUserCog tile"/>
          <p:cNvSpPr/>
          <p:nvPr/>
        </p:nvSpPr>
        <p:spPr>
          <a:xfrm>
            <a:off x="658368" y="1901952"/>
            <a:ext cx="438912" cy="438912"/>
          </a:xfrm>
          <a:prstGeom prst="roundRect">
            <a:avLst>
              <a:gd name="adj" fmla="val 22000"/>
            </a:avLst>
          </a:prstGeom>
          <a:solidFill>
            <a:schemeClr val="accent1"/>
          </a:solidFill>
          <a:ln/>
        </p:spPr>
      </p:sp>
      <p:pic>
        <p:nvPicPr>
          <p:cNvPr id="7" name="LuUserCog icon" descr="preencoded.png">    </p:cNvPr>
          <p:cNvPicPr>
            <a:picLocks noChangeAspect="1"/>
          </p:cNvPicPr>
          <p:nvPr/>
        </p:nvPicPr>
        <p:blipFill>
          <a:blip r:embed="rId1"/>
          <a:stretch>
            <a:fillRect/>
          </a:stretch>
        </p:blipFill>
        <p:spPr>
          <a:xfrm>
            <a:off x="763707" y="2007291"/>
            <a:ext cx="228234" cy="228234"/>
          </a:xfrm>
          <a:prstGeom prst="rect">
            <a:avLst/>
          </a:prstGeom>
        </p:spPr>
      </p:pic>
      <p:sp>
        <p:nvSpPr>
          <p:cNvPr id="8" name="Admin (owner) title"/>
          <p:cNvSpPr txBox="1"/>
          <p:nvPr/>
        </p:nvSpPr>
        <p:spPr>
          <a:xfrm>
            <a:off x="1234440" y="1901952"/>
            <a:ext cx="1700784" cy="438912"/>
          </a:xfrm>
          <a:prstGeom prst="rect">
            <a:avLst/>
          </a:prstGeom>
          <a:noFill/>
          <a:ln/>
        </p:spPr>
        <p:txBody>
          <a:bodyPr wrap="square" lIns="0" tIns="0" rIns="0" bIns="0" rtlCol="0" anchor="ctr"/>
          <a:lstStyle/>
          <a:p>
            <a:pPr indent="0" marL="0">
              <a:buNone/>
            </a:pPr>
            <a:r>
              <a:rPr lang="en-US" sz="1500" b="1" dirty="0">
                <a:solidFill>
                  <a:schemeClr val="tx2"/>
                </a:solidFill>
              </a:rPr>
              <a:t>Admin (owner)</a:t>
            </a:r>
            <a:endParaRPr lang="en-US" sz="1500" dirty="0"/>
          </a:p>
        </p:txBody>
      </p:sp>
      <p:sp>
        <p:nvSpPr>
          <p:cNvPr id="9" name="Admin (owner) text"/>
          <p:cNvSpPr txBox="1"/>
          <p:nvPr/>
        </p:nvSpPr>
        <p:spPr>
          <a:xfrm>
            <a:off x="658368" y="2432304"/>
            <a:ext cx="2249424" cy="566928"/>
          </a:xfrm>
          <a:prstGeom prst="rect">
            <a:avLst/>
          </a:prstGeom>
          <a:noFill/>
          <a:ln/>
        </p:spPr>
        <p:txBody>
          <a:bodyPr wrap="square" lIns="0" tIns="0" rIns="0" bIns="0" rtlCol="0" anchor="t"/>
          <a:lstStyle/>
          <a:p>
            <a:pPr indent="0" marL="0">
              <a:buNone/>
            </a:pPr>
            <a:r>
              <a:rPr lang="en-US" sz="1200" dirty="0">
                <a:solidFill>
                  <a:schemeClr val="tx1"/>
                </a:solidFill>
              </a:rPr>
              <a:t>Staff accounts, shop settings and full access to everything</a:t>
            </a:r>
            <a:endParaRPr lang="en-US" sz="1200" dirty="0"/>
          </a:p>
        </p:txBody>
      </p:sp>
      <p:sp>
        <p:nvSpPr>
          <p:cNvPr id="10" name="Manager card"/>
          <p:cNvSpPr/>
          <p:nvPr/>
        </p:nvSpPr>
        <p:spPr>
          <a:xfrm>
            <a:off x="3264408" y="1737360"/>
            <a:ext cx="2615184" cy="1325880"/>
          </a:xfrm>
          <a:prstGeom prst="roundRect">
            <a:avLst>
              <a:gd name="adj" fmla="val 6897"/>
            </a:avLst>
          </a:prstGeom>
          <a:solidFill>
            <a:schemeClr val="bg2"/>
          </a:solidFill>
          <a:ln/>
        </p:spPr>
      </p:sp>
      <p:sp>
        <p:nvSpPr>
          <p:cNvPr id="11" name="LuUserCheck tile"/>
          <p:cNvSpPr/>
          <p:nvPr/>
        </p:nvSpPr>
        <p:spPr>
          <a:xfrm>
            <a:off x="3465576" y="1901952"/>
            <a:ext cx="438912" cy="438912"/>
          </a:xfrm>
          <a:prstGeom prst="roundRect">
            <a:avLst>
              <a:gd name="adj" fmla="val 22000"/>
            </a:avLst>
          </a:prstGeom>
          <a:solidFill>
            <a:schemeClr val="accent1"/>
          </a:solidFill>
          <a:ln/>
        </p:spPr>
      </p:sp>
      <p:pic>
        <p:nvPicPr>
          <p:cNvPr id="12" name="LuUserCheck icon" descr="preencoded.png">    </p:cNvPr>
          <p:cNvPicPr>
            <a:picLocks noChangeAspect="1"/>
          </p:cNvPicPr>
          <p:nvPr/>
        </p:nvPicPr>
        <p:blipFill>
          <a:blip r:embed="rId2"/>
          <a:stretch>
            <a:fillRect/>
          </a:stretch>
        </p:blipFill>
        <p:spPr>
          <a:xfrm>
            <a:off x="3570915" y="2007291"/>
            <a:ext cx="228234" cy="228234"/>
          </a:xfrm>
          <a:prstGeom prst="rect">
            <a:avLst/>
          </a:prstGeom>
        </p:spPr>
      </p:pic>
      <p:sp>
        <p:nvSpPr>
          <p:cNvPr id="13" name="Manager title"/>
          <p:cNvSpPr txBox="1"/>
          <p:nvPr/>
        </p:nvSpPr>
        <p:spPr>
          <a:xfrm>
            <a:off x="4041648" y="1901952"/>
            <a:ext cx="1700784" cy="438912"/>
          </a:xfrm>
          <a:prstGeom prst="rect">
            <a:avLst/>
          </a:prstGeom>
          <a:noFill/>
          <a:ln/>
        </p:spPr>
        <p:txBody>
          <a:bodyPr wrap="square" lIns="0" tIns="0" rIns="0" bIns="0" rtlCol="0" anchor="ctr"/>
          <a:lstStyle/>
          <a:p>
            <a:pPr indent="0" marL="0">
              <a:buNone/>
            </a:pPr>
            <a:r>
              <a:rPr lang="en-US" sz="1500" b="1" dirty="0">
                <a:solidFill>
                  <a:schemeClr val="tx2"/>
                </a:solidFill>
              </a:rPr>
              <a:t>Manager</a:t>
            </a:r>
            <a:endParaRPr lang="en-US" sz="1500" dirty="0"/>
          </a:p>
        </p:txBody>
      </p:sp>
      <p:sp>
        <p:nvSpPr>
          <p:cNvPr id="14" name="Manager text"/>
          <p:cNvSpPr txBox="1"/>
          <p:nvPr/>
        </p:nvSpPr>
        <p:spPr>
          <a:xfrm>
            <a:off x="3465576" y="2432304"/>
            <a:ext cx="2249424" cy="566928"/>
          </a:xfrm>
          <a:prstGeom prst="rect">
            <a:avLst/>
          </a:prstGeom>
          <a:noFill/>
          <a:ln/>
        </p:spPr>
        <p:txBody>
          <a:bodyPr wrap="square" lIns="0" tIns="0" rIns="0" bIns="0" rtlCol="0" anchor="t"/>
          <a:lstStyle/>
          <a:p>
            <a:pPr indent="0" marL="0">
              <a:buNone/>
            </a:pPr>
            <a:r>
              <a:rPr lang="en-US" sz="1200" dirty="0">
                <a:solidFill>
                  <a:schemeClr val="tx1"/>
                </a:solidFill>
              </a:rPr>
              <a:t>Catalogue, suppliers, purchases, stock counts, reports and the AI features</a:t>
            </a:r>
            <a:endParaRPr lang="en-US" sz="1200" dirty="0"/>
          </a:p>
        </p:txBody>
      </p:sp>
      <p:sp>
        <p:nvSpPr>
          <p:cNvPr id="15" name="Cashier card"/>
          <p:cNvSpPr/>
          <p:nvPr/>
        </p:nvSpPr>
        <p:spPr>
          <a:xfrm>
            <a:off x="6071616" y="1737360"/>
            <a:ext cx="2615184" cy="1325880"/>
          </a:xfrm>
          <a:prstGeom prst="roundRect">
            <a:avLst>
              <a:gd name="adj" fmla="val 6897"/>
            </a:avLst>
          </a:prstGeom>
          <a:solidFill>
            <a:schemeClr val="bg2"/>
          </a:solidFill>
          <a:ln/>
        </p:spPr>
      </p:sp>
      <p:sp>
        <p:nvSpPr>
          <p:cNvPr id="16" name="LuUserRound tile"/>
          <p:cNvSpPr/>
          <p:nvPr/>
        </p:nvSpPr>
        <p:spPr>
          <a:xfrm>
            <a:off x="6272784" y="1901952"/>
            <a:ext cx="438912" cy="438912"/>
          </a:xfrm>
          <a:prstGeom prst="roundRect">
            <a:avLst>
              <a:gd name="adj" fmla="val 22000"/>
            </a:avLst>
          </a:prstGeom>
          <a:solidFill>
            <a:schemeClr val="accent1"/>
          </a:solidFill>
          <a:ln/>
        </p:spPr>
      </p:sp>
      <p:pic>
        <p:nvPicPr>
          <p:cNvPr id="17" name="LuUserRound icon" descr="preencoded.png">    </p:cNvPr>
          <p:cNvPicPr>
            <a:picLocks noChangeAspect="1"/>
          </p:cNvPicPr>
          <p:nvPr/>
        </p:nvPicPr>
        <p:blipFill>
          <a:blip r:embed="rId3"/>
          <a:stretch>
            <a:fillRect/>
          </a:stretch>
        </p:blipFill>
        <p:spPr>
          <a:xfrm>
            <a:off x="6378123" y="2007291"/>
            <a:ext cx="228234" cy="228234"/>
          </a:xfrm>
          <a:prstGeom prst="rect">
            <a:avLst/>
          </a:prstGeom>
        </p:spPr>
      </p:pic>
      <p:sp>
        <p:nvSpPr>
          <p:cNvPr id="18" name="Cashier title"/>
          <p:cNvSpPr txBox="1"/>
          <p:nvPr/>
        </p:nvSpPr>
        <p:spPr>
          <a:xfrm>
            <a:off x="6848856" y="1901952"/>
            <a:ext cx="1700784" cy="438912"/>
          </a:xfrm>
          <a:prstGeom prst="rect">
            <a:avLst/>
          </a:prstGeom>
          <a:noFill/>
          <a:ln/>
        </p:spPr>
        <p:txBody>
          <a:bodyPr wrap="square" lIns="0" tIns="0" rIns="0" bIns="0" rtlCol="0" anchor="ctr"/>
          <a:lstStyle/>
          <a:p>
            <a:pPr indent="0" marL="0">
              <a:buNone/>
            </a:pPr>
            <a:r>
              <a:rPr lang="en-US" sz="1500" b="1" dirty="0">
                <a:solidFill>
                  <a:schemeClr val="tx2"/>
                </a:solidFill>
              </a:rPr>
              <a:t>Cashier</a:t>
            </a:r>
            <a:endParaRPr lang="en-US" sz="1500" dirty="0"/>
          </a:p>
        </p:txBody>
      </p:sp>
      <p:sp>
        <p:nvSpPr>
          <p:cNvPr id="19" name="Cashier text"/>
          <p:cNvSpPr txBox="1"/>
          <p:nvPr/>
        </p:nvSpPr>
        <p:spPr>
          <a:xfrm>
            <a:off x="6272784" y="2432304"/>
            <a:ext cx="2249424" cy="566928"/>
          </a:xfrm>
          <a:prstGeom prst="rect">
            <a:avLst/>
          </a:prstGeom>
          <a:noFill/>
          <a:ln/>
        </p:spPr>
        <p:txBody>
          <a:bodyPr wrap="square" lIns="0" tIns="0" rIns="0" bIns="0" rtlCol="0" anchor="t"/>
          <a:lstStyle/>
          <a:p>
            <a:pPr indent="0" marL="0">
              <a:buNone/>
            </a:pPr>
            <a:r>
              <a:rPr lang="en-US" sz="1200" dirty="0">
                <a:solidFill>
                  <a:schemeClr val="tx1"/>
                </a:solidFill>
              </a:rPr>
              <a:t>Billing and returns at the counter; cannot see cost prices or change stock</a:t>
            </a:r>
            <a:endParaRPr lang="en-US" sz="1200" dirty="0"/>
          </a:p>
        </p:txBody>
      </p:sp>
      <p:sp>
        <p:nvSpPr>
          <p:cNvPr id="20" name="Cycle label"/>
          <p:cNvSpPr txBox="1"/>
          <p:nvPr/>
        </p:nvSpPr>
        <p:spPr>
          <a:xfrm>
            <a:off x="457200" y="3246120"/>
            <a:ext cx="4572000" cy="256032"/>
          </a:xfrm>
          <a:prstGeom prst="rect">
            <a:avLst/>
          </a:prstGeom>
          <a:noFill/>
          <a:ln/>
        </p:spPr>
        <p:txBody>
          <a:bodyPr wrap="square" lIns="0" tIns="0" rIns="0" bIns="0" rtlCol="0" anchor="ctr"/>
          <a:lstStyle/>
          <a:p>
            <a:pPr indent="0" marL="0">
              <a:buNone/>
            </a:pPr>
            <a:r>
              <a:rPr lang="en-US" sz="1100" b="1" spc="200" kern="0" dirty="0">
                <a:solidFill>
                  <a:schemeClr val="accent1"/>
                </a:solidFill>
              </a:rPr>
              <a:t>THE FULL CYCLE OF GOODS</a:t>
            </a:r>
            <a:endParaRPr lang="en-US" sz="1100" dirty="0"/>
          </a:p>
        </p:txBody>
      </p:sp>
      <p:sp>
        <p:nvSpPr>
          <p:cNvPr id="21" name="Set up step"/>
          <p:cNvSpPr/>
          <p:nvPr/>
        </p:nvSpPr>
        <p:spPr>
          <a:xfrm>
            <a:off x="457200" y="3566160"/>
            <a:ext cx="1033272" cy="384048"/>
          </a:xfrm>
          <a:prstGeom prst="roundRect">
            <a:avLst>
              <a:gd name="adj" fmla="val 50000"/>
            </a:avLst>
          </a:prstGeom>
          <a:solidFill>
            <a:schemeClr val="accent1"/>
          </a:solidFill>
          <a:ln/>
        </p:spPr>
      </p:sp>
      <p:sp>
        <p:nvSpPr>
          <p:cNvPr id="22" name="Set up step text"/>
          <p:cNvSpPr txBox="1"/>
          <p:nvPr/>
        </p:nvSpPr>
        <p:spPr>
          <a:xfrm>
            <a:off x="457200" y="3566160"/>
            <a:ext cx="1033272" cy="384048"/>
          </a:xfrm>
          <a:prstGeom prst="rect">
            <a:avLst/>
          </a:prstGeom>
          <a:noFill/>
          <a:ln/>
        </p:spPr>
        <p:txBody>
          <a:bodyPr wrap="square" lIns="0" tIns="0" rIns="0" bIns="0" rtlCol="0" anchor="ctr"/>
          <a:lstStyle/>
          <a:p>
            <a:pPr algn="ctr" indent="0" marL="0">
              <a:buNone/>
            </a:pPr>
            <a:r>
              <a:rPr lang="en-US" sz="1150" b="1" dirty="0">
                <a:solidFill>
                  <a:schemeClr val="bg1"/>
                </a:solidFill>
              </a:rPr>
              <a:t>Set up</a:t>
            </a:r>
            <a:endParaRPr lang="en-US" sz="1150" dirty="0"/>
          </a:p>
        </p:txBody>
      </p:sp>
      <p:sp>
        <p:nvSpPr>
          <p:cNvPr id="23" name="Set up link"/>
          <p:cNvSpPr/>
          <p:nvPr/>
        </p:nvSpPr>
        <p:spPr>
          <a:xfrm>
            <a:off x="1517904" y="3758184"/>
            <a:ext cx="114300" cy="0"/>
          </a:xfrm>
          <a:prstGeom prst="line">
            <a:avLst/>
          </a:prstGeom>
          <a:noFill/>
          <a:ln w="19050">
            <a:solidFill>
              <a:schemeClr val="accent3"/>
            </a:solidFill>
            <a:prstDash val="solid"/>
          </a:ln>
        </p:spPr>
      </p:sp>
      <p:sp>
        <p:nvSpPr>
          <p:cNvPr id="24" name="Order step"/>
          <p:cNvSpPr/>
          <p:nvPr/>
        </p:nvSpPr>
        <p:spPr>
          <a:xfrm>
            <a:off x="1659636" y="3566160"/>
            <a:ext cx="1033272" cy="384048"/>
          </a:xfrm>
          <a:prstGeom prst="roundRect">
            <a:avLst>
              <a:gd name="adj" fmla="val 50000"/>
            </a:avLst>
          </a:prstGeom>
          <a:solidFill>
            <a:schemeClr val="tx2"/>
          </a:solidFill>
          <a:ln/>
        </p:spPr>
      </p:sp>
      <p:sp>
        <p:nvSpPr>
          <p:cNvPr id="25" name="Order step text"/>
          <p:cNvSpPr txBox="1"/>
          <p:nvPr/>
        </p:nvSpPr>
        <p:spPr>
          <a:xfrm>
            <a:off x="1659636" y="3566160"/>
            <a:ext cx="1033272" cy="384048"/>
          </a:xfrm>
          <a:prstGeom prst="rect">
            <a:avLst/>
          </a:prstGeom>
          <a:noFill/>
          <a:ln/>
        </p:spPr>
        <p:txBody>
          <a:bodyPr wrap="square" lIns="0" tIns="0" rIns="0" bIns="0" rtlCol="0" anchor="ctr"/>
          <a:lstStyle/>
          <a:p>
            <a:pPr algn="ctr" indent="0" marL="0">
              <a:buNone/>
            </a:pPr>
            <a:r>
              <a:rPr lang="en-US" sz="1150" b="1" dirty="0">
                <a:solidFill>
                  <a:schemeClr val="bg1"/>
                </a:solidFill>
              </a:rPr>
              <a:t>Order</a:t>
            </a:r>
            <a:endParaRPr lang="en-US" sz="1150" dirty="0"/>
          </a:p>
        </p:txBody>
      </p:sp>
      <p:sp>
        <p:nvSpPr>
          <p:cNvPr id="26" name="Order link"/>
          <p:cNvSpPr/>
          <p:nvPr/>
        </p:nvSpPr>
        <p:spPr>
          <a:xfrm>
            <a:off x="2720340" y="3758184"/>
            <a:ext cx="114300" cy="0"/>
          </a:xfrm>
          <a:prstGeom prst="line">
            <a:avLst/>
          </a:prstGeom>
          <a:noFill/>
          <a:ln w="19050">
            <a:solidFill>
              <a:schemeClr val="accent3"/>
            </a:solidFill>
            <a:prstDash val="solid"/>
          </a:ln>
        </p:spPr>
      </p:sp>
      <p:sp>
        <p:nvSpPr>
          <p:cNvPr id="27" name="Receive step"/>
          <p:cNvSpPr/>
          <p:nvPr/>
        </p:nvSpPr>
        <p:spPr>
          <a:xfrm>
            <a:off x="2862072" y="3566160"/>
            <a:ext cx="1033272" cy="384048"/>
          </a:xfrm>
          <a:prstGeom prst="roundRect">
            <a:avLst>
              <a:gd name="adj" fmla="val 50000"/>
            </a:avLst>
          </a:prstGeom>
          <a:solidFill>
            <a:schemeClr val="accent1"/>
          </a:solidFill>
          <a:ln/>
        </p:spPr>
      </p:sp>
      <p:sp>
        <p:nvSpPr>
          <p:cNvPr id="28" name="Receive step text"/>
          <p:cNvSpPr txBox="1"/>
          <p:nvPr/>
        </p:nvSpPr>
        <p:spPr>
          <a:xfrm>
            <a:off x="2862072" y="3566160"/>
            <a:ext cx="1033272" cy="384048"/>
          </a:xfrm>
          <a:prstGeom prst="rect">
            <a:avLst/>
          </a:prstGeom>
          <a:noFill/>
          <a:ln/>
        </p:spPr>
        <p:txBody>
          <a:bodyPr wrap="square" lIns="0" tIns="0" rIns="0" bIns="0" rtlCol="0" anchor="ctr"/>
          <a:lstStyle/>
          <a:p>
            <a:pPr algn="ctr" indent="0" marL="0">
              <a:buNone/>
            </a:pPr>
            <a:r>
              <a:rPr lang="en-US" sz="1150" b="1" dirty="0">
                <a:solidFill>
                  <a:schemeClr val="bg1"/>
                </a:solidFill>
              </a:rPr>
              <a:t>Receive</a:t>
            </a:r>
            <a:endParaRPr lang="en-US" sz="1150" dirty="0"/>
          </a:p>
        </p:txBody>
      </p:sp>
      <p:sp>
        <p:nvSpPr>
          <p:cNvPr id="29" name="Receive link"/>
          <p:cNvSpPr/>
          <p:nvPr/>
        </p:nvSpPr>
        <p:spPr>
          <a:xfrm>
            <a:off x="3922776" y="3758184"/>
            <a:ext cx="114300" cy="0"/>
          </a:xfrm>
          <a:prstGeom prst="line">
            <a:avLst/>
          </a:prstGeom>
          <a:noFill/>
          <a:ln w="19050">
            <a:solidFill>
              <a:schemeClr val="accent3"/>
            </a:solidFill>
            <a:prstDash val="solid"/>
          </a:ln>
        </p:spPr>
      </p:sp>
      <p:sp>
        <p:nvSpPr>
          <p:cNvPr id="30" name="Count stock step"/>
          <p:cNvSpPr/>
          <p:nvPr/>
        </p:nvSpPr>
        <p:spPr>
          <a:xfrm>
            <a:off x="4064508" y="3566160"/>
            <a:ext cx="1033272" cy="384048"/>
          </a:xfrm>
          <a:prstGeom prst="roundRect">
            <a:avLst>
              <a:gd name="adj" fmla="val 50000"/>
            </a:avLst>
          </a:prstGeom>
          <a:solidFill>
            <a:schemeClr val="tx2"/>
          </a:solidFill>
          <a:ln/>
        </p:spPr>
      </p:sp>
      <p:sp>
        <p:nvSpPr>
          <p:cNvPr id="31" name="Count stock step text"/>
          <p:cNvSpPr txBox="1"/>
          <p:nvPr/>
        </p:nvSpPr>
        <p:spPr>
          <a:xfrm>
            <a:off x="4064508" y="3566160"/>
            <a:ext cx="1033272" cy="384048"/>
          </a:xfrm>
          <a:prstGeom prst="rect">
            <a:avLst/>
          </a:prstGeom>
          <a:noFill/>
          <a:ln/>
        </p:spPr>
        <p:txBody>
          <a:bodyPr wrap="square" lIns="0" tIns="0" rIns="0" bIns="0" rtlCol="0" anchor="ctr"/>
          <a:lstStyle/>
          <a:p>
            <a:pPr algn="ctr" indent="0" marL="0">
              <a:buNone/>
            </a:pPr>
            <a:r>
              <a:rPr lang="en-US" sz="1150" b="1" dirty="0">
                <a:solidFill>
                  <a:schemeClr val="bg1"/>
                </a:solidFill>
              </a:rPr>
              <a:t>Count stock</a:t>
            </a:r>
            <a:endParaRPr lang="en-US" sz="1150" dirty="0"/>
          </a:p>
        </p:txBody>
      </p:sp>
      <p:sp>
        <p:nvSpPr>
          <p:cNvPr id="32" name="Count stock link"/>
          <p:cNvSpPr/>
          <p:nvPr/>
        </p:nvSpPr>
        <p:spPr>
          <a:xfrm>
            <a:off x="5125212" y="3758184"/>
            <a:ext cx="114300" cy="0"/>
          </a:xfrm>
          <a:prstGeom prst="line">
            <a:avLst/>
          </a:prstGeom>
          <a:noFill/>
          <a:ln w="19050">
            <a:solidFill>
              <a:schemeClr val="accent3"/>
            </a:solidFill>
            <a:prstDash val="solid"/>
          </a:ln>
        </p:spPr>
      </p:sp>
      <p:sp>
        <p:nvSpPr>
          <p:cNvPr id="33" name="Sell step"/>
          <p:cNvSpPr/>
          <p:nvPr/>
        </p:nvSpPr>
        <p:spPr>
          <a:xfrm>
            <a:off x="5266944" y="3566160"/>
            <a:ext cx="1033272" cy="384048"/>
          </a:xfrm>
          <a:prstGeom prst="roundRect">
            <a:avLst>
              <a:gd name="adj" fmla="val 50000"/>
            </a:avLst>
          </a:prstGeom>
          <a:solidFill>
            <a:schemeClr val="accent1"/>
          </a:solidFill>
          <a:ln/>
        </p:spPr>
      </p:sp>
      <p:sp>
        <p:nvSpPr>
          <p:cNvPr id="34" name="Sell step text"/>
          <p:cNvSpPr txBox="1"/>
          <p:nvPr/>
        </p:nvSpPr>
        <p:spPr>
          <a:xfrm>
            <a:off x="5266944" y="3566160"/>
            <a:ext cx="1033272" cy="384048"/>
          </a:xfrm>
          <a:prstGeom prst="rect">
            <a:avLst/>
          </a:prstGeom>
          <a:noFill/>
          <a:ln/>
        </p:spPr>
        <p:txBody>
          <a:bodyPr wrap="square" lIns="0" tIns="0" rIns="0" bIns="0" rtlCol="0" anchor="ctr"/>
          <a:lstStyle/>
          <a:p>
            <a:pPr algn="ctr" indent="0" marL="0">
              <a:buNone/>
            </a:pPr>
            <a:r>
              <a:rPr lang="en-US" sz="1150" b="1" dirty="0">
                <a:solidFill>
                  <a:schemeClr val="bg1"/>
                </a:solidFill>
              </a:rPr>
              <a:t>Sell</a:t>
            </a:r>
            <a:endParaRPr lang="en-US" sz="1150" dirty="0"/>
          </a:p>
        </p:txBody>
      </p:sp>
      <p:sp>
        <p:nvSpPr>
          <p:cNvPr id="35" name="Sell link"/>
          <p:cNvSpPr/>
          <p:nvPr/>
        </p:nvSpPr>
        <p:spPr>
          <a:xfrm>
            <a:off x="6327648" y="3758184"/>
            <a:ext cx="114300" cy="0"/>
          </a:xfrm>
          <a:prstGeom prst="line">
            <a:avLst/>
          </a:prstGeom>
          <a:noFill/>
          <a:ln w="19050">
            <a:solidFill>
              <a:schemeClr val="accent3"/>
            </a:solidFill>
            <a:prstDash val="solid"/>
          </a:ln>
        </p:spPr>
      </p:sp>
      <p:sp>
        <p:nvSpPr>
          <p:cNvPr id="36" name="Returns step"/>
          <p:cNvSpPr/>
          <p:nvPr/>
        </p:nvSpPr>
        <p:spPr>
          <a:xfrm>
            <a:off x="6469380" y="3566160"/>
            <a:ext cx="1033272" cy="384048"/>
          </a:xfrm>
          <a:prstGeom prst="roundRect">
            <a:avLst>
              <a:gd name="adj" fmla="val 50000"/>
            </a:avLst>
          </a:prstGeom>
          <a:solidFill>
            <a:schemeClr val="tx2"/>
          </a:solidFill>
          <a:ln/>
        </p:spPr>
      </p:sp>
      <p:sp>
        <p:nvSpPr>
          <p:cNvPr id="37" name="Returns step text"/>
          <p:cNvSpPr txBox="1"/>
          <p:nvPr/>
        </p:nvSpPr>
        <p:spPr>
          <a:xfrm>
            <a:off x="6469380" y="3566160"/>
            <a:ext cx="1033272" cy="384048"/>
          </a:xfrm>
          <a:prstGeom prst="rect">
            <a:avLst/>
          </a:prstGeom>
          <a:noFill/>
          <a:ln/>
        </p:spPr>
        <p:txBody>
          <a:bodyPr wrap="square" lIns="0" tIns="0" rIns="0" bIns="0" rtlCol="0" anchor="ctr"/>
          <a:lstStyle/>
          <a:p>
            <a:pPr algn="ctr" indent="0" marL="0">
              <a:buNone/>
            </a:pPr>
            <a:r>
              <a:rPr lang="en-US" sz="1150" b="1" dirty="0">
                <a:solidFill>
                  <a:schemeClr val="bg1"/>
                </a:solidFill>
              </a:rPr>
              <a:t>Returns</a:t>
            </a:r>
            <a:endParaRPr lang="en-US" sz="1150" dirty="0"/>
          </a:p>
        </p:txBody>
      </p:sp>
      <p:sp>
        <p:nvSpPr>
          <p:cNvPr id="38" name="Returns link"/>
          <p:cNvSpPr/>
          <p:nvPr/>
        </p:nvSpPr>
        <p:spPr>
          <a:xfrm>
            <a:off x="7530084" y="3758184"/>
            <a:ext cx="114300" cy="0"/>
          </a:xfrm>
          <a:prstGeom prst="line">
            <a:avLst/>
          </a:prstGeom>
          <a:noFill/>
          <a:ln w="19050">
            <a:solidFill>
              <a:schemeClr val="accent3"/>
            </a:solidFill>
            <a:prstDash val="solid"/>
          </a:ln>
        </p:spPr>
      </p:sp>
      <p:sp>
        <p:nvSpPr>
          <p:cNvPr id="39" name="Reports step"/>
          <p:cNvSpPr/>
          <p:nvPr/>
        </p:nvSpPr>
        <p:spPr>
          <a:xfrm>
            <a:off x="7671816" y="3566160"/>
            <a:ext cx="1033272" cy="384048"/>
          </a:xfrm>
          <a:prstGeom prst="roundRect">
            <a:avLst>
              <a:gd name="adj" fmla="val 50000"/>
            </a:avLst>
          </a:prstGeom>
          <a:solidFill>
            <a:schemeClr val="accent1"/>
          </a:solidFill>
          <a:ln/>
        </p:spPr>
      </p:sp>
      <p:sp>
        <p:nvSpPr>
          <p:cNvPr id="40" name="Reports step text"/>
          <p:cNvSpPr txBox="1"/>
          <p:nvPr/>
        </p:nvSpPr>
        <p:spPr>
          <a:xfrm>
            <a:off x="7671816" y="3566160"/>
            <a:ext cx="1033272" cy="384048"/>
          </a:xfrm>
          <a:prstGeom prst="rect">
            <a:avLst/>
          </a:prstGeom>
          <a:noFill/>
          <a:ln/>
        </p:spPr>
        <p:txBody>
          <a:bodyPr wrap="square" lIns="0" tIns="0" rIns="0" bIns="0" rtlCol="0" anchor="ctr"/>
          <a:lstStyle/>
          <a:p>
            <a:pPr algn="ctr" indent="0" marL="0">
              <a:buNone/>
            </a:pPr>
            <a:r>
              <a:rPr lang="en-US" sz="1150" b="1" dirty="0">
                <a:solidFill>
                  <a:schemeClr val="bg1"/>
                </a:solidFill>
              </a:rPr>
              <a:t>Reports</a:t>
            </a:r>
            <a:endParaRPr lang="en-US" sz="1150" dirty="0"/>
          </a:p>
        </p:txBody>
      </p:sp>
      <p:sp>
        <p:nvSpPr>
          <p:cNvPr id="41" name="LuBot tile"/>
          <p:cNvSpPr/>
          <p:nvPr/>
        </p:nvSpPr>
        <p:spPr>
          <a:xfrm>
            <a:off x="457200" y="4160520"/>
            <a:ext cx="365760" cy="365760"/>
          </a:xfrm>
          <a:prstGeom prst="roundRect">
            <a:avLst>
              <a:gd name="adj" fmla="val 22000"/>
            </a:avLst>
          </a:prstGeom>
          <a:solidFill>
            <a:schemeClr val="accent2"/>
          </a:solidFill>
          <a:ln/>
        </p:spPr>
      </p:sp>
      <p:pic>
        <p:nvPicPr>
          <p:cNvPr id="42" name="LuBot icon" descr="preencoded.png">    </p:cNvPr>
          <p:cNvPicPr>
            <a:picLocks noChangeAspect="1"/>
          </p:cNvPicPr>
          <p:nvPr/>
        </p:nvPicPr>
        <p:blipFill>
          <a:blip r:embed="rId4"/>
          <a:stretch>
            <a:fillRect/>
          </a:stretch>
        </p:blipFill>
        <p:spPr>
          <a:xfrm>
            <a:off x="544982" y="4248302"/>
            <a:ext cx="190195" cy="190195"/>
          </a:xfrm>
          <a:prstGeom prst="rect">
            <a:avLst/>
          </a:prstGeom>
        </p:spPr>
      </p:pic>
      <p:sp>
        <p:nvSpPr>
          <p:cNvPr id="43" name="AI note"/>
          <p:cNvSpPr txBox="1"/>
          <p:nvPr/>
        </p:nvSpPr>
        <p:spPr>
          <a:xfrm>
            <a:off x="960120" y="4114800"/>
            <a:ext cx="7726680" cy="457200"/>
          </a:xfrm>
          <a:prstGeom prst="rect">
            <a:avLst/>
          </a:prstGeom>
          <a:noFill/>
          <a:ln/>
        </p:spPr>
        <p:txBody>
          <a:bodyPr wrap="square" lIns="0" tIns="0" rIns="0" bIns="0" rtlCol="0" anchor="ctr"/>
          <a:lstStyle/>
          <a:p>
            <a:pPr indent="0" marL="0">
              <a:buNone/>
            </a:pPr>
            <a:r>
              <a:rPr lang="en-US" sz="1250" dirty="0">
                <a:solidFill>
                  <a:schemeClr val="tx1"/>
                </a:solidFill>
              </a:rPr>
              <a:t>AI is decision support only: forecasting runs inside the system, the Gemini assistant is optional, and only a person can confirm an order.</a:t>
            </a:r>
            <a:endParaRPr lang="en-US" sz="125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Eyebrow"/>
          <p:cNvSpPr txBox="1"/>
          <p:nvPr/>
        </p:nvSpPr>
        <p:spPr>
          <a:xfrm>
            <a:off x="457200" y="274320"/>
            <a:ext cx="5486400" cy="256032"/>
          </a:xfrm>
          <a:prstGeom prst="rect">
            <a:avLst/>
          </a:prstGeom>
          <a:noFill/>
          <a:ln/>
        </p:spPr>
        <p:txBody>
          <a:bodyPr wrap="square" lIns="0" tIns="0" rIns="0" bIns="0" rtlCol="0" anchor="ctr"/>
          <a:lstStyle/>
          <a:p>
            <a:pPr indent="0" marL="0">
              <a:buNone/>
            </a:pPr>
            <a:r>
              <a:rPr lang="en-US" sz="1100" b="1" spc="200" kern="0" dirty="0">
                <a:solidFill>
                  <a:schemeClr val="accent1"/>
                </a:solidFill>
              </a:rPr>
              <a:t>05 · APPLICATIONS</a:t>
            </a:r>
            <a:endParaRPr lang="en-US" sz="1100" dirty="0"/>
          </a:p>
        </p:txBody>
      </p:sp>
      <p:sp>
        <p:nvSpPr>
          <p:cNvPr id="3" name="Text 0"/>
          <p:cNvSpPr/>
          <p:nvPr>
            <p:ph idx="100" type="title" hasCustomPrompt="1"/>
          </p:nvPr>
        </p:nvSpPr>
        <p:spPr>
          <a:xfrm>
            <a:off x="457200" y="502920"/>
            <a:ext cx="6400800" cy="640080"/>
          </a:xfrm>
          <a:prstGeom prst="rect">
            <a:avLst/>
          </a:prstGeom>
          <a:noFill/>
          <a:ln/>
        </p:spPr>
        <p:txBody>
          <a:bodyPr wrap="square" lIns="0" tIns="0" rIns="0" bIns="0" rtlCol="0" anchor="ctr"/>
          <a:lstStyle/>
          <a:p>
            <a:pPr algn="l" indent="0" marL="0">
              <a:buNone/>
            </a:pPr>
            <a:r>
              <a:rPr lang="en-US" sz="3400" b="1" dirty="0">
                <a:solidFill>
                  <a:schemeClr val="tx2"/>
                </a:solidFill>
                <a:latin typeface="Cambria" pitchFamily="34" charset="0"/>
                <a:ea typeface="Cambria" pitchFamily="34" charset="-122"/>
                <a:cs typeface="Cambria" pitchFamily="34" charset="-120"/>
              </a:rPr>
              <a:t>Applications</a:t>
            </a:r>
            <a:endParaRPr lang="en-US" sz="3400" dirty="0"/>
          </a:p>
        </p:txBody>
      </p:sp>
      <p:sp>
        <p:nvSpPr>
          <p:cNvPr id="4" name="Kirana and grocery stores card"/>
          <p:cNvSpPr/>
          <p:nvPr/>
        </p:nvSpPr>
        <p:spPr>
          <a:xfrm>
            <a:off x="457200" y="1298448"/>
            <a:ext cx="1901952" cy="1591056"/>
          </a:xfrm>
          <a:prstGeom prst="roundRect">
            <a:avLst>
              <a:gd name="adj" fmla="val 5747"/>
            </a:avLst>
          </a:prstGeom>
          <a:solidFill>
            <a:schemeClr val="bg2"/>
          </a:solidFill>
          <a:ln/>
        </p:spPr>
      </p:sp>
      <p:sp>
        <p:nvSpPr>
          <p:cNvPr id="5" name="LuShoppingBasket tile"/>
          <p:cNvSpPr/>
          <p:nvPr/>
        </p:nvSpPr>
        <p:spPr>
          <a:xfrm>
            <a:off x="640080" y="1481328"/>
            <a:ext cx="420624" cy="420624"/>
          </a:xfrm>
          <a:prstGeom prst="roundRect">
            <a:avLst>
              <a:gd name="adj" fmla="val 22000"/>
            </a:avLst>
          </a:prstGeom>
          <a:solidFill>
            <a:schemeClr val="accent1"/>
          </a:solidFill>
          <a:ln/>
        </p:spPr>
      </p:sp>
      <p:pic>
        <p:nvPicPr>
          <p:cNvPr id="6" name="LuShoppingBasket icon" descr="preencoded.png">    </p:cNvPr>
          <p:cNvPicPr>
            <a:picLocks noChangeAspect="1"/>
          </p:cNvPicPr>
          <p:nvPr/>
        </p:nvPicPr>
        <p:blipFill>
          <a:blip r:embed="rId1"/>
          <a:stretch>
            <a:fillRect/>
          </a:stretch>
        </p:blipFill>
        <p:spPr>
          <a:xfrm>
            <a:off x="741030" y="1582278"/>
            <a:ext cx="218724" cy="218724"/>
          </a:xfrm>
          <a:prstGeom prst="rect">
            <a:avLst/>
          </a:prstGeom>
        </p:spPr>
      </p:pic>
      <p:sp>
        <p:nvSpPr>
          <p:cNvPr id="7" name="Kirana and grocery stores text"/>
          <p:cNvSpPr txBox="1"/>
          <p:nvPr/>
        </p:nvSpPr>
        <p:spPr>
          <a:xfrm>
            <a:off x="640080" y="1993392"/>
            <a:ext cx="1627632" cy="859536"/>
          </a:xfrm>
          <a:prstGeom prst="rect">
            <a:avLst/>
          </a:prstGeom>
          <a:noFill/>
          <a:ln/>
        </p:spPr>
        <p:txBody>
          <a:bodyPr wrap="square" lIns="0" tIns="0" rIns="0" bIns="0" rtlCol="0" anchor="t"/>
          <a:lstStyle/>
          <a:p>
            <a:pPr indent="0" marL="0">
              <a:spcAft>
                <a:spcPts val="200"/>
              </a:spcAft>
              <a:buNone/>
            </a:pPr>
            <a:r>
              <a:rPr lang="en-US" sz="1350" b="1" dirty="0">
                <a:solidFill>
                  <a:schemeClr val="tx2"/>
                </a:solidFill>
              </a:rPr>
              <a:t>Kirana and grocery stores</a:t>
            </a:r>
            <a:endParaRPr lang="en-US" sz="1350" dirty="0"/>
          </a:p>
          <a:p>
            <a:pPr indent="0" marL="0">
              <a:spcAft>
                <a:spcPts val="200"/>
              </a:spcAft>
              <a:buNone/>
            </a:pPr>
            <a:r>
              <a:rPr lang="en-US" sz="1150" dirty="0">
                <a:solidFill>
                  <a:schemeClr val="accent6"/>
                </a:solidFill>
              </a:rPr>
              <a:t>Daily essentials, loose goods sold by weight</a:t>
            </a:r>
            <a:endParaRPr lang="en-US" sz="1350" dirty="0"/>
          </a:p>
        </p:txBody>
      </p:sp>
      <p:sp>
        <p:nvSpPr>
          <p:cNvPr id="8" name="Supermarkets card"/>
          <p:cNvSpPr/>
          <p:nvPr/>
        </p:nvSpPr>
        <p:spPr>
          <a:xfrm>
            <a:off x="2565806" y="1298448"/>
            <a:ext cx="1901952" cy="1591056"/>
          </a:xfrm>
          <a:prstGeom prst="roundRect">
            <a:avLst>
              <a:gd name="adj" fmla="val 5747"/>
            </a:avLst>
          </a:prstGeom>
          <a:solidFill>
            <a:schemeClr val="bg2"/>
          </a:solidFill>
          <a:ln/>
        </p:spPr>
      </p:sp>
      <p:sp>
        <p:nvSpPr>
          <p:cNvPr id="9" name="LuStore tile"/>
          <p:cNvSpPr/>
          <p:nvPr/>
        </p:nvSpPr>
        <p:spPr>
          <a:xfrm>
            <a:off x="2748686" y="1481328"/>
            <a:ext cx="420624" cy="420624"/>
          </a:xfrm>
          <a:prstGeom prst="roundRect">
            <a:avLst>
              <a:gd name="adj" fmla="val 22000"/>
            </a:avLst>
          </a:prstGeom>
          <a:solidFill>
            <a:schemeClr val="accent1"/>
          </a:solidFill>
          <a:ln/>
        </p:spPr>
      </p:sp>
      <p:pic>
        <p:nvPicPr>
          <p:cNvPr id="10" name="LuStore icon" descr="preencoded.png">    </p:cNvPr>
          <p:cNvPicPr>
            <a:picLocks noChangeAspect="1"/>
          </p:cNvPicPr>
          <p:nvPr/>
        </p:nvPicPr>
        <p:blipFill>
          <a:blip r:embed="rId2"/>
          <a:stretch>
            <a:fillRect/>
          </a:stretch>
        </p:blipFill>
        <p:spPr>
          <a:xfrm>
            <a:off x="2849636" y="1582278"/>
            <a:ext cx="218724" cy="218724"/>
          </a:xfrm>
          <a:prstGeom prst="rect">
            <a:avLst/>
          </a:prstGeom>
        </p:spPr>
      </p:pic>
      <p:sp>
        <p:nvSpPr>
          <p:cNvPr id="11" name="Supermarkets text"/>
          <p:cNvSpPr txBox="1"/>
          <p:nvPr/>
        </p:nvSpPr>
        <p:spPr>
          <a:xfrm>
            <a:off x="2748686" y="1993392"/>
            <a:ext cx="1627632" cy="859536"/>
          </a:xfrm>
          <a:prstGeom prst="rect">
            <a:avLst/>
          </a:prstGeom>
          <a:noFill/>
          <a:ln/>
        </p:spPr>
        <p:txBody>
          <a:bodyPr wrap="square" lIns="0" tIns="0" rIns="0" bIns="0" rtlCol="0" anchor="t"/>
          <a:lstStyle/>
          <a:p>
            <a:pPr indent="0" marL="0">
              <a:spcAft>
                <a:spcPts val="200"/>
              </a:spcAft>
              <a:buNone/>
            </a:pPr>
            <a:r>
              <a:rPr lang="en-US" sz="1350" b="1" dirty="0">
                <a:solidFill>
                  <a:schemeClr val="tx2"/>
                </a:solidFill>
              </a:rPr>
              <a:t>Supermarkets</a:t>
            </a:r>
            <a:endParaRPr lang="en-US" sz="1350" dirty="0"/>
          </a:p>
          <a:p>
            <a:pPr indent="0" marL="0">
              <a:spcAft>
                <a:spcPts val="200"/>
              </a:spcAft>
              <a:buNone/>
            </a:pPr>
            <a:r>
              <a:rPr lang="en-US" sz="1150" dirty="0">
                <a:solidFill>
                  <a:schemeClr val="accent6"/>
                </a:solidFill>
              </a:rPr>
              <a:t>Many products, barcode billing at several counters</a:t>
            </a:r>
            <a:endParaRPr lang="en-US" sz="1350" dirty="0"/>
          </a:p>
        </p:txBody>
      </p:sp>
      <p:sp>
        <p:nvSpPr>
          <p:cNvPr id="12" name="Stationery and book shops card"/>
          <p:cNvSpPr/>
          <p:nvPr/>
        </p:nvSpPr>
        <p:spPr>
          <a:xfrm>
            <a:off x="4674413" y="1298448"/>
            <a:ext cx="1901952" cy="1591056"/>
          </a:xfrm>
          <a:prstGeom prst="roundRect">
            <a:avLst>
              <a:gd name="adj" fmla="val 5747"/>
            </a:avLst>
          </a:prstGeom>
          <a:solidFill>
            <a:schemeClr val="bg2"/>
          </a:solidFill>
          <a:ln/>
        </p:spPr>
      </p:sp>
      <p:sp>
        <p:nvSpPr>
          <p:cNvPr id="13" name="LuPencilRuler tile"/>
          <p:cNvSpPr/>
          <p:nvPr/>
        </p:nvSpPr>
        <p:spPr>
          <a:xfrm>
            <a:off x="4857293" y="1481328"/>
            <a:ext cx="420624" cy="420624"/>
          </a:xfrm>
          <a:prstGeom prst="roundRect">
            <a:avLst>
              <a:gd name="adj" fmla="val 22000"/>
            </a:avLst>
          </a:prstGeom>
          <a:solidFill>
            <a:schemeClr val="accent1"/>
          </a:solidFill>
          <a:ln/>
        </p:spPr>
      </p:sp>
      <p:pic>
        <p:nvPicPr>
          <p:cNvPr id="14" name="LuPencilRuler icon" descr="preencoded.png">    </p:cNvPr>
          <p:cNvPicPr>
            <a:picLocks noChangeAspect="1"/>
          </p:cNvPicPr>
          <p:nvPr/>
        </p:nvPicPr>
        <p:blipFill>
          <a:blip r:embed="rId3"/>
          <a:stretch>
            <a:fillRect/>
          </a:stretch>
        </p:blipFill>
        <p:spPr>
          <a:xfrm>
            <a:off x="4958243" y="1582278"/>
            <a:ext cx="218724" cy="218724"/>
          </a:xfrm>
          <a:prstGeom prst="rect">
            <a:avLst/>
          </a:prstGeom>
        </p:spPr>
      </p:pic>
      <p:sp>
        <p:nvSpPr>
          <p:cNvPr id="15" name="Stationery and book shops text"/>
          <p:cNvSpPr txBox="1"/>
          <p:nvPr/>
        </p:nvSpPr>
        <p:spPr>
          <a:xfrm>
            <a:off x="4857293" y="1993392"/>
            <a:ext cx="1627632" cy="859536"/>
          </a:xfrm>
          <a:prstGeom prst="rect">
            <a:avLst/>
          </a:prstGeom>
          <a:noFill/>
          <a:ln/>
        </p:spPr>
        <p:txBody>
          <a:bodyPr wrap="square" lIns="0" tIns="0" rIns="0" bIns="0" rtlCol="0" anchor="t"/>
          <a:lstStyle/>
          <a:p>
            <a:pPr indent="0" marL="0">
              <a:spcAft>
                <a:spcPts val="200"/>
              </a:spcAft>
              <a:buNone/>
            </a:pPr>
            <a:r>
              <a:rPr lang="en-US" sz="1350" b="1" dirty="0">
                <a:solidFill>
                  <a:schemeClr val="tx2"/>
                </a:solidFill>
              </a:rPr>
              <a:t>Stationery and book shops</a:t>
            </a:r>
            <a:endParaRPr lang="en-US" sz="1350" dirty="0"/>
          </a:p>
          <a:p>
            <a:pPr indent="0" marL="0">
              <a:spcAft>
                <a:spcPts val="200"/>
              </a:spcAft>
              <a:buNone/>
            </a:pPr>
            <a:r>
              <a:rPr lang="en-US" sz="1150" dirty="0">
                <a:solidFill>
                  <a:schemeClr val="accent6"/>
                </a:solidFill>
              </a:rPr>
              <a:t>Ready for the rush when schools reopen</a:t>
            </a:r>
            <a:endParaRPr lang="en-US" sz="1350" dirty="0"/>
          </a:p>
        </p:txBody>
      </p:sp>
      <p:sp>
        <p:nvSpPr>
          <p:cNvPr id="16" name="Electronics shops card"/>
          <p:cNvSpPr/>
          <p:nvPr/>
        </p:nvSpPr>
        <p:spPr>
          <a:xfrm>
            <a:off x="6783019" y="1298448"/>
            <a:ext cx="1901952" cy="1591056"/>
          </a:xfrm>
          <a:prstGeom prst="roundRect">
            <a:avLst>
              <a:gd name="adj" fmla="val 5747"/>
            </a:avLst>
          </a:prstGeom>
          <a:solidFill>
            <a:schemeClr val="bg2"/>
          </a:solidFill>
          <a:ln/>
        </p:spPr>
      </p:sp>
      <p:sp>
        <p:nvSpPr>
          <p:cNvPr id="17" name="LuSmartphone tile"/>
          <p:cNvSpPr/>
          <p:nvPr/>
        </p:nvSpPr>
        <p:spPr>
          <a:xfrm>
            <a:off x="6965899" y="1481328"/>
            <a:ext cx="420624" cy="420624"/>
          </a:xfrm>
          <a:prstGeom prst="roundRect">
            <a:avLst>
              <a:gd name="adj" fmla="val 22000"/>
            </a:avLst>
          </a:prstGeom>
          <a:solidFill>
            <a:schemeClr val="accent1"/>
          </a:solidFill>
          <a:ln/>
        </p:spPr>
      </p:sp>
      <p:pic>
        <p:nvPicPr>
          <p:cNvPr id="18" name="LuSmartphone icon" descr="preencoded.png">    </p:cNvPr>
          <p:cNvPicPr>
            <a:picLocks noChangeAspect="1"/>
          </p:cNvPicPr>
          <p:nvPr/>
        </p:nvPicPr>
        <p:blipFill>
          <a:blip r:embed="rId4"/>
          <a:stretch>
            <a:fillRect/>
          </a:stretch>
        </p:blipFill>
        <p:spPr>
          <a:xfrm>
            <a:off x="7066849" y="1582278"/>
            <a:ext cx="218724" cy="218724"/>
          </a:xfrm>
          <a:prstGeom prst="rect">
            <a:avLst/>
          </a:prstGeom>
        </p:spPr>
      </p:pic>
      <p:sp>
        <p:nvSpPr>
          <p:cNvPr id="19" name="Electronics shops text"/>
          <p:cNvSpPr txBox="1"/>
          <p:nvPr/>
        </p:nvSpPr>
        <p:spPr>
          <a:xfrm>
            <a:off x="6965899" y="1993392"/>
            <a:ext cx="1627632" cy="859536"/>
          </a:xfrm>
          <a:prstGeom prst="rect">
            <a:avLst/>
          </a:prstGeom>
          <a:noFill/>
          <a:ln/>
        </p:spPr>
        <p:txBody>
          <a:bodyPr wrap="square" lIns="0" tIns="0" rIns="0" bIns="0" rtlCol="0" anchor="t"/>
          <a:lstStyle/>
          <a:p>
            <a:pPr indent="0" marL="0">
              <a:spcAft>
                <a:spcPts val="200"/>
              </a:spcAft>
              <a:buNone/>
            </a:pPr>
            <a:r>
              <a:rPr lang="en-US" sz="1350" b="1" dirty="0">
                <a:solidFill>
                  <a:schemeClr val="tx2"/>
                </a:solidFill>
              </a:rPr>
              <a:t>Electronics shops</a:t>
            </a:r>
            <a:endParaRPr lang="en-US" sz="1350" dirty="0"/>
          </a:p>
          <a:p>
            <a:pPr indent="0" marL="0">
              <a:spcAft>
                <a:spcPts val="200"/>
              </a:spcAft>
              <a:buNone/>
            </a:pPr>
            <a:r>
              <a:rPr lang="en-US" sz="1150" dirty="0">
                <a:solidFill>
                  <a:schemeClr val="accent6"/>
                </a:solidFill>
              </a:rPr>
              <a:t>High-value items, costs and margins tracked</a:t>
            </a:r>
            <a:endParaRPr lang="en-US" sz="1350" dirty="0"/>
          </a:p>
        </p:txBody>
      </p:sp>
      <p:sp>
        <p:nvSpPr>
          <p:cNvPr id="20" name="Dairy, bakery, beverages card"/>
          <p:cNvSpPr/>
          <p:nvPr/>
        </p:nvSpPr>
        <p:spPr>
          <a:xfrm>
            <a:off x="457200" y="2999232"/>
            <a:ext cx="1901952" cy="1591056"/>
          </a:xfrm>
          <a:prstGeom prst="roundRect">
            <a:avLst>
              <a:gd name="adj" fmla="val 5747"/>
            </a:avLst>
          </a:prstGeom>
          <a:solidFill>
            <a:schemeClr val="bg2"/>
          </a:solidFill>
          <a:ln/>
        </p:spPr>
      </p:sp>
      <p:sp>
        <p:nvSpPr>
          <p:cNvPr id="21" name="LuCroissant tile"/>
          <p:cNvSpPr/>
          <p:nvPr/>
        </p:nvSpPr>
        <p:spPr>
          <a:xfrm>
            <a:off x="640080" y="3182112"/>
            <a:ext cx="420624" cy="420624"/>
          </a:xfrm>
          <a:prstGeom prst="roundRect">
            <a:avLst>
              <a:gd name="adj" fmla="val 22000"/>
            </a:avLst>
          </a:prstGeom>
          <a:solidFill>
            <a:schemeClr val="accent1"/>
          </a:solidFill>
          <a:ln/>
        </p:spPr>
      </p:sp>
      <p:pic>
        <p:nvPicPr>
          <p:cNvPr id="22" name="LuCroissant icon" descr="preencoded.png">    </p:cNvPr>
          <p:cNvPicPr>
            <a:picLocks noChangeAspect="1"/>
          </p:cNvPicPr>
          <p:nvPr/>
        </p:nvPicPr>
        <p:blipFill>
          <a:blip r:embed="rId5"/>
          <a:stretch>
            <a:fillRect/>
          </a:stretch>
        </p:blipFill>
        <p:spPr>
          <a:xfrm>
            <a:off x="741030" y="3283062"/>
            <a:ext cx="218724" cy="218724"/>
          </a:xfrm>
          <a:prstGeom prst="rect">
            <a:avLst/>
          </a:prstGeom>
        </p:spPr>
      </p:pic>
      <p:sp>
        <p:nvSpPr>
          <p:cNvPr id="23" name="Dairy, bakery, beverages text"/>
          <p:cNvSpPr txBox="1"/>
          <p:nvPr/>
        </p:nvSpPr>
        <p:spPr>
          <a:xfrm>
            <a:off x="640080" y="3694176"/>
            <a:ext cx="1627632" cy="859536"/>
          </a:xfrm>
          <a:prstGeom prst="rect">
            <a:avLst/>
          </a:prstGeom>
          <a:noFill/>
          <a:ln/>
        </p:spPr>
        <p:txBody>
          <a:bodyPr wrap="square" lIns="0" tIns="0" rIns="0" bIns="0" rtlCol="0" anchor="t"/>
          <a:lstStyle/>
          <a:p>
            <a:pPr indent="0" marL="0">
              <a:spcAft>
                <a:spcPts val="200"/>
              </a:spcAft>
              <a:buNone/>
            </a:pPr>
            <a:r>
              <a:rPr lang="en-US" sz="1350" b="1" dirty="0">
                <a:solidFill>
                  <a:schemeClr val="tx2"/>
                </a:solidFill>
              </a:rPr>
              <a:t>Dairy, bakery, beverages</a:t>
            </a:r>
            <a:endParaRPr lang="en-US" sz="1350" dirty="0"/>
          </a:p>
          <a:p>
            <a:pPr indent="0" marL="0">
              <a:spcAft>
                <a:spcPts val="200"/>
              </a:spcAft>
              <a:buNone/>
            </a:pPr>
            <a:r>
              <a:rPr lang="en-US" sz="1150" dirty="0">
                <a:solidFill>
                  <a:schemeClr val="accent6"/>
                </a:solidFill>
              </a:rPr>
              <a:t>Fast-moving goods reordered in time</a:t>
            </a:r>
            <a:endParaRPr lang="en-US" sz="1350" dirty="0"/>
          </a:p>
        </p:txBody>
      </p:sp>
      <p:sp>
        <p:nvSpPr>
          <p:cNvPr id="24" name="Pharmacies and cosmetics card"/>
          <p:cNvSpPr/>
          <p:nvPr/>
        </p:nvSpPr>
        <p:spPr>
          <a:xfrm>
            <a:off x="2565806" y="2999232"/>
            <a:ext cx="1901952" cy="1591056"/>
          </a:xfrm>
          <a:prstGeom prst="roundRect">
            <a:avLst>
              <a:gd name="adj" fmla="val 5747"/>
            </a:avLst>
          </a:prstGeom>
          <a:solidFill>
            <a:schemeClr val="bg2"/>
          </a:solidFill>
          <a:ln/>
        </p:spPr>
      </p:sp>
      <p:sp>
        <p:nvSpPr>
          <p:cNvPr id="25" name="LuPill tile"/>
          <p:cNvSpPr/>
          <p:nvPr/>
        </p:nvSpPr>
        <p:spPr>
          <a:xfrm>
            <a:off x="2748686" y="3182112"/>
            <a:ext cx="420624" cy="420624"/>
          </a:xfrm>
          <a:prstGeom prst="roundRect">
            <a:avLst>
              <a:gd name="adj" fmla="val 22000"/>
            </a:avLst>
          </a:prstGeom>
          <a:solidFill>
            <a:schemeClr val="accent1"/>
          </a:solidFill>
          <a:ln/>
        </p:spPr>
      </p:sp>
      <p:pic>
        <p:nvPicPr>
          <p:cNvPr id="26" name="LuPill icon" descr="preencoded.png">    </p:cNvPr>
          <p:cNvPicPr>
            <a:picLocks noChangeAspect="1"/>
          </p:cNvPicPr>
          <p:nvPr/>
        </p:nvPicPr>
        <p:blipFill>
          <a:blip r:embed="rId6"/>
          <a:stretch>
            <a:fillRect/>
          </a:stretch>
        </p:blipFill>
        <p:spPr>
          <a:xfrm>
            <a:off x="2849636" y="3283062"/>
            <a:ext cx="218724" cy="218724"/>
          </a:xfrm>
          <a:prstGeom prst="rect">
            <a:avLst/>
          </a:prstGeom>
        </p:spPr>
      </p:pic>
      <p:sp>
        <p:nvSpPr>
          <p:cNvPr id="27" name="Pharmacies and cosmetics text"/>
          <p:cNvSpPr txBox="1"/>
          <p:nvPr/>
        </p:nvSpPr>
        <p:spPr>
          <a:xfrm>
            <a:off x="2748686" y="3694176"/>
            <a:ext cx="1627632" cy="859536"/>
          </a:xfrm>
          <a:prstGeom prst="rect">
            <a:avLst/>
          </a:prstGeom>
          <a:noFill/>
          <a:ln/>
        </p:spPr>
        <p:txBody>
          <a:bodyPr wrap="square" lIns="0" tIns="0" rIns="0" bIns="0" rtlCol="0" anchor="t"/>
          <a:lstStyle/>
          <a:p>
            <a:pPr indent="0" marL="0">
              <a:spcAft>
                <a:spcPts val="200"/>
              </a:spcAft>
              <a:buNone/>
            </a:pPr>
            <a:r>
              <a:rPr lang="en-US" sz="1350" b="1" dirty="0">
                <a:solidFill>
                  <a:schemeClr val="tx2"/>
                </a:solidFill>
              </a:rPr>
              <a:t>Pharmacies and cosmetics</a:t>
            </a:r>
            <a:endParaRPr lang="en-US" sz="1350" dirty="0"/>
          </a:p>
          <a:p>
            <a:pPr indent="0" marL="0">
              <a:spcAft>
                <a:spcPts val="200"/>
              </a:spcAft>
              <a:buNone/>
            </a:pPr>
            <a:r>
              <a:rPr lang="en-US" sz="1150" dirty="0">
                <a:solidFill>
                  <a:schemeClr val="accent6"/>
                </a:solidFill>
              </a:rPr>
              <a:t>Expired and damaged stock written off</a:t>
            </a:r>
            <a:endParaRPr lang="en-US" sz="1350" dirty="0"/>
          </a:p>
        </p:txBody>
      </p:sp>
      <p:sp>
        <p:nvSpPr>
          <p:cNvPr id="28" name="Wholesale distributors card"/>
          <p:cNvSpPr/>
          <p:nvPr/>
        </p:nvSpPr>
        <p:spPr>
          <a:xfrm>
            <a:off x="4674413" y="2999232"/>
            <a:ext cx="1901952" cy="1591056"/>
          </a:xfrm>
          <a:prstGeom prst="roundRect">
            <a:avLst>
              <a:gd name="adj" fmla="val 5747"/>
            </a:avLst>
          </a:prstGeom>
          <a:solidFill>
            <a:schemeClr val="bg2"/>
          </a:solidFill>
          <a:ln/>
        </p:spPr>
      </p:sp>
      <p:sp>
        <p:nvSpPr>
          <p:cNvPr id="29" name="LuWarehouse tile"/>
          <p:cNvSpPr/>
          <p:nvPr/>
        </p:nvSpPr>
        <p:spPr>
          <a:xfrm>
            <a:off x="4857293" y="3182112"/>
            <a:ext cx="420624" cy="420624"/>
          </a:xfrm>
          <a:prstGeom prst="roundRect">
            <a:avLst>
              <a:gd name="adj" fmla="val 22000"/>
            </a:avLst>
          </a:prstGeom>
          <a:solidFill>
            <a:schemeClr val="accent1"/>
          </a:solidFill>
          <a:ln/>
        </p:spPr>
      </p:sp>
      <p:pic>
        <p:nvPicPr>
          <p:cNvPr id="30" name="LuWarehouse icon" descr="preencoded.png">    </p:cNvPr>
          <p:cNvPicPr>
            <a:picLocks noChangeAspect="1"/>
          </p:cNvPicPr>
          <p:nvPr/>
        </p:nvPicPr>
        <p:blipFill>
          <a:blip r:embed="rId7"/>
          <a:stretch>
            <a:fillRect/>
          </a:stretch>
        </p:blipFill>
        <p:spPr>
          <a:xfrm>
            <a:off x="4958243" y="3283062"/>
            <a:ext cx="218724" cy="218724"/>
          </a:xfrm>
          <a:prstGeom prst="rect">
            <a:avLst/>
          </a:prstGeom>
        </p:spPr>
      </p:pic>
      <p:sp>
        <p:nvSpPr>
          <p:cNvPr id="31" name="Wholesale distributors text"/>
          <p:cNvSpPr txBox="1"/>
          <p:nvPr/>
        </p:nvSpPr>
        <p:spPr>
          <a:xfrm>
            <a:off x="4857293" y="3694176"/>
            <a:ext cx="1627632" cy="859536"/>
          </a:xfrm>
          <a:prstGeom prst="rect">
            <a:avLst/>
          </a:prstGeom>
          <a:noFill/>
          <a:ln/>
        </p:spPr>
        <p:txBody>
          <a:bodyPr wrap="square" lIns="0" tIns="0" rIns="0" bIns="0" rtlCol="0" anchor="t"/>
          <a:lstStyle/>
          <a:p>
            <a:pPr indent="0" marL="0">
              <a:spcAft>
                <a:spcPts val="200"/>
              </a:spcAft>
              <a:buNone/>
            </a:pPr>
            <a:r>
              <a:rPr lang="en-US" sz="1350" b="1" dirty="0">
                <a:solidFill>
                  <a:schemeClr val="tx2"/>
                </a:solidFill>
              </a:rPr>
              <a:t>Wholesale distributors</a:t>
            </a:r>
            <a:endParaRPr lang="en-US" sz="1350" dirty="0"/>
          </a:p>
          <a:p>
            <a:pPr indent="0" marL="0">
              <a:spcAft>
                <a:spcPts val="200"/>
              </a:spcAft>
              <a:buNone/>
            </a:pPr>
            <a:r>
              <a:rPr lang="en-US" sz="1150" dirty="0">
                <a:solidFill>
                  <a:schemeClr val="accent6"/>
                </a:solidFill>
              </a:rPr>
              <a:t>Purchase orders, part deliveries, lead times</a:t>
            </a:r>
            <a:endParaRPr lang="en-US" sz="1350" dirty="0"/>
          </a:p>
        </p:txBody>
      </p:sp>
      <p:sp>
        <p:nvSpPr>
          <p:cNvPr id="32" name="Training and education card"/>
          <p:cNvSpPr/>
          <p:nvPr/>
        </p:nvSpPr>
        <p:spPr>
          <a:xfrm>
            <a:off x="6783019" y="2999232"/>
            <a:ext cx="1901952" cy="1591056"/>
          </a:xfrm>
          <a:prstGeom prst="roundRect">
            <a:avLst>
              <a:gd name="adj" fmla="val 5747"/>
            </a:avLst>
          </a:prstGeom>
          <a:solidFill>
            <a:schemeClr val="bg2"/>
          </a:solidFill>
          <a:ln/>
        </p:spPr>
      </p:sp>
      <p:sp>
        <p:nvSpPr>
          <p:cNvPr id="33" name="LuGraduationCap tile"/>
          <p:cNvSpPr/>
          <p:nvPr/>
        </p:nvSpPr>
        <p:spPr>
          <a:xfrm>
            <a:off x="6965899" y="3182112"/>
            <a:ext cx="420624" cy="420624"/>
          </a:xfrm>
          <a:prstGeom prst="roundRect">
            <a:avLst>
              <a:gd name="adj" fmla="val 22000"/>
            </a:avLst>
          </a:prstGeom>
          <a:solidFill>
            <a:schemeClr val="accent1"/>
          </a:solidFill>
          <a:ln/>
        </p:spPr>
      </p:sp>
      <p:pic>
        <p:nvPicPr>
          <p:cNvPr id="34" name="LuGraduationCap icon" descr="preencoded.png">    </p:cNvPr>
          <p:cNvPicPr>
            <a:picLocks noChangeAspect="1"/>
          </p:cNvPicPr>
          <p:nvPr/>
        </p:nvPicPr>
        <p:blipFill>
          <a:blip r:embed="rId8"/>
          <a:stretch>
            <a:fillRect/>
          </a:stretch>
        </p:blipFill>
        <p:spPr>
          <a:xfrm>
            <a:off x="7066849" y="3283062"/>
            <a:ext cx="218724" cy="218724"/>
          </a:xfrm>
          <a:prstGeom prst="rect">
            <a:avLst/>
          </a:prstGeom>
        </p:spPr>
      </p:pic>
      <p:sp>
        <p:nvSpPr>
          <p:cNvPr id="35" name="Training and education text"/>
          <p:cNvSpPr txBox="1"/>
          <p:nvPr/>
        </p:nvSpPr>
        <p:spPr>
          <a:xfrm>
            <a:off x="6965899" y="3694176"/>
            <a:ext cx="1627632" cy="859536"/>
          </a:xfrm>
          <a:prstGeom prst="rect">
            <a:avLst/>
          </a:prstGeom>
          <a:noFill/>
          <a:ln/>
        </p:spPr>
        <p:txBody>
          <a:bodyPr wrap="square" lIns="0" tIns="0" rIns="0" bIns="0" rtlCol="0" anchor="t"/>
          <a:lstStyle/>
          <a:p>
            <a:pPr indent="0" marL="0">
              <a:spcAft>
                <a:spcPts val="200"/>
              </a:spcAft>
              <a:buNone/>
            </a:pPr>
            <a:r>
              <a:rPr lang="en-US" sz="1350" b="1" dirty="0">
                <a:solidFill>
                  <a:schemeClr val="tx2"/>
                </a:solidFill>
              </a:rPr>
              <a:t>Training and education</a:t>
            </a:r>
            <a:endParaRPr lang="en-US" sz="1350" dirty="0"/>
          </a:p>
          <a:p>
            <a:pPr indent="0" marL="0">
              <a:spcAft>
                <a:spcPts val="200"/>
              </a:spcAft>
              <a:buNone/>
            </a:pPr>
            <a:r>
              <a:rPr lang="en-US" sz="1150" dirty="0">
                <a:solidFill>
                  <a:schemeClr val="accent6"/>
                </a:solidFill>
              </a:rPr>
              <a:t>Teach inventory, GST billing and forecasting</a:t>
            </a:r>
            <a:endParaRPr lang="en-US" sz="135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Eyebrow"/>
          <p:cNvSpPr txBox="1"/>
          <p:nvPr/>
        </p:nvSpPr>
        <p:spPr>
          <a:xfrm>
            <a:off x="457200" y="274320"/>
            <a:ext cx="5486400" cy="256032"/>
          </a:xfrm>
          <a:prstGeom prst="rect">
            <a:avLst/>
          </a:prstGeom>
          <a:noFill/>
          <a:ln/>
        </p:spPr>
        <p:txBody>
          <a:bodyPr wrap="square" lIns="0" tIns="0" rIns="0" bIns="0" rtlCol="0" anchor="ctr"/>
          <a:lstStyle/>
          <a:p>
            <a:pPr indent="0" marL="0">
              <a:buNone/>
            </a:pPr>
            <a:r>
              <a:rPr lang="en-US" sz="1100" b="1" spc="200" kern="0" dirty="0">
                <a:solidFill>
                  <a:schemeClr val="accent1"/>
                </a:solidFill>
              </a:rPr>
              <a:t>06 · LITERATURE REVIEW</a:t>
            </a:r>
            <a:endParaRPr lang="en-US" sz="1100" dirty="0"/>
          </a:p>
        </p:txBody>
      </p:sp>
      <p:sp>
        <p:nvSpPr>
          <p:cNvPr id="3" name="Text 0"/>
          <p:cNvSpPr/>
          <p:nvPr>
            <p:ph idx="100" type="title" hasCustomPrompt="1"/>
          </p:nvPr>
        </p:nvSpPr>
        <p:spPr>
          <a:xfrm>
            <a:off x="457200" y="502920"/>
            <a:ext cx="6400800" cy="640080"/>
          </a:xfrm>
          <a:prstGeom prst="rect">
            <a:avLst/>
          </a:prstGeom>
          <a:noFill/>
          <a:ln/>
        </p:spPr>
        <p:txBody>
          <a:bodyPr wrap="square" lIns="0" tIns="0" rIns="0" bIns="0" rtlCol="0" anchor="ctr"/>
          <a:lstStyle/>
          <a:p>
            <a:pPr algn="l" indent="0" marL="0">
              <a:buNone/>
            </a:pPr>
            <a:r>
              <a:rPr lang="en-US" sz="3400" b="1" dirty="0">
                <a:solidFill>
                  <a:schemeClr val="tx2"/>
                </a:solidFill>
                <a:latin typeface="Cambria" pitchFamily="34" charset="0"/>
                <a:ea typeface="Cambria" pitchFamily="34" charset="-122"/>
                <a:cs typeface="Cambria" pitchFamily="34" charset="-120"/>
              </a:rPr>
              <a:t>Literature Review</a:t>
            </a:r>
            <a:endParaRPr lang="en-US" sz="3400" dirty="0"/>
          </a:p>
        </p:txBody>
      </p:sp>
      <p:sp>
        <p:nvSpPr>
          <p:cNvPr id="4" name="Papers chip"/>
          <p:cNvSpPr/>
          <p:nvPr/>
        </p:nvSpPr>
        <p:spPr>
          <a:xfrm>
            <a:off x="6720840" y="658368"/>
            <a:ext cx="1965960" cy="329184"/>
          </a:xfrm>
          <a:prstGeom prst="roundRect">
            <a:avLst>
              <a:gd name="adj" fmla="val 50000"/>
            </a:avLst>
          </a:prstGeom>
          <a:solidFill>
            <a:schemeClr val="bg2"/>
          </a:solidFill>
          <a:ln/>
        </p:spPr>
      </p:sp>
      <p:sp>
        <p:nvSpPr>
          <p:cNvPr id="5" name="Papers chip text"/>
          <p:cNvSpPr txBox="1"/>
          <p:nvPr/>
        </p:nvSpPr>
        <p:spPr>
          <a:xfrm>
            <a:off x="6720840" y="658368"/>
            <a:ext cx="1965960" cy="329184"/>
          </a:xfrm>
          <a:prstGeom prst="rect">
            <a:avLst/>
          </a:prstGeom>
          <a:noFill/>
          <a:ln/>
        </p:spPr>
        <p:txBody>
          <a:bodyPr wrap="square" lIns="0" tIns="0" rIns="0" bIns="0" rtlCol="0" anchor="ctr"/>
          <a:lstStyle/>
          <a:p>
            <a:pPr algn="ctr" indent="0" marL="0">
              <a:buNone/>
            </a:pPr>
            <a:r>
              <a:rPr lang="en-US" sz="1100" b="1" dirty="0">
                <a:solidFill>
                  <a:schemeClr val="accent1"/>
                </a:solidFill>
              </a:rPr>
              <a:t>Papers 1–5 of 10</a:t>
            </a:r>
            <a:endParaRPr lang="en-US" sz="1100" dirty="0"/>
          </a:p>
        </p:txBody>
      </p:sp>
      <p:graphicFrame>
        <p:nvGraphicFramePr>
          <p:cNvPr id="10" name="Literature table"/>
          <p:cNvGraphicFramePr>
            <a:graphicFrameLocks noGrp="1"/>
          </p:cNvGraphicFramePr>
          <p:nvPr>
            <p:extLst>
              <p:ext uri="{D42A27DB-BD31-4B8C-83A1-F6EECF244321}">
                <p14:modId xmlns:p14="http://schemas.microsoft.com/office/powerpoint/2010/main" val="1579011935"/>
              </p:ext>
            </p:extLst>
          </p:nvPr>
        </p:nvGraphicFramePr>
        <p:xfrm>
          <a:off x="457200" y="1325880"/>
          <a:ext cx="8229600" cy="914400"/>
        </p:xfrm>
        <a:graphic>
          <a:graphicData uri="http://schemas.openxmlformats.org/drawingml/2006/table">
            <a:tbl>
              <a:tblPr/>
              <a:tblGrid>
                <a:gridCol w="2514600"/>
                <a:gridCol w="3246120"/>
                <a:gridCol w="2468880"/>
              </a:tblGrid>
              <a:tr h="457200">
                <a:tc>
                  <a:txBody>
                    <a:bodyPr/>
                    <a:lstStyle/>
                    <a:p>
                      <a:pPr indent="0" marL="0">
                        <a:buNone/>
                      </a:pPr>
                      <a:r>
                        <a:rPr lang="en-US" sz="1200" b="1" dirty="0">
                          <a:solidFill>
                            <a:schemeClr val="bg1"/>
                          </a:solidFill>
                        </a:rPr>
                        <a:t>Study</a:t>
                      </a:r>
                      <a:endParaRPr lang="en-US" sz="1200" dirty="0"/>
                    </a:p>
                  </a:txBody>
                  <a:tcPr marL="91440" marR="91440" marT="36576" marB="36576" anchor="ctr">
                    <a:lnL w="6350" cap="flat" cmpd="sng" algn="ctr">
                      <a:solidFill>
                        <a:srgbClr val="D5E3DF"/>
                      </a:solidFill>
                      <a:prstDash val="solid"/>
                      <a:round/>
                      <a:headEnd type="none" w="med" len="med"/>
                      <a:tailEnd type="none" w="med" len="med"/>
                    </a:lnL>
                    <a:lnR w="6350" cap="flat" cmpd="sng" algn="ctr">
                      <a:solidFill>
                        <a:srgbClr val="D5E3DF"/>
                      </a:solidFill>
                      <a:prstDash val="solid"/>
                      <a:round/>
                      <a:headEnd type="none" w="med" len="med"/>
                      <a:tailEnd type="none" w="med" len="med"/>
                    </a:lnR>
                    <a:lnT w="6350" cap="flat" cmpd="sng" algn="ctr">
                      <a:solidFill>
                        <a:srgbClr val="D5E3DF"/>
                      </a:solidFill>
                      <a:prstDash val="solid"/>
                      <a:round/>
                      <a:headEnd type="none" w="med" len="med"/>
                      <a:tailEnd type="none" w="med" len="med"/>
                    </a:lnT>
                    <a:lnB w="6350" cap="flat" cmpd="sng" algn="ctr">
                      <a:solidFill>
                        <a:srgbClr val="D5E3DF"/>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What it offers</a:t>
                      </a:r>
                      <a:endParaRPr lang="en-US" sz="1200" dirty="0"/>
                    </a:p>
                  </a:txBody>
                  <a:tcPr marL="91440" marR="91440" marT="36576" marB="36576" anchor="ctr">
                    <a:lnL w="6350" cap="flat" cmpd="sng" algn="ctr">
                      <a:solidFill>
                        <a:srgbClr val="D5E3DF"/>
                      </a:solidFill>
                      <a:prstDash val="solid"/>
                      <a:round/>
                      <a:headEnd type="none" w="med" len="med"/>
                      <a:tailEnd type="none" w="med" len="med"/>
                    </a:lnL>
                    <a:lnR w="6350" cap="flat" cmpd="sng" algn="ctr">
                      <a:solidFill>
                        <a:srgbClr val="D5E3DF"/>
                      </a:solidFill>
                      <a:prstDash val="solid"/>
                      <a:round/>
                      <a:headEnd type="none" w="med" len="med"/>
                      <a:tailEnd type="none" w="med" len="med"/>
                    </a:lnR>
                    <a:lnT w="6350" cap="flat" cmpd="sng" algn="ctr">
                      <a:solidFill>
                        <a:srgbClr val="D5E3DF"/>
                      </a:solidFill>
                      <a:prstDash val="solid"/>
                      <a:round/>
                      <a:headEnd type="none" w="med" len="med"/>
                      <a:tailEnd type="none" w="med" len="med"/>
                    </a:lnT>
                    <a:lnB w="6350" cap="flat" cmpd="sng" algn="ctr">
                      <a:solidFill>
                        <a:srgbClr val="D5E3DF"/>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What is missing</a:t>
                      </a:r>
                      <a:endParaRPr lang="en-US" sz="1200" dirty="0"/>
                    </a:p>
                  </a:txBody>
                  <a:tcPr marL="91440" marR="91440" marT="36576" marB="36576" anchor="ctr">
                    <a:lnL w="6350" cap="flat" cmpd="sng" algn="ctr">
                      <a:solidFill>
                        <a:srgbClr val="D5E3DF"/>
                      </a:solidFill>
                      <a:prstDash val="solid"/>
                      <a:round/>
                      <a:headEnd type="none" w="med" len="med"/>
                      <a:tailEnd type="none" w="med" len="med"/>
                    </a:lnL>
                    <a:lnR w="6350" cap="flat" cmpd="sng" algn="ctr">
                      <a:solidFill>
                        <a:srgbClr val="D5E3DF"/>
                      </a:solidFill>
                      <a:prstDash val="solid"/>
                      <a:round/>
                      <a:headEnd type="none" w="med" len="med"/>
                      <a:tailEnd type="none" w="med" len="med"/>
                    </a:lnR>
                    <a:lnT w="6350" cap="flat" cmpd="sng" algn="ctr">
                      <a:solidFill>
                        <a:srgbClr val="D5E3DF"/>
                      </a:solidFill>
                      <a:prstDash val="solid"/>
                      <a:round/>
                      <a:headEnd type="none" w="med" len="med"/>
                      <a:tailEnd type="none" w="med" len="med"/>
                    </a:lnT>
                    <a:lnB w="6350" cap="flat" cmpd="sng" algn="ctr">
                      <a:solidFill>
                        <a:srgbClr val="D5E3DF"/>
                      </a:solidFill>
                      <a:prstDash val="solid"/>
                      <a:round/>
                      <a:headEnd type="none" w="med" len="med"/>
                      <a:tailEnd type="none" w="med" len="med"/>
                    </a:lnB>
                    <a:solidFill>
                      <a:schemeClr val="tx2"/>
                    </a:solidFill>
                  </a:tcPr>
                </a:tc>
              </a:tr>
              <a:tr h="457200">
                <a:tc>
                  <a:txBody>
                    <a:bodyPr/>
                    <a:lstStyle/>
                    <a:p>
                      <a:pPr indent="0" marL="0">
                        <a:buNone/>
                      </a:pPr>
                      <a:r>
                        <a:rPr lang="en-US" sz="1150" b="1" dirty="0">
                          <a:solidFill>
                            <a:schemeClr val="tx1"/>
                          </a:solidFill>
                        </a:rPr>
                        <a:t>[1] Agboola et al., 2022</a:t>
                      </a:r>
                      <a:endParaRPr lang="en-US" sz="1150" dirty="0"/>
                    </a:p>
                  </a:txBody>
                  <a:tcPr marL="91440" marR="91440" marT="36576" marB="36576" anchor="ctr">
                    <a:lnL w="6350" cap="flat" cmpd="sng" algn="ctr">
                      <a:solidFill>
                        <a:srgbClr val="D5E3DF"/>
                      </a:solidFill>
                      <a:prstDash val="solid"/>
                      <a:round/>
                      <a:headEnd type="none" w="med" len="med"/>
                      <a:tailEnd type="none" w="med" len="med"/>
                    </a:lnL>
                    <a:lnR w="6350" cap="flat" cmpd="sng" algn="ctr">
                      <a:solidFill>
                        <a:srgbClr val="D5E3DF"/>
                      </a:solidFill>
                      <a:prstDash val="solid"/>
                      <a:round/>
                      <a:headEnd type="none" w="med" len="med"/>
                      <a:tailEnd type="none" w="med" len="med"/>
                    </a:lnR>
                    <a:lnT w="6350" cap="flat" cmpd="sng" algn="ctr">
                      <a:solidFill>
                        <a:srgbClr val="D5E3DF"/>
                      </a:solidFill>
                      <a:prstDash val="solid"/>
                      <a:round/>
                      <a:headEnd type="none" w="med" len="med"/>
                      <a:tailEnd type="none" w="med" len="med"/>
                    </a:lnT>
                    <a:lnB w="6350" cap="flat" cmpd="sng" algn="ctr">
                      <a:solidFill>
                        <a:srgbClr val="D5E3DF"/>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Web inventory system for SMEs on MySQL, replacing spreadsheets</a:t>
                      </a:r>
                      <a:endParaRPr lang="en-US" sz="1150" dirty="0"/>
                    </a:p>
                  </a:txBody>
                  <a:tcPr marL="91440" marR="91440" marT="36576" marB="36576" anchor="ctr">
                    <a:lnL w="6350" cap="flat" cmpd="sng" algn="ctr">
                      <a:solidFill>
                        <a:srgbClr val="D5E3DF"/>
                      </a:solidFill>
                      <a:prstDash val="solid"/>
                      <a:round/>
                      <a:headEnd type="none" w="med" len="med"/>
                      <a:tailEnd type="none" w="med" len="med"/>
                    </a:lnL>
                    <a:lnR w="6350" cap="flat" cmpd="sng" algn="ctr">
                      <a:solidFill>
                        <a:srgbClr val="D5E3DF"/>
                      </a:solidFill>
                      <a:prstDash val="solid"/>
                      <a:round/>
                      <a:headEnd type="none" w="med" len="med"/>
                      <a:tailEnd type="none" w="med" len="med"/>
                    </a:lnR>
                    <a:lnT w="6350" cap="flat" cmpd="sng" algn="ctr">
                      <a:solidFill>
                        <a:srgbClr val="D5E3DF"/>
                      </a:solidFill>
                      <a:prstDash val="solid"/>
                      <a:round/>
                      <a:headEnd type="none" w="med" len="med"/>
                      <a:tailEnd type="none" w="med" len="med"/>
                    </a:lnT>
                    <a:lnB w="6350" cap="flat" cmpd="sng" algn="ctr">
                      <a:solidFill>
                        <a:srgbClr val="D5E3DF"/>
                      </a:solidFill>
                      <a:prstDash val="solid"/>
                      <a:round/>
                      <a:headEnd type="none" w="med" len="med"/>
                      <a:tailEnd type="none" w="med" len="med"/>
                    </a:lnB>
                    <a:solidFill>
                      <a:schemeClr val="bg2"/>
                    </a:solidFill>
                  </a:tcPr>
                </a:tc>
                <a:tc>
                  <a:txBody>
                    <a:bodyPr/>
                    <a:lstStyle/>
                    <a:p>
                      <a:pPr indent="0" marL="0">
                        <a:buNone/>
                      </a:pPr>
                      <a:r>
                        <a:rPr lang="en-US" sz="1150" dirty="0">
                          <a:solidFill>
                            <a:schemeClr val="accent4"/>
                          </a:solidFill>
                        </a:rPr>
                        <a:t>No GST billing, purchase orders or forecasting</a:t>
                      </a:r>
                      <a:endParaRPr lang="en-US" sz="1150" dirty="0"/>
                    </a:p>
                  </a:txBody>
                  <a:tcPr marL="91440" marR="91440" marT="36576" marB="36576" anchor="ctr">
                    <a:lnL w="6350" cap="flat" cmpd="sng" algn="ctr">
                      <a:solidFill>
                        <a:srgbClr val="D5E3DF"/>
                      </a:solidFill>
                      <a:prstDash val="solid"/>
                      <a:round/>
                      <a:headEnd type="none" w="med" len="med"/>
                      <a:tailEnd type="none" w="med" len="med"/>
                    </a:lnL>
                    <a:lnR w="6350" cap="flat" cmpd="sng" algn="ctr">
                      <a:solidFill>
                        <a:srgbClr val="D5E3DF"/>
                      </a:solidFill>
                      <a:prstDash val="solid"/>
                      <a:round/>
                      <a:headEnd type="none" w="med" len="med"/>
                      <a:tailEnd type="none" w="med" len="med"/>
                    </a:lnR>
                    <a:lnT w="6350" cap="flat" cmpd="sng" algn="ctr">
                      <a:solidFill>
                        <a:srgbClr val="D5E3DF"/>
                      </a:solidFill>
                      <a:prstDash val="solid"/>
                      <a:round/>
                      <a:headEnd type="none" w="med" len="med"/>
                      <a:tailEnd type="none" w="med" len="med"/>
                    </a:lnT>
                    <a:lnB w="6350" cap="flat" cmpd="sng" algn="ctr">
                      <a:solidFill>
                        <a:srgbClr val="D5E3DF"/>
                      </a:solidFill>
                      <a:prstDash val="solid"/>
                      <a:round/>
                      <a:headEnd type="none" w="med" len="med"/>
                      <a:tailEnd type="none" w="med" len="med"/>
                    </a:lnB>
                    <a:solidFill>
                      <a:schemeClr val="bg2"/>
                    </a:solidFill>
                  </a:tcPr>
                </a:tc>
              </a:tr>
              <a:tr h="457200">
                <a:tc>
                  <a:txBody>
                    <a:bodyPr/>
                    <a:lstStyle/>
                    <a:p>
                      <a:pPr indent="0" marL="0">
                        <a:buNone/>
                      </a:pPr>
                      <a:r>
                        <a:rPr lang="en-US" sz="1150" b="1" dirty="0">
                          <a:solidFill>
                            <a:schemeClr val="tx1"/>
                          </a:solidFill>
                        </a:rPr>
                        <a:t>[2] Lim et al., 2025 (EzStock)</a:t>
                      </a:r>
                      <a:endParaRPr lang="en-US" sz="1150" dirty="0"/>
                    </a:p>
                  </a:txBody>
                  <a:tcPr marL="91440" marR="91440" marT="36576" marB="36576" anchor="ctr">
                    <a:lnL w="6350" cap="flat" cmpd="sng" algn="ctr">
                      <a:solidFill>
                        <a:srgbClr val="D5E3DF"/>
                      </a:solidFill>
                      <a:prstDash val="solid"/>
                      <a:round/>
                      <a:headEnd type="none" w="med" len="med"/>
                      <a:tailEnd type="none" w="med" len="med"/>
                    </a:lnL>
                    <a:lnR w="6350" cap="flat" cmpd="sng" algn="ctr">
                      <a:solidFill>
                        <a:srgbClr val="D5E3DF"/>
                      </a:solidFill>
                      <a:prstDash val="solid"/>
                      <a:round/>
                      <a:headEnd type="none" w="med" len="med"/>
                      <a:tailEnd type="none" w="med" len="med"/>
                    </a:lnR>
                    <a:lnT w="6350" cap="flat" cmpd="sng" algn="ctr">
                      <a:solidFill>
                        <a:srgbClr val="D5E3DF"/>
                      </a:solidFill>
                      <a:prstDash val="solid"/>
                      <a:round/>
                      <a:headEnd type="none" w="med" len="med"/>
                      <a:tailEnd type="none" w="med" len="med"/>
                    </a:lnT>
                    <a:lnB w="6350" cap="flat" cmpd="sng" algn="ctr">
                      <a:solidFill>
                        <a:srgbClr val="D5E3DF"/>
                      </a:solidFill>
                      <a:prstDash val="solid"/>
                      <a:round/>
                      <a:headEnd type="none" w="med" len="med"/>
                      <a:tailEnd type="none" w="med" len="med"/>
                    </a:lnB>
                    <a:solidFill>
                      <a:schemeClr val="bg1"/>
                    </a:solidFill>
                  </a:tcPr>
                </a:tc>
                <a:tc>
                  <a:txBody>
                    <a:bodyPr/>
                    <a:lstStyle/>
                    <a:p>
                      <a:pPr indent="0" marL="0">
                        <a:buNone/>
                      </a:pPr>
                      <a:r>
                        <a:rPr lang="en-US" sz="1150" dirty="0">
                          <a:solidFill>
                            <a:schemeClr val="tx1"/>
                          </a:solidFill>
                        </a:rPr>
                        <a:t>Real-time stock for small businesses; 93.3% user satisfaction</a:t>
                      </a:r>
                      <a:endParaRPr lang="en-US" sz="1150" dirty="0"/>
                    </a:p>
                  </a:txBody>
                  <a:tcPr marL="91440" marR="91440" marT="36576" marB="36576" anchor="ctr">
                    <a:lnL w="6350" cap="flat" cmpd="sng" algn="ctr">
                      <a:solidFill>
                        <a:srgbClr val="D5E3DF"/>
                      </a:solidFill>
                      <a:prstDash val="solid"/>
                      <a:round/>
                      <a:headEnd type="none" w="med" len="med"/>
                      <a:tailEnd type="none" w="med" len="med"/>
                    </a:lnL>
                    <a:lnR w="6350" cap="flat" cmpd="sng" algn="ctr">
                      <a:solidFill>
                        <a:srgbClr val="D5E3DF"/>
                      </a:solidFill>
                      <a:prstDash val="solid"/>
                      <a:round/>
                      <a:headEnd type="none" w="med" len="med"/>
                      <a:tailEnd type="none" w="med" len="med"/>
                    </a:lnR>
                    <a:lnT w="6350" cap="flat" cmpd="sng" algn="ctr">
                      <a:solidFill>
                        <a:srgbClr val="D5E3DF"/>
                      </a:solidFill>
                      <a:prstDash val="solid"/>
                      <a:round/>
                      <a:headEnd type="none" w="med" len="med"/>
                      <a:tailEnd type="none" w="med" len="med"/>
                    </a:lnT>
                    <a:lnB w="6350" cap="flat" cmpd="sng" algn="ctr">
                      <a:solidFill>
                        <a:srgbClr val="D5E3DF"/>
                      </a:solidFill>
                      <a:prstDash val="solid"/>
                      <a:round/>
                      <a:headEnd type="none" w="med" len="med"/>
                      <a:tailEnd type="none" w="med" len="med"/>
                    </a:lnB>
                    <a:solidFill>
                      <a:schemeClr val="bg1"/>
                    </a:solidFill>
                  </a:tcPr>
                </a:tc>
                <a:tc>
                  <a:txBody>
                    <a:bodyPr/>
                    <a:lstStyle/>
                    <a:p>
                      <a:pPr indent="0" marL="0">
                        <a:buNone/>
                      </a:pPr>
                      <a:r>
                        <a:rPr lang="en-US" sz="1150" dirty="0">
                          <a:solidFill>
                            <a:schemeClr val="accent4"/>
                          </a:solidFill>
                        </a:rPr>
                        <a:t>No forecasting or AI restocking</a:t>
                      </a:r>
                      <a:endParaRPr lang="en-US" sz="1150" dirty="0"/>
                    </a:p>
                  </a:txBody>
                  <a:tcPr marL="91440" marR="91440" marT="36576" marB="36576" anchor="ctr">
                    <a:lnL w="6350" cap="flat" cmpd="sng" algn="ctr">
                      <a:solidFill>
                        <a:srgbClr val="D5E3DF"/>
                      </a:solidFill>
                      <a:prstDash val="solid"/>
                      <a:round/>
                      <a:headEnd type="none" w="med" len="med"/>
                      <a:tailEnd type="none" w="med" len="med"/>
                    </a:lnL>
                    <a:lnR w="6350" cap="flat" cmpd="sng" algn="ctr">
                      <a:solidFill>
                        <a:srgbClr val="D5E3DF"/>
                      </a:solidFill>
                      <a:prstDash val="solid"/>
                      <a:round/>
                      <a:headEnd type="none" w="med" len="med"/>
                      <a:tailEnd type="none" w="med" len="med"/>
                    </a:lnR>
                    <a:lnT w="6350" cap="flat" cmpd="sng" algn="ctr">
                      <a:solidFill>
                        <a:srgbClr val="D5E3DF"/>
                      </a:solidFill>
                      <a:prstDash val="solid"/>
                      <a:round/>
                      <a:headEnd type="none" w="med" len="med"/>
                      <a:tailEnd type="none" w="med" len="med"/>
                    </a:lnT>
                    <a:lnB w="6350" cap="flat" cmpd="sng" algn="ctr">
                      <a:solidFill>
                        <a:srgbClr val="D5E3DF"/>
                      </a:solidFill>
                      <a:prstDash val="solid"/>
                      <a:round/>
                      <a:headEnd type="none" w="med" len="med"/>
                      <a:tailEnd type="none" w="med" len="med"/>
                    </a:lnB>
                    <a:solidFill>
                      <a:schemeClr val="bg1"/>
                    </a:solidFill>
                  </a:tcPr>
                </a:tc>
              </a:tr>
              <a:tr h="457200">
                <a:tc>
                  <a:txBody>
                    <a:bodyPr/>
                    <a:lstStyle/>
                    <a:p>
                      <a:pPr indent="0" marL="0">
                        <a:buNone/>
                      </a:pPr>
                      <a:r>
                        <a:rPr lang="en-US" sz="1150" b="1" dirty="0">
                          <a:solidFill>
                            <a:schemeClr val="tx1"/>
                          </a:solidFill>
                        </a:rPr>
                        <a:t>[3] Phuthaikampanatpinya &amp; Dechsupa, 2023</a:t>
                      </a:r>
                      <a:endParaRPr lang="en-US" sz="1150" dirty="0"/>
                    </a:p>
                  </a:txBody>
                  <a:tcPr marL="91440" marR="91440" marT="36576" marB="36576" anchor="ctr">
                    <a:lnL w="6350" cap="flat" cmpd="sng" algn="ctr">
                      <a:solidFill>
                        <a:srgbClr val="D5E3DF"/>
                      </a:solidFill>
                      <a:prstDash val="solid"/>
                      <a:round/>
                      <a:headEnd type="none" w="med" len="med"/>
                      <a:tailEnd type="none" w="med" len="med"/>
                    </a:lnL>
                    <a:lnR w="6350" cap="flat" cmpd="sng" algn="ctr">
                      <a:solidFill>
                        <a:srgbClr val="D5E3DF"/>
                      </a:solidFill>
                      <a:prstDash val="solid"/>
                      <a:round/>
                      <a:headEnd type="none" w="med" len="med"/>
                      <a:tailEnd type="none" w="med" len="med"/>
                    </a:lnR>
                    <a:lnT w="6350" cap="flat" cmpd="sng" algn="ctr">
                      <a:solidFill>
                        <a:srgbClr val="D5E3DF"/>
                      </a:solidFill>
                      <a:prstDash val="solid"/>
                      <a:round/>
                      <a:headEnd type="none" w="med" len="med"/>
                      <a:tailEnd type="none" w="med" len="med"/>
                    </a:lnT>
                    <a:lnB w="6350" cap="flat" cmpd="sng" algn="ctr">
                      <a:solidFill>
                        <a:srgbClr val="D5E3DF"/>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Web point of sale for retail SMEs (PHP, MySQL)</a:t>
                      </a:r>
                      <a:endParaRPr lang="en-US" sz="1150" dirty="0"/>
                    </a:p>
                  </a:txBody>
                  <a:tcPr marL="91440" marR="91440" marT="36576" marB="36576" anchor="ctr">
                    <a:lnL w="6350" cap="flat" cmpd="sng" algn="ctr">
                      <a:solidFill>
                        <a:srgbClr val="D5E3DF"/>
                      </a:solidFill>
                      <a:prstDash val="solid"/>
                      <a:round/>
                      <a:headEnd type="none" w="med" len="med"/>
                      <a:tailEnd type="none" w="med" len="med"/>
                    </a:lnL>
                    <a:lnR w="6350" cap="flat" cmpd="sng" algn="ctr">
                      <a:solidFill>
                        <a:srgbClr val="D5E3DF"/>
                      </a:solidFill>
                      <a:prstDash val="solid"/>
                      <a:round/>
                      <a:headEnd type="none" w="med" len="med"/>
                      <a:tailEnd type="none" w="med" len="med"/>
                    </a:lnR>
                    <a:lnT w="6350" cap="flat" cmpd="sng" algn="ctr">
                      <a:solidFill>
                        <a:srgbClr val="D5E3DF"/>
                      </a:solidFill>
                      <a:prstDash val="solid"/>
                      <a:round/>
                      <a:headEnd type="none" w="med" len="med"/>
                      <a:tailEnd type="none" w="med" len="med"/>
                    </a:lnT>
                    <a:lnB w="6350" cap="flat" cmpd="sng" algn="ctr">
                      <a:solidFill>
                        <a:srgbClr val="D5E3DF"/>
                      </a:solidFill>
                      <a:prstDash val="solid"/>
                      <a:round/>
                      <a:headEnd type="none" w="med" len="med"/>
                      <a:tailEnd type="none" w="med" len="med"/>
                    </a:lnB>
                    <a:solidFill>
                      <a:schemeClr val="bg2"/>
                    </a:solidFill>
                  </a:tcPr>
                </a:tc>
                <a:tc>
                  <a:txBody>
                    <a:bodyPr/>
                    <a:lstStyle/>
                    <a:p>
                      <a:pPr indent="0" marL="0">
                        <a:buNone/>
                      </a:pPr>
                      <a:r>
                        <a:rPr lang="en-US" sz="1150" dirty="0">
                          <a:solidFill>
                            <a:schemeClr val="accent4"/>
                          </a:solidFill>
                        </a:rPr>
                        <a:t>No GST invoices or supplier orders</a:t>
                      </a:r>
                      <a:endParaRPr lang="en-US" sz="1150" dirty="0"/>
                    </a:p>
                  </a:txBody>
                  <a:tcPr marL="91440" marR="91440" marT="36576" marB="36576" anchor="ctr">
                    <a:lnL w="6350" cap="flat" cmpd="sng" algn="ctr">
                      <a:solidFill>
                        <a:srgbClr val="D5E3DF"/>
                      </a:solidFill>
                      <a:prstDash val="solid"/>
                      <a:round/>
                      <a:headEnd type="none" w="med" len="med"/>
                      <a:tailEnd type="none" w="med" len="med"/>
                    </a:lnL>
                    <a:lnR w="6350" cap="flat" cmpd="sng" algn="ctr">
                      <a:solidFill>
                        <a:srgbClr val="D5E3DF"/>
                      </a:solidFill>
                      <a:prstDash val="solid"/>
                      <a:round/>
                      <a:headEnd type="none" w="med" len="med"/>
                      <a:tailEnd type="none" w="med" len="med"/>
                    </a:lnR>
                    <a:lnT w="6350" cap="flat" cmpd="sng" algn="ctr">
                      <a:solidFill>
                        <a:srgbClr val="D5E3DF"/>
                      </a:solidFill>
                      <a:prstDash val="solid"/>
                      <a:round/>
                      <a:headEnd type="none" w="med" len="med"/>
                      <a:tailEnd type="none" w="med" len="med"/>
                    </a:lnT>
                    <a:lnB w="6350" cap="flat" cmpd="sng" algn="ctr">
                      <a:solidFill>
                        <a:srgbClr val="D5E3DF"/>
                      </a:solidFill>
                      <a:prstDash val="solid"/>
                      <a:round/>
                      <a:headEnd type="none" w="med" len="med"/>
                      <a:tailEnd type="none" w="med" len="med"/>
                    </a:lnB>
                    <a:solidFill>
                      <a:schemeClr val="bg2"/>
                    </a:solidFill>
                  </a:tcPr>
                </a:tc>
              </a:tr>
              <a:tr h="457200">
                <a:tc>
                  <a:txBody>
                    <a:bodyPr/>
                    <a:lstStyle/>
                    <a:p>
                      <a:pPr indent="0" marL="0">
                        <a:buNone/>
                      </a:pPr>
                      <a:r>
                        <a:rPr lang="en-US" sz="1150" b="1" dirty="0">
                          <a:solidFill>
                            <a:schemeClr val="tx1"/>
                          </a:solidFill>
                        </a:rPr>
                        <a:t>[4] Patil et al., 2022</a:t>
                      </a:r>
                      <a:endParaRPr lang="en-US" sz="1150" dirty="0"/>
                    </a:p>
                  </a:txBody>
                  <a:tcPr marL="91440" marR="91440" marT="36576" marB="36576" anchor="ctr">
                    <a:lnL w="6350" cap="flat" cmpd="sng" algn="ctr">
                      <a:solidFill>
                        <a:srgbClr val="D5E3DF"/>
                      </a:solidFill>
                      <a:prstDash val="solid"/>
                      <a:round/>
                      <a:headEnd type="none" w="med" len="med"/>
                      <a:tailEnd type="none" w="med" len="med"/>
                    </a:lnL>
                    <a:lnR w="6350" cap="flat" cmpd="sng" algn="ctr">
                      <a:solidFill>
                        <a:srgbClr val="D5E3DF"/>
                      </a:solidFill>
                      <a:prstDash val="solid"/>
                      <a:round/>
                      <a:headEnd type="none" w="med" len="med"/>
                      <a:tailEnd type="none" w="med" len="med"/>
                    </a:lnR>
                    <a:lnT w="6350" cap="flat" cmpd="sng" algn="ctr">
                      <a:solidFill>
                        <a:srgbClr val="D5E3DF"/>
                      </a:solidFill>
                      <a:prstDash val="solid"/>
                      <a:round/>
                      <a:headEnd type="none" w="med" len="med"/>
                      <a:tailEnd type="none" w="med" len="med"/>
                    </a:lnT>
                    <a:lnB w="6350" cap="flat" cmpd="sng" algn="ctr">
                      <a:solidFill>
                        <a:srgbClr val="D5E3DF"/>
                      </a:solidFill>
                      <a:prstDash val="solid"/>
                      <a:round/>
                      <a:headEnd type="none" w="med" len="med"/>
                      <a:tailEnd type="none" w="med" len="med"/>
                    </a:lnB>
                    <a:solidFill>
                      <a:schemeClr val="bg1"/>
                    </a:solidFill>
                  </a:tcPr>
                </a:tc>
                <a:tc>
                  <a:txBody>
                    <a:bodyPr/>
                    <a:lstStyle/>
                    <a:p>
                      <a:pPr indent="0" marL="0">
                        <a:buNone/>
                      </a:pPr>
                      <a:r>
                        <a:rPr lang="en-US" sz="1150" dirty="0">
                          <a:solidFill>
                            <a:schemeClr val="tx1"/>
                          </a:solidFill>
                        </a:rPr>
                        <a:t>Account, GST and inventory ERP on cloud storage</a:t>
                      </a:r>
                      <a:endParaRPr lang="en-US" sz="1150" dirty="0"/>
                    </a:p>
                  </a:txBody>
                  <a:tcPr marL="91440" marR="91440" marT="36576" marB="36576" anchor="ctr">
                    <a:lnL w="6350" cap="flat" cmpd="sng" algn="ctr">
                      <a:solidFill>
                        <a:srgbClr val="D5E3DF"/>
                      </a:solidFill>
                      <a:prstDash val="solid"/>
                      <a:round/>
                      <a:headEnd type="none" w="med" len="med"/>
                      <a:tailEnd type="none" w="med" len="med"/>
                    </a:lnL>
                    <a:lnR w="6350" cap="flat" cmpd="sng" algn="ctr">
                      <a:solidFill>
                        <a:srgbClr val="D5E3DF"/>
                      </a:solidFill>
                      <a:prstDash val="solid"/>
                      <a:round/>
                      <a:headEnd type="none" w="med" len="med"/>
                      <a:tailEnd type="none" w="med" len="med"/>
                    </a:lnR>
                    <a:lnT w="6350" cap="flat" cmpd="sng" algn="ctr">
                      <a:solidFill>
                        <a:srgbClr val="D5E3DF"/>
                      </a:solidFill>
                      <a:prstDash val="solid"/>
                      <a:round/>
                      <a:headEnd type="none" w="med" len="med"/>
                      <a:tailEnd type="none" w="med" len="med"/>
                    </a:lnT>
                    <a:lnB w="6350" cap="flat" cmpd="sng" algn="ctr">
                      <a:solidFill>
                        <a:srgbClr val="D5E3DF"/>
                      </a:solidFill>
                      <a:prstDash val="solid"/>
                      <a:round/>
                      <a:headEnd type="none" w="med" len="med"/>
                      <a:tailEnd type="none" w="med" len="med"/>
                    </a:lnB>
                    <a:solidFill>
                      <a:schemeClr val="bg1"/>
                    </a:solidFill>
                  </a:tcPr>
                </a:tc>
                <a:tc>
                  <a:txBody>
                    <a:bodyPr/>
                    <a:lstStyle/>
                    <a:p>
                      <a:pPr indent="0" marL="0">
                        <a:buNone/>
                      </a:pPr>
                      <a:r>
                        <a:rPr lang="en-US" sz="1150" dirty="0">
                          <a:solidFill>
                            <a:schemeClr val="accent4"/>
                          </a:solidFill>
                        </a:rPr>
                        <a:t>No demand forecasting or assistant</a:t>
                      </a:r>
                      <a:endParaRPr lang="en-US" sz="1150" dirty="0"/>
                    </a:p>
                  </a:txBody>
                  <a:tcPr marL="91440" marR="91440" marT="36576" marB="36576" anchor="ctr">
                    <a:lnL w="6350" cap="flat" cmpd="sng" algn="ctr">
                      <a:solidFill>
                        <a:srgbClr val="D5E3DF"/>
                      </a:solidFill>
                      <a:prstDash val="solid"/>
                      <a:round/>
                      <a:headEnd type="none" w="med" len="med"/>
                      <a:tailEnd type="none" w="med" len="med"/>
                    </a:lnL>
                    <a:lnR w="6350" cap="flat" cmpd="sng" algn="ctr">
                      <a:solidFill>
                        <a:srgbClr val="D5E3DF"/>
                      </a:solidFill>
                      <a:prstDash val="solid"/>
                      <a:round/>
                      <a:headEnd type="none" w="med" len="med"/>
                      <a:tailEnd type="none" w="med" len="med"/>
                    </a:lnR>
                    <a:lnT w="6350" cap="flat" cmpd="sng" algn="ctr">
                      <a:solidFill>
                        <a:srgbClr val="D5E3DF"/>
                      </a:solidFill>
                      <a:prstDash val="solid"/>
                      <a:round/>
                      <a:headEnd type="none" w="med" len="med"/>
                      <a:tailEnd type="none" w="med" len="med"/>
                    </a:lnT>
                    <a:lnB w="6350" cap="flat" cmpd="sng" algn="ctr">
                      <a:solidFill>
                        <a:srgbClr val="D5E3DF"/>
                      </a:solidFill>
                      <a:prstDash val="solid"/>
                      <a:round/>
                      <a:headEnd type="none" w="med" len="med"/>
                      <a:tailEnd type="none" w="med" len="med"/>
                    </a:lnB>
                    <a:solidFill>
                      <a:schemeClr val="bg1"/>
                    </a:solidFill>
                  </a:tcPr>
                </a:tc>
              </a:tr>
              <a:tr h="457200">
                <a:tc>
                  <a:txBody>
                    <a:bodyPr/>
                    <a:lstStyle/>
                    <a:p>
                      <a:pPr indent="0" marL="0">
                        <a:buNone/>
                      </a:pPr>
                      <a:r>
                        <a:rPr lang="en-US" sz="1150" b="1" dirty="0">
                          <a:solidFill>
                            <a:schemeClr val="tx1"/>
                          </a:solidFill>
                        </a:rPr>
                        <a:t>[5] Nasseri et al., 2023</a:t>
                      </a:r>
                      <a:endParaRPr lang="en-US" sz="1150" dirty="0"/>
                    </a:p>
                  </a:txBody>
                  <a:tcPr marL="91440" marR="91440" marT="36576" marB="36576" anchor="ctr">
                    <a:lnL w="6350" cap="flat" cmpd="sng" algn="ctr">
                      <a:solidFill>
                        <a:srgbClr val="D5E3DF"/>
                      </a:solidFill>
                      <a:prstDash val="solid"/>
                      <a:round/>
                      <a:headEnd type="none" w="med" len="med"/>
                      <a:tailEnd type="none" w="med" len="med"/>
                    </a:lnL>
                    <a:lnR w="6350" cap="flat" cmpd="sng" algn="ctr">
                      <a:solidFill>
                        <a:srgbClr val="D5E3DF"/>
                      </a:solidFill>
                      <a:prstDash val="solid"/>
                      <a:round/>
                      <a:headEnd type="none" w="med" len="med"/>
                      <a:tailEnd type="none" w="med" len="med"/>
                    </a:lnR>
                    <a:lnT w="6350" cap="flat" cmpd="sng" algn="ctr">
                      <a:solidFill>
                        <a:srgbClr val="D5E3DF"/>
                      </a:solidFill>
                      <a:prstDash val="solid"/>
                      <a:round/>
                      <a:headEnd type="none" w="med" len="med"/>
                      <a:tailEnd type="none" w="med" len="med"/>
                    </a:lnT>
                    <a:lnB w="6350" cap="flat" cmpd="sng" algn="ctr">
                      <a:solidFill>
                        <a:srgbClr val="D5E3DF"/>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Tree ensembles beat LSTM for retail demand prediction</a:t>
                      </a:r>
                      <a:endParaRPr lang="en-US" sz="1150" dirty="0"/>
                    </a:p>
                  </a:txBody>
                  <a:tcPr marL="91440" marR="91440" marT="36576" marB="36576" anchor="ctr">
                    <a:lnL w="6350" cap="flat" cmpd="sng" algn="ctr">
                      <a:solidFill>
                        <a:srgbClr val="D5E3DF"/>
                      </a:solidFill>
                      <a:prstDash val="solid"/>
                      <a:round/>
                      <a:headEnd type="none" w="med" len="med"/>
                      <a:tailEnd type="none" w="med" len="med"/>
                    </a:lnL>
                    <a:lnR w="6350" cap="flat" cmpd="sng" algn="ctr">
                      <a:solidFill>
                        <a:srgbClr val="D5E3DF"/>
                      </a:solidFill>
                      <a:prstDash val="solid"/>
                      <a:round/>
                      <a:headEnd type="none" w="med" len="med"/>
                      <a:tailEnd type="none" w="med" len="med"/>
                    </a:lnR>
                    <a:lnT w="6350" cap="flat" cmpd="sng" algn="ctr">
                      <a:solidFill>
                        <a:srgbClr val="D5E3DF"/>
                      </a:solidFill>
                      <a:prstDash val="solid"/>
                      <a:round/>
                      <a:headEnd type="none" w="med" len="med"/>
                      <a:tailEnd type="none" w="med" len="med"/>
                    </a:lnT>
                    <a:lnB w="6350" cap="flat" cmpd="sng" algn="ctr">
                      <a:solidFill>
                        <a:srgbClr val="D5E3DF"/>
                      </a:solidFill>
                      <a:prstDash val="solid"/>
                      <a:round/>
                      <a:headEnd type="none" w="med" len="med"/>
                      <a:tailEnd type="none" w="med" len="med"/>
                    </a:lnB>
                    <a:solidFill>
                      <a:schemeClr val="bg2"/>
                    </a:solidFill>
                  </a:tcPr>
                </a:tc>
                <a:tc>
                  <a:txBody>
                    <a:bodyPr/>
                    <a:lstStyle/>
                    <a:p>
                      <a:pPr indent="0" marL="0">
                        <a:buNone/>
                      </a:pPr>
                      <a:r>
                        <a:rPr lang="en-US" sz="1150" dirty="0">
                          <a:solidFill>
                            <a:schemeClr val="accent4"/>
                          </a:solidFill>
                        </a:rPr>
                        <a:t>Forecasting only; not linked to ordering</a:t>
                      </a:r>
                      <a:endParaRPr lang="en-US" sz="1150" dirty="0"/>
                    </a:p>
                  </a:txBody>
                  <a:tcPr marL="91440" marR="91440" marT="36576" marB="36576" anchor="ctr">
                    <a:lnL w="6350" cap="flat" cmpd="sng" algn="ctr">
                      <a:solidFill>
                        <a:srgbClr val="D5E3DF"/>
                      </a:solidFill>
                      <a:prstDash val="solid"/>
                      <a:round/>
                      <a:headEnd type="none" w="med" len="med"/>
                      <a:tailEnd type="none" w="med" len="med"/>
                    </a:lnL>
                    <a:lnR w="6350" cap="flat" cmpd="sng" algn="ctr">
                      <a:solidFill>
                        <a:srgbClr val="D5E3DF"/>
                      </a:solidFill>
                      <a:prstDash val="solid"/>
                      <a:round/>
                      <a:headEnd type="none" w="med" len="med"/>
                      <a:tailEnd type="none" w="med" len="med"/>
                    </a:lnR>
                    <a:lnT w="6350" cap="flat" cmpd="sng" algn="ctr">
                      <a:solidFill>
                        <a:srgbClr val="D5E3DF"/>
                      </a:solidFill>
                      <a:prstDash val="solid"/>
                      <a:round/>
                      <a:headEnd type="none" w="med" len="med"/>
                      <a:tailEnd type="none" w="med" len="med"/>
                    </a:lnT>
                    <a:lnB w="6350" cap="flat" cmpd="sng" algn="ctr">
                      <a:solidFill>
                        <a:srgbClr val="D5E3DF"/>
                      </a:solidFill>
                      <a:prstDash val="solid"/>
                      <a:round/>
                      <a:headEnd type="none" w="med" len="med"/>
                      <a:tailEnd type="none" w="med" len="med"/>
                    </a:lnB>
                    <a:solidFill>
                      <a:schemeClr val="bg2"/>
                    </a:solidFill>
                  </a:tcPr>
                </a:tc>
              </a:tr>
            </a:tbl>
          </a:graphicData>
        </a:graphic>
      </p:graphicFrame>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Eyebrow"/>
          <p:cNvSpPr txBox="1"/>
          <p:nvPr/>
        </p:nvSpPr>
        <p:spPr>
          <a:xfrm>
            <a:off x="457200" y="274320"/>
            <a:ext cx="5486400" cy="256032"/>
          </a:xfrm>
          <a:prstGeom prst="rect">
            <a:avLst/>
          </a:prstGeom>
          <a:noFill/>
          <a:ln/>
        </p:spPr>
        <p:txBody>
          <a:bodyPr wrap="square" lIns="0" tIns="0" rIns="0" bIns="0" rtlCol="0" anchor="ctr"/>
          <a:lstStyle/>
          <a:p>
            <a:pPr indent="0" marL="0">
              <a:buNone/>
            </a:pPr>
            <a:r>
              <a:rPr lang="en-US" sz="1100" b="1" spc="200" kern="0" dirty="0">
                <a:solidFill>
                  <a:schemeClr val="accent1"/>
                </a:solidFill>
              </a:rPr>
              <a:t>06 · LITERATURE REVIEW</a:t>
            </a:r>
            <a:endParaRPr lang="en-US" sz="1100" dirty="0"/>
          </a:p>
        </p:txBody>
      </p:sp>
      <p:sp>
        <p:nvSpPr>
          <p:cNvPr id="3" name="Text 0"/>
          <p:cNvSpPr/>
          <p:nvPr>
            <p:ph idx="100" type="title" hasCustomPrompt="1"/>
          </p:nvPr>
        </p:nvSpPr>
        <p:spPr>
          <a:xfrm>
            <a:off x="457200" y="502920"/>
            <a:ext cx="6400800" cy="640080"/>
          </a:xfrm>
          <a:prstGeom prst="rect">
            <a:avLst/>
          </a:prstGeom>
          <a:noFill/>
          <a:ln/>
        </p:spPr>
        <p:txBody>
          <a:bodyPr wrap="square" lIns="0" tIns="0" rIns="0" bIns="0" rtlCol="0" anchor="ctr"/>
          <a:lstStyle/>
          <a:p>
            <a:pPr algn="l" indent="0" marL="0">
              <a:buNone/>
            </a:pPr>
            <a:r>
              <a:rPr lang="en-US" sz="3400" b="1" dirty="0">
                <a:solidFill>
                  <a:schemeClr val="tx2"/>
                </a:solidFill>
                <a:latin typeface="Cambria" pitchFamily="34" charset="0"/>
                <a:ea typeface="Cambria" pitchFamily="34" charset="-122"/>
                <a:cs typeface="Cambria" pitchFamily="34" charset="-120"/>
              </a:rPr>
              <a:t>Literature Review</a:t>
            </a:r>
            <a:endParaRPr lang="en-US" sz="3400" dirty="0"/>
          </a:p>
        </p:txBody>
      </p:sp>
      <p:sp>
        <p:nvSpPr>
          <p:cNvPr id="4" name="Papers chip"/>
          <p:cNvSpPr/>
          <p:nvPr/>
        </p:nvSpPr>
        <p:spPr>
          <a:xfrm>
            <a:off x="6720840" y="658368"/>
            <a:ext cx="1965960" cy="329184"/>
          </a:xfrm>
          <a:prstGeom prst="roundRect">
            <a:avLst>
              <a:gd name="adj" fmla="val 50000"/>
            </a:avLst>
          </a:prstGeom>
          <a:solidFill>
            <a:schemeClr val="bg2"/>
          </a:solidFill>
          <a:ln/>
        </p:spPr>
      </p:sp>
      <p:sp>
        <p:nvSpPr>
          <p:cNvPr id="5" name="Papers chip text"/>
          <p:cNvSpPr txBox="1"/>
          <p:nvPr/>
        </p:nvSpPr>
        <p:spPr>
          <a:xfrm>
            <a:off x="6720840" y="658368"/>
            <a:ext cx="1965960" cy="329184"/>
          </a:xfrm>
          <a:prstGeom prst="rect">
            <a:avLst/>
          </a:prstGeom>
          <a:noFill/>
          <a:ln/>
        </p:spPr>
        <p:txBody>
          <a:bodyPr wrap="square" lIns="0" tIns="0" rIns="0" bIns="0" rtlCol="0" anchor="ctr"/>
          <a:lstStyle/>
          <a:p>
            <a:pPr algn="ctr" indent="0" marL="0">
              <a:buNone/>
            </a:pPr>
            <a:r>
              <a:rPr lang="en-US" sz="1100" b="1" dirty="0">
                <a:solidFill>
                  <a:schemeClr val="accent1"/>
                </a:solidFill>
              </a:rPr>
              <a:t>Papers 6–10 of 10</a:t>
            </a:r>
            <a:endParaRPr lang="en-US" sz="1100" dirty="0"/>
          </a:p>
        </p:txBody>
      </p:sp>
      <p:graphicFrame>
        <p:nvGraphicFramePr>
          <p:cNvPr id="11" name="Literature table"/>
          <p:cNvGraphicFramePr>
            <a:graphicFrameLocks noGrp="1"/>
          </p:cNvGraphicFramePr>
          <p:nvPr>
            <p:extLst>
              <p:ext uri="{D42A27DB-BD31-4B8C-83A1-F6EECF244321}">
                <p14:modId xmlns:p14="http://schemas.microsoft.com/office/powerpoint/2010/main" val="1579011935"/>
              </p:ext>
            </p:extLst>
          </p:nvPr>
        </p:nvGraphicFramePr>
        <p:xfrm>
          <a:off x="457200" y="1325880"/>
          <a:ext cx="8229600" cy="914400"/>
        </p:xfrm>
        <a:graphic>
          <a:graphicData uri="http://schemas.openxmlformats.org/drawingml/2006/table">
            <a:tbl>
              <a:tblPr/>
              <a:tblGrid>
                <a:gridCol w="2514600"/>
                <a:gridCol w="3246120"/>
                <a:gridCol w="2468880"/>
              </a:tblGrid>
              <a:tr h="457200">
                <a:tc>
                  <a:txBody>
                    <a:bodyPr/>
                    <a:lstStyle/>
                    <a:p>
                      <a:pPr indent="0" marL="0">
                        <a:buNone/>
                      </a:pPr>
                      <a:r>
                        <a:rPr lang="en-US" sz="1200" b="1" dirty="0">
                          <a:solidFill>
                            <a:schemeClr val="bg1"/>
                          </a:solidFill>
                        </a:rPr>
                        <a:t>Study</a:t>
                      </a:r>
                      <a:endParaRPr lang="en-US" sz="1200" dirty="0"/>
                    </a:p>
                  </a:txBody>
                  <a:tcPr marL="91440" marR="91440" marT="36576" marB="36576" anchor="ctr">
                    <a:lnL w="6350" cap="flat" cmpd="sng" algn="ctr">
                      <a:solidFill>
                        <a:srgbClr val="D5E3DF"/>
                      </a:solidFill>
                      <a:prstDash val="solid"/>
                      <a:round/>
                      <a:headEnd type="none" w="med" len="med"/>
                      <a:tailEnd type="none" w="med" len="med"/>
                    </a:lnL>
                    <a:lnR w="6350" cap="flat" cmpd="sng" algn="ctr">
                      <a:solidFill>
                        <a:srgbClr val="D5E3DF"/>
                      </a:solidFill>
                      <a:prstDash val="solid"/>
                      <a:round/>
                      <a:headEnd type="none" w="med" len="med"/>
                      <a:tailEnd type="none" w="med" len="med"/>
                    </a:lnR>
                    <a:lnT w="6350" cap="flat" cmpd="sng" algn="ctr">
                      <a:solidFill>
                        <a:srgbClr val="D5E3DF"/>
                      </a:solidFill>
                      <a:prstDash val="solid"/>
                      <a:round/>
                      <a:headEnd type="none" w="med" len="med"/>
                      <a:tailEnd type="none" w="med" len="med"/>
                    </a:lnT>
                    <a:lnB w="6350" cap="flat" cmpd="sng" algn="ctr">
                      <a:solidFill>
                        <a:srgbClr val="D5E3DF"/>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What it offers</a:t>
                      </a:r>
                      <a:endParaRPr lang="en-US" sz="1200" dirty="0"/>
                    </a:p>
                  </a:txBody>
                  <a:tcPr marL="91440" marR="91440" marT="36576" marB="36576" anchor="ctr">
                    <a:lnL w="6350" cap="flat" cmpd="sng" algn="ctr">
                      <a:solidFill>
                        <a:srgbClr val="D5E3DF"/>
                      </a:solidFill>
                      <a:prstDash val="solid"/>
                      <a:round/>
                      <a:headEnd type="none" w="med" len="med"/>
                      <a:tailEnd type="none" w="med" len="med"/>
                    </a:lnL>
                    <a:lnR w="6350" cap="flat" cmpd="sng" algn="ctr">
                      <a:solidFill>
                        <a:srgbClr val="D5E3DF"/>
                      </a:solidFill>
                      <a:prstDash val="solid"/>
                      <a:round/>
                      <a:headEnd type="none" w="med" len="med"/>
                      <a:tailEnd type="none" w="med" len="med"/>
                    </a:lnR>
                    <a:lnT w="6350" cap="flat" cmpd="sng" algn="ctr">
                      <a:solidFill>
                        <a:srgbClr val="D5E3DF"/>
                      </a:solidFill>
                      <a:prstDash val="solid"/>
                      <a:round/>
                      <a:headEnd type="none" w="med" len="med"/>
                      <a:tailEnd type="none" w="med" len="med"/>
                    </a:lnT>
                    <a:lnB w="6350" cap="flat" cmpd="sng" algn="ctr">
                      <a:solidFill>
                        <a:srgbClr val="D5E3DF"/>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What is missing</a:t>
                      </a:r>
                      <a:endParaRPr lang="en-US" sz="1200" dirty="0"/>
                    </a:p>
                  </a:txBody>
                  <a:tcPr marL="91440" marR="91440" marT="36576" marB="36576" anchor="ctr">
                    <a:lnL w="6350" cap="flat" cmpd="sng" algn="ctr">
                      <a:solidFill>
                        <a:srgbClr val="D5E3DF"/>
                      </a:solidFill>
                      <a:prstDash val="solid"/>
                      <a:round/>
                      <a:headEnd type="none" w="med" len="med"/>
                      <a:tailEnd type="none" w="med" len="med"/>
                    </a:lnL>
                    <a:lnR w="6350" cap="flat" cmpd="sng" algn="ctr">
                      <a:solidFill>
                        <a:srgbClr val="D5E3DF"/>
                      </a:solidFill>
                      <a:prstDash val="solid"/>
                      <a:round/>
                      <a:headEnd type="none" w="med" len="med"/>
                      <a:tailEnd type="none" w="med" len="med"/>
                    </a:lnR>
                    <a:lnT w="6350" cap="flat" cmpd="sng" algn="ctr">
                      <a:solidFill>
                        <a:srgbClr val="D5E3DF"/>
                      </a:solidFill>
                      <a:prstDash val="solid"/>
                      <a:round/>
                      <a:headEnd type="none" w="med" len="med"/>
                      <a:tailEnd type="none" w="med" len="med"/>
                    </a:lnT>
                    <a:lnB w="6350" cap="flat" cmpd="sng" algn="ctr">
                      <a:solidFill>
                        <a:srgbClr val="D5E3DF"/>
                      </a:solidFill>
                      <a:prstDash val="solid"/>
                      <a:round/>
                      <a:headEnd type="none" w="med" len="med"/>
                      <a:tailEnd type="none" w="med" len="med"/>
                    </a:lnB>
                    <a:solidFill>
                      <a:schemeClr val="tx2"/>
                    </a:solidFill>
                  </a:tcPr>
                </a:tc>
              </a:tr>
              <a:tr h="457200">
                <a:tc>
                  <a:txBody>
                    <a:bodyPr/>
                    <a:lstStyle/>
                    <a:p>
                      <a:pPr indent="0" marL="0">
                        <a:buNone/>
                      </a:pPr>
                      <a:r>
                        <a:rPr lang="en-US" sz="1150" b="1" dirty="0">
                          <a:solidFill>
                            <a:schemeClr val="tx1"/>
                          </a:solidFill>
                        </a:rPr>
                        <a:t>[6] Pasupuleti et al., 2024</a:t>
                      </a:r>
                      <a:endParaRPr lang="en-US" sz="1150" dirty="0"/>
                    </a:p>
                  </a:txBody>
                  <a:tcPr marL="91440" marR="91440" marT="36576" marB="36576" anchor="ctr">
                    <a:lnL w="6350" cap="flat" cmpd="sng" algn="ctr">
                      <a:solidFill>
                        <a:srgbClr val="D5E3DF"/>
                      </a:solidFill>
                      <a:prstDash val="solid"/>
                      <a:round/>
                      <a:headEnd type="none" w="med" len="med"/>
                      <a:tailEnd type="none" w="med" len="med"/>
                    </a:lnL>
                    <a:lnR w="6350" cap="flat" cmpd="sng" algn="ctr">
                      <a:solidFill>
                        <a:srgbClr val="D5E3DF"/>
                      </a:solidFill>
                      <a:prstDash val="solid"/>
                      <a:round/>
                      <a:headEnd type="none" w="med" len="med"/>
                      <a:tailEnd type="none" w="med" len="med"/>
                    </a:lnR>
                    <a:lnT w="6350" cap="flat" cmpd="sng" algn="ctr">
                      <a:solidFill>
                        <a:srgbClr val="D5E3DF"/>
                      </a:solidFill>
                      <a:prstDash val="solid"/>
                      <a:round/>
                      <a:headEnd type="none" w="med" len="med"/>
                      <a:tailEnd type="none" w="med" len="med"/>
                    </a:lnT>
                    <a:lnB w="6350" cap="flat" cmpd="sng" algn="ctr">
                      <a:solidFill>
                        <a:srgbClr val="D5E3DF"/>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Machine learning for logistics and inventory at a multinational retailer</a:t>
                      </a:r>
                      <a:endParaRPr lang="en-US" sz="1150" dirty="0"/>
                    </a:p>
                  </a:txBody>
                  <a:tcPr marL="91440" marR="91440" marT="36576" marB="36576" anchor="ctr">
                    <a:lnL w="6350" cap="flat" cmpd="sng" algn="ctr">
                      <a:solidFill>
                        <a:srgbClr val="D5E3DF"/>
                      </a:solidFill>
                      <a:prstDash val="solid"/>
                      <a:round/>
                      <a:headEnd type="none" w="med" len="med"/>
                      <a:tailEnd type="none" w="med" len="med"/>
                    </a:lnL>
                    <a:lnR w="6350" cap="flat" cmpd="sng" algn="ctr">
                      <a:solidFill>
                        <a:srgbClr val="D5E3DF"/>
                      </a:solidFill>
                      <a:prstDash val="solid"/>
                      <a:round/>
                      <a:headEnd type="none" w="med" len="med"/>
                      <a:tailEnd type="none" w="med" len="med"/>
                    </a:lnR>
                    <a:lnT w="6350" cap="flat" cmpd="sng" algn="ctr">
                      <a:solidFill>
                        <a:srgbClr val="D5E3DF"/>
                      </a:solidFill>
                      <a:prstDash val="solid"/>
                      <a:round/>
                      <a:headEnd type="none" w="med" len="med"/>
                      <a:tailEnd type="none" w="med" len="med"/>
                    </a:lnT>
                    <a:lnB w="6350" cap="flat" cmpd="sng" algn="ctr">
                      <a:solidFill>
                        <a:srgbClr val="D5E3DF"/>
                      </a:solidFill>
                      <a:prstDash val="solid"/>
                      <a:round/>
                      <a:headEnd type="none" w="med" len="med"/>
                      <a:tailEnd type="none" w="med" len="med"/>
                    </a:lnB>
                    <a:solidFill>
                      <a:schemeClr val="bg2"/>
                    </a:solidFill>
                  </a:tcPr>
                </a:tc>
                <a:tc>
                  <a:txBody>
                    <a:bodyPr/>
                    <a:lstStyle/>
                    <a:p>
                      <a:pPr indent="0" marL="0">
                        <a:buNone/>
                      </a:pPr>
                      <a:r>
                        <a:rPr lang="en-US" sz="1150" dirty="0">
                          <a:solidFill>
                            <a:schemeClr val="accent4"/>
                          </a:solidFill>
                        </a:rPr>
                        <a:t>Large retailer; owner does not confirm orders</a:t>
                      </a:r>
                      <a:endParaRPr lang="en-US" sz="1150" dirty="0"/>
                    </a:p>
                  </a:txBody>
                  <a:tcPr marL="91440" marR="91440" marT="36576" marB="36576" anchor="ctr">
                    <a:lnL w="6350" cap="flat" cmpd="sng" algn="ctr">
                      <a:solidFill>
                        <a:srgbClr val="D5E3DF"/>
                      </a:solidFill>
                      <a:prstDash val="solid"/>
                      <a:round/>
                      <a:headEnd type="none" w="med" len="med"/>
                      <a:tailEnd type="none" w="med" len="med"/>
                    </a:lnL>
                    <a:lnR w="6350" cap="flat" cmpd="sng" algn="ctr">
                      <a:solidFill>
                        <a:srgbClr val="D5E3DF"/>
                      </a:solidFill>
                      <a:prstDash val="solid"/>
                      <a:round/>
                      <a:headEnd type="none" w="med" len="med"/>
                      <a:tailEnd type="none" w="med" len="med"/>
                    </a:lnR>
                    <a:lnT w="6350" cap="flat" cmpd="sng" algn="ctr">
                      <a:solidFill>
                        <a:srgbClr val="D5E3DF"/>
                      </a:solidFill>
                      <a:prstDash val="solid"/>
                      <a:round/>
                      <a:headEnd type="none" w="med" len="med"/>
                      <a:tailEnd type="none" w="med" len="med"/>
                    </a:lnT>
                    <a:lnB w="6350" cap="flat" cmpd="sng" algn="ctr">
                      <a:solidFill>
                        <a:srgbClr val="D5E3DF"/>
                      </a:solidFill>
                      <a:prstDash val="solid"/>
                      <a:round/>
                      <a:headEnd type="none" w="med" len="med"/>
                      <a:tailEnd type="none" w="med" len="med"/>
                    </a:lnB>
                    <a:solidFill>
                      <a:schemeClr val="bg2"/>
                    </a:solidFill>
                  </a:tcPr>
                </a:tc>
              </a:tr>
              <a:tr h="457200">
                <a:tc>
                  <a:txBody>
                    <a:bodyPr/>
                    <a:lstStyle/>
                    <a:p>
                      <a:pPr indent="0" marL="0">
                        <a:buNone/>
                      </a:pPr>
                      <a:r>
                        <a:rPr lang="en-US" sz="1150" b="1" dirty="0">
                          <a:solidFill>
                            <a:schemeClr val="tx1"/>
                          </a:solidFill>
                        </a:rPr>
                        <a:t>[7] Boute et al., 2022</a:t>
                      </a:r>
                      <a:endParaRPr lang="en-US" sz="1150" dirty="0"/>
                    </a:p>
                  </a:txBody>
                  <a:tcPr marL="91440" marR="91440" marT="36576" marB="36576" anchor="ctr">
                    <a:lnL w="6350" cap="flat" cmpd="sng" algn="ctr">
                      <a:solidFill>
                        <a:srgbClr val="D5E3DF"/>
                      </a:solidFill>
                      <a:prstDash val="solid"/>
                      <a:round/>
                      <a:headEnd type="none" w="med" len="med"/>
                      <a:tailEnd type="none" w="med" len="med"/>
                    </a:lnL>
                    <a:lnR w="6350" cap="flat" cmpd="sng" algn="ctr">
                      <a:solidFill>
                        <a:srgbClr val="D5E3DF"/>
                      </a:solidFill>
                      <a:prstDash val="solid"/>
                      <a:round/>
                      <a:headEnd type="none" w="med" len="med"/>
                      <a:tailEnd type="none" w="med" len="med"/>
                    </a:lnR>
                    <a:lnT w="6350" cap="flat" cmpd="sng" algn="ctr">
                      <a:solidFill>
                        <a:srgbClr val="D5E3DF"/>
                      </a:solidFill>
                      <a:prstDash val="solid"/>
                      <a:round/>
                      <a:headEnd type="none" w="med" len="med"/>
                      <a:tailEnd type="none" w="med" len="med"/>
                    </a:lnT>
                    <a:lnB w="6350" cap="flat" cmpd="sng" algn="ctr">
                      <a:solidFill>
                        <a:srgbClr val="D5E3DF"/>
                      </a:solidFill>
                      <a:prstDash val="solid"/>
                      <a:round/>
                      <a:headEnd type="none" w="med" len="med"/>
                      <a:tailEnd type="none" w="med" len="med"/>
                    </a:lnB>
                    <a:solidFill>
                      <a:schemeClr val="bg1"/>
                    </a:solidFill>
                  </a:tcPr>
                </a:tc>
                <a:tc>
                  <a:txBody>
                    <a:bodyPr/>
                    <a:lstStyle/>
                    <a:p>
                      <a:pPr indent="0" marL="0">
                        <a:buNone/>
                      </a:pPr>
                      <a:r>
                        <a:rPr lang="en-US" sz="1150" dirty="0">
                          <a:solidFill>
                            <a:schemeClr val="tx1"/>
                          </a:solidFill>
                        </a:rPr>
                        <a:t>Roadmap for deep reinforcement learning in inventory control</a:t>
                      </a:r>
                      <a:endParaRPr lang="en-US" sz="1150" dirty="0"/>
                    </a:p>
                  </a:txBody>
                  <a:tcPr marL="91440" marR="91440" marT="36576" marB="36576" anchor="ctr">
                    <a:lnL w="6350" cap="flat" cmpd="sng" algn="ctr">
                      <a:solidFill>
                        <a:srgbClr val="D5E3DF"/>
                      </a:solidFill>
                      <a:prstDash val="solid"/>
                      <a:round/>
                      <a:headEnd type="none" w="med" len="med"/>
                      <a:tailEnd type="none" w="med" len="med"/>
                    </a:lnL>
                    <a:lnR w="6350" cap="flat" cmpd="sng" algn="ctr">
                      <a:solidFill>
                        <a:srgbClr val="D5E3DF"/>
                      </a:solidFill>
                      <a:prstDash val="solid"/>
                      <a:round/>
                      <a:headEnd type="none" w="med" len="med"/>
                      <a:tailEnd type="none" w="med" len="med"/>
                    </a:lnR>
                    <a:lnT w="6350" cap="flat" cmpd="sng" algn="ctr">
                      <a:solidFill>
                        <a:srgbClr val="D5E3DF"/>
                      </a:solidFill>
                      <a:prstDash val="solid"/>
                      <a:round/>
                      <a:headEnd type="none" w="med" len="med"/>
                      <a:tailEnd type="none" w="med" len="med"/>
                    </a:lnT>
                    <a:lnB w="6350" cap="flat" cmpd="sng" algn="ctr">
                      <a:solidFill>
                        <a:srgbClr val="D5E3DF"/>
                      </a:solidFill>
                      <a:prstDash val="solid"/>
                      <a:round/>
                      <a:headEnd type="none" w="med" len="med"/>
                      <a:tailEnd type="none" w="med" len="med"/>
                    </a:lnB>
                    <a:solidFill>
                      <a:schemeClr val="bg1"/>
                    </a:solidFill>
                  </a:tcPr>
                </a:tc>
                <a:tc>
                  <a:txBody>
                    <a:bodyPr/>
                    <a:lstStyle/>
                    <a:p>
                      <a:pPr indent="0" marL="0">
                        <a:buNone/>
                      </a:pPr>
                      <a:r>
                        <a:rPr lang="en-US" sz="1150" dirty="0">
                          <a:solidFill>
                            <a:schemeClr val="accent4"/>
                          </a:solidFill>
                        </a:rPr>
                        <a:t>Fully automatic; hard to tune and to trust</a:t>
                      </a:r>
                      <a:endParaRPr lang="en-US" sz="1150" dirty="0"/>
                    </a:p>
                  </a:txBody>
                  <a:tcPr marL="91440" marR="91440" marT="36576" marB="36576" anchor="ctr">
                    <a:lnL w="6350" cap="flat" cmpd="sng" algn="ctr">
                      <a:solidFill>
                        <a:srgbClr val="D5E3DF"/>
                      </a:solidFill>
                      <a:prstDash val="solid"/>
                      <a:round/>
                      <a:headEnd type="none" w="med" len="med"/>
                      <a:tailEnd type="none" w="med" len="med"/>
                    </a:lnL>
                    <a:lnR w="6350" cap="flat" cmpd="sng" algn="ctr">
                      <a:solidFill>
                        <a:srgbClr val="D5E3DF"/>
                      </a:solidFill>
                      <a:prstDash val="solid"/>
                      <a:round/>
                      <a:headEnd type="none" w="med" len="med"/>
                      <a:tailEnd type="none" w="med" len="med"/>
                    </a:lnR>
                    <a:lnT w="6350" cap="flat" cmpd="sng" algn="ctr">
                      <a:solidFill>
                        <a:srgbClr val="D5E3DF"/>
                      </a:solidFill>
                      <a:prstDash val="solid"/>
                      <a:round/>
                      <a:headEnd type="none" w="med" len="med"/>
                      <a:tailEnd type="none" w="med" len="med"/>
                    </a:lnT>
                    <a:lnB w="6350" cap="flat" cmpd="sng" algn="ctr">
                      <a:solidFill>
                        <a:srgbClr val="D5E3DF"/>
                      </a:solidFill>
                      <a:prstDash val="solid"/>
                      <a:round/>
                      <a:headEnd type="none" w="med" len="med"/>
                      <a:tailEnd type="none" w="med" len="med"/>
                    </a:lnB>
                    <a:solidFill>
                      <a:schemeClr val="bg1"/>
                    </a:solidFill>
                  </a:tcPr>
                </a:tc>
              </a:tr>
              <a:tr h="457200">
                <a:tc>
                  <a:txBody>
                    <a:bodyPr/>
                    <a:lstStyle/>
                    <a:p>
                      <a:pPr indent="0" marL="0">
                        <a:buNone/>
                      </a:pPr>
                      <a:r>
                        <a:rPr lang="en-US" sz="1150" b="1" dirty="0">
                          <a:solidFill>
                            <a:schemeClr val="tx1"/>
                          </a:solidFill>
                        </a:rPr>
                        <a:t>[8] Shi et al., 2025</a:t>
                      </a:r>
                      <a:endParaRPr lang="en-US" sz="1150" dirty="0"/>
                    </a:p>
                  </a:txBody>
                  <a:tcPr marL="91440" marR="91440" marT="36576" marB="36576" anchor="ctr">
                    <a:lnL w="6350" cap="flat" cmpd="sng" algn="ctr">
                      <a:solidFill>
                        <a:srgbClr val="D5E3DF"/>
                      </a:solidFill>
                      <a:prstDash val="solid"/>
                      <a:round/>
                      <a:headEnd type="none" w="med" len="med"/>
                      <a:tailEnd type="none" w="med" len="med"/>
                    </a:lnL>
                    <a:lnR w="6350" cap="flat" cmpd="sng" algn="ctr">
                      <a:solidFill>
                        <a:srgbClr val="D5E3DF"/>
                      </a:solidFill>
                      <a:prstDash val="solid"/>
                      <a:round/>
                      <a:headEnd type="none" w="med" len="med"/>
                      <a:tailEnd type="none" w="med" len="med"/>
                    </a:lnR>
                    <a:lnT w="6350" cap="flat" cmpd="sng" algn="ctr">
                      <a:solidFill>
                        <a:srgbClr val="D5E3DF"/>
                      </a:solidFill>
                      <a:prstDash val="solid"/>
                      <a:round/>
                      <a:headEnd type="none" w="med" len="med"/>
                      <a:tailEnd type="none" w="med" len="med"/>
                    </a:lnT>
                    <a:lnB w="6350" cap="flat" cmpd="sng" algn="ctr">
                      <a:solidFill>
                        <a:srgbClr val="D5E3DF"/>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Survey of large language models for text-to-SQL</a:t>
                      </a:r>
                      <a:endParaRPr lang="en-US" sz="1150" dirty="0"/>
                    </a:p>
                  </a:txBody>
                  <a:tcPr marL="91440" marR="91440" marT="36576" marB="36576" anchor="ctr">
                    <a:lnL w="6350" cap="flat" cmpd="sng" algn="ctr">
                      <a:solidFill>
                        <a:srgbClr val="D5E3DF"/>
                      </a:solidFill>
                      <a:prstDash val="solid"/>
                      <a:round/>
                      <a:headEnd type="none" w="med" len="med"/>
                      <a:tailEnd type="none" w="med" len="med"/>
                    </a:lnL>
                    <a:lnR w="6350" cap="flat" cmpd="sng" algn="ctr">
                      <a:solidFill>
                        <a:srgbClr val="D5E3DF"/>
                      </a:solidFill>
                      <a:prstDash val="solid"/>
                      <a:round/>
                      <a:headEnd type="none" w="med" len="med"/>
                      <a:tailEnd type="none" w="med" len="med"/>
                    </a:lnR>
                    <a:lnT w="6350" cap="flat" cmpd="sng" algn="ctr">
                      <a:solidFill>
                        <a:srgbClr val="D5E3DF"/>
                      </a:solidFill>
                      <a:prstDash val="solid"/>
                      <a:round/>
                      <a:headEnd type="none" w="med" len="med"/>
                      <a:tailEnd type="none" w="med" len="med"/>
                    </a:lnT>
                    <a:lnB w="6350" cap="flat" cmpd="sng" algn="ctr">
                      <a:solidFill>
                        <a:srgbClr val="D5E3DF"/>
                      </a:solidFill>
                      <a:prstDash val="solid"/>
                      <a:round/>
                      <a:headEnd type="none" w="med" len="med"/>
                      <a:tailEnd type="none" w="med" len="med"/>
                    </a:lnB>
                    <a:solidFill>
                      <a:schemeClr val="bg2"/>
                    </a:solidFill>
                  </a:tcPr>
                </a:tc>
                <a:tc>
                  <a:txBody>
                    <a:bodyPr/>
                    <a:lstStyle/>
                    <a:p>
                      <a:pPr indent="0" marL="0">
                        <a:buNone/>
                      </a:pPr>
                      <a:r>
                        <a:rPr lang="en-US" sz="1150" dirty="0">
                          <a:solidFill>
                            <a:schemeClr val="accent4"/>
                          </a:solidFill>
                        </a:rPr>
                        <a:t>Not applied to retail stock</a:t>
                      </a:r>
                      <a:endParaRPr lang="en-US" sz="1150" dirty="0"/>
                    </a:p>
                  </a:txBody>
                  <a:tcPr marL="91440" marR="91440" marT="36576" marB="36576" anchor="ctr">
                    <a:lnL w="6350" cap="flat" cmpd="sng" algn="ctr">
                      <a:solidFill>
                        <a:srgbClr val="D5E3DF"/>
                      </a:solidFill>
                      <a:prstDash val="solid"/>
                      <a:round/>
                      <a:headEnd type="none" w="med" len="med"/>
                      <a:tailEnd type="none" w="med" len="med"/>
                    </a:lnL>
                    <a:lnR w="6350" cap="flat" cmpd="sng" algn="ctr">
                      <a:solidFill>
                        <a:srgbClr val="D5E3DF"/>
                      </a:solidFill>
                      <a:prstDash val="solid"/>
                      <a:round/>
                      <a:headEnd type="none" w="med" len="med"/>
                      <a:tailEnd type="none" w="med" len="med"/>
                    </a:lnR>
                    <a:lnT w="6350" cap="flat" cmpd="sng" algn="ctr">
                      <a:solidFill>
                        <a:srgbClr val="D5E3DF"/>
                      </a:solidFill>
                      <a:prstDash val="solid"/>
                      <a:round/>
                      <a:headEnd type="none" w="med" len="med"/>
                      <a:tailEnd type="none" w="med" len="med"/>
                    </a:lnT>
                    <a:lnB w="6350" cap="flat" cmpd="sng" algn="ctr">
                      <a:solidFill>
                        <a:srgbClr val="D5E3DF"/>
                      </a:solidFill>
                      <a:prstDash val="solid"/>
                      <a:round/>
                      <a:headEnd type="none" w="med" len="med"/>
                      <a:tailEnd type="none" w="med" len="med"/>
                    </a:lnB>
                    <a:solidFill>
                      <a:schemeClr val="bg2"/>
                    </a:solidFill>
                  </a:tcPr>
                </a:tc>
              </a:tr>
              <a:tr h="457200">
                <a:tc>
                  <a:txBody>
                    <a:bodyPr/>
                    <a:lstStyle/>
                    <a:p>
                      <a:pPr indent="0" marL="0">
                        <a:buNone/>
                      </a:pPr>
                      <a:r>
                        <a:rPr lang="en-US" sz="1150" b="1" dirty="0">
                          <a:solidFill>
                            <a:schemeClr val="tx1"/>
                          </a:solidFill>
                        </a:rPr>
                        <a:t>[9] Jiang et al., 2025 (SiriusBI)</a:t>
                      </a:r>
                      <a:endParaRPr lang="en-US" sz="1150" dirty="0"/>
                    </a:p>
                  </a:txBody>
                  <a:tcPr marL="91440" marR="91440" marT="36576" marB="36576" anchor="ctr">
                    <a:lnL w="6350" cap="flat" cmpd="sng" algn="ctr">
                      <a:solidFill>
                        <a:srgbClr val="D5E3DF"/>
                      </a:solidFill>
                      <a:prstDash val="solid"/>
                      <a:round/>
                      <a:headEnd type="none" w="med" len="med"/>
                      <a:tailEnd type="none" w="med" len="med"/>
                    </a:lnL>
                    <a:lnR w="6350" cap="flat" cmpd="sng" algn="ctr">
                      <a:solidFill>
                        <a:srgbClr val="D5E3DF"/>
                      </a:solidFill>
                      <a:prstDash val="solid"/>
                      <a:round/>
                      <a:headEnd type="none" w="med" len="med"/>
                      <a:tailEnd type="none" w="med" len="med"/>
                    </a:lnR>
                    <a:lnT w="6350" cap="flat" cmpd="sng" algn="ctr">
                      <a:solidFill>
                        <a:srgbClr val="D5E3DF"/>
                      </a:solidFill>
                      <a:prstDash val="solid"/>
                      <a:round/>
                      <a:headEnd type="none" w="med" len="med"/>
                      <a:tailEnd type="none" w="med" len="med"/>
                    </a:lnT>
                    <a:lnB w="6350" cap="flat" cmpd="sng" algn="ctr">
                      <a:solidFill>
                        <a:srgbClr val="D5E3DF"/>
                      </a:solidFill>
                      <a:prstDash val="solid"/>
                      <a:round/>
                      <a:headEnd type="none" w="med" len="med"/>
                      <a:tailEnd type="none" w="med" len="med"/>
                    </a:lnB>
                    <a:solidFill>
                      <a:schemeClr val="bg1"/>
                    </a:solidFill>
                  </a:tcPr>
                </a:tc>
                <a:tc>
                  <a:txBody>
                    <a:bodyPr/>
                    <a:lstStyle/>
                    <a:p>
                      <a:pPr indent="0" marL="0">
                        <a:buNone/>
                      </a:pPr>
                      <a:r>
                        <a:rPr lang="en-US" sz="1150" dirty="0">
                          <a:solidFill>
                            <a:schemeClr val="tx1"/>
                          </a:solidFill>
                        </a:rPr>
                        <a:t>LLM-powered business intelligence, 93% SQL accuracy</a:t>
                      </a:r>
                      <a:endParaRPr lang="en-US" sz="1150" dirty="0"/>
                    </a:p>
                  </a:txBody>
                  <a:tcPr marL="91440" marR="91440" marT="36576" marB="36576" anchor="ctr">
                    <a:lnL w="6350" cap="flat" cmpd="sng" algn="ctr">
                      <a:solidFill>
                        <a:srgbClr val="D5E3DF"/>
                      </a:solidFill>
                      <a:prstDash val="solid"/>
                      <a:round/>
                      <a:headEnd type="none" w="med" len="med"/>
                      <a:tailEnd type="none" w="med" len="med"/>
                    </a:lnL>
                    <a:lnR w="6350" cap="flat" cmpd="sng" algn="ctr">
                      <a:solidFill>
                        <a:srgbClr val="D5E3DF"/>
                      </a:solidFill>
                      <a:prstDash val="solid"/>
                      <a:round/>
                      <a:headEnd type="none" w="med" len="med"/>
                      <a:tailEnd type="none" w="med" len="med"/>
                    </a:lnR>
                    <a:lnT w="6350" cap="flat" cmpd="sng" algn="ctr">
                      <a:solidFill>
                        <a:srgbClr val="D5E3DF"/>
                      </a:solidFill>
                      <a:prstDash val="solid"/>
                      <a:round/>
                      <a:headEnd type="none" w="med" len="med"/>
                      <a:tailEnd type="none" w="med" len="med"/>
                    </a:lnT>
                    <a:lnB w="6350" cap="flat" cmpd="sng" algn="ctr">
                      <a:solidFill>
                        <a:srgbClr val="D5E3DF"/>
                      </a:solidFill>
                      <a:prstDash val="solid"/>
                      <a:round/>
                      <a:headEnd type="none" w="med" len="med"/>
                      <a:tailEnd type="none" w="med" len="med"/>
                    </a:lnB>
                    <a:solidFill>
                      <a:schemeClr val="bg1"/>
                    </a:solidFill>
                  </a:tcPr>
                </a:tc>
                <a:tc>
                  <a:txBody>
                    <a:bodyPr/>
                    <a:lstStyle/>
                    <a:p>
                      <a:pPr indent="0" marL="0">
                        <a:buNone/>
                      </a:pPr>
                      <a:r>
                        <a:rPr lang="en-US" sz="1150" dirty="0">
                          <a:solidFill>
                            <a:schemeClr val="accent4"/>
                          </a:solidFill>
                        </a:rPr>
                        <a:t>For analysts; not tied to stock or billing</a:t>
                      </a:r>
                      <a:endParaRPr lang="en-US" sz="1150" dirty="0"/>
                    </a:p>
                  </a:txBody>
                  <a:tcPr marL="91440" marR="91440" marT="36576" marB="36576" anchor="ctr">
                    <a:lnL w="6350" cap="flat" cmpd="sng" algn="ctr">
                      <a:solidFill>
                        <a:srgbClr val="D5E3DF"/>
                      </a:solidFill>
                      <a:prstDash val="solid"/>
                      <a:round/>
                      <a:headEnd type="none" w="med" len="med"/>
                      <a:tailEnd type="none" w="med" len="med"/>
                    </a:lnL>
                    <a:lnR w="6350" cap="flat" cmpd="sng" algn="ctr">
                      <a:solidFill>
                        <a:srgbClr val="D5E3DF"/>
                      </a:solidFill>
                      <a:prstDash val="solid"/>
                      <a:round/>
                      <a:headEnd type="none" w="med" len="med"/>
                      <a:tailEnd type="none" w="med" len="med"/>
                    </a:lnR>
                    <a:lnT w="6350" cap="flat" cmpd="sng" algn="ctr">
                      <a:solidFill>
                        <a:srgbClr val="D5E3DF"/>
                      </a:solidFill>
                      <a:prstDash val="solid"/>
                      <a:round/>
                      <a:headEnd type="none" w="med" len="med"/>
                      <a:tailEnd type="none" w="med" len="med"/>
                    </a:lnT>
                    <a:lnB w="6350" cap="flat" cmpd="sng" algn="ctr">
                      <a:solidFill>
                        <a:srgbClr val="D5E3DF"/>
                      </a:solidFill>
                      <a:prstDash val="solid"/>
                      <a:round/>
                      <a:headEnd type="none" w="med" len="med"/>
                      <a:tailEnd type="none" w="med" len="med"/>
                    </a:lnB>
                    <a:solidFill>
                      <a:schemeClr val="bg1"/>
                    </a:solidFill>
                  </a:tcPr>
                </a:tc>
              </a:tr>
              <a:tr h="457200">
                <a:tc>
                  <a:txBody>
                    <a:bodyPr/>
                    <a:lstStyle/>
                    <a:p>
                      <a:pPr indent="0" marL="0">
                        <a:buNone/>
                      </a:pPr>
                      <a:r>
                        <a:rPr lang="en-US" sz="1150" b="1" dirty="0">
                          <a:solidFill>
                            <a:schemeClr val="tx1"/>
                          </a:solidFill>
                        </a:rPr>
                        <a:t>[10] Heins, 2023</a:t>
                      </a:r>
                      <a:endParaRPr lang="en-US" sz="1150" dirty="0"/>
                    </a:p>
                  </a:txBody>
                  <a:tcPr marL="91440" marR="91440" marT="36576" marB="36576" anchor="ctr">
                    <a:lnL w="6350" cap="flat" cmpd="sng" algn="ctr">
                      <a:solidFill>
                        <a:srgbClr val="D5E3DF"/>
                      </a:solidFill>
                      <a:prstDash val="solid"/>
                      <a:round/>
                      <a:headEnd type="none" w="med" len="med"/>
                      <a:tailEnd type="none" w="med" len="med"/>
                    </a:lnL>
                    <a:lnR w="6350" cap="flat" cmpd="sng" algn="ctr">
                      <a:solidFill>
                        <a:srgbClr val="D5E3DF"/>
                      </a:solidFill>
                      <a:prstDash val="solid"/>
                      <a:round/>
                      <a:headEnd type="none" w="med" len="med"/>
                      <a:tailEnd type="none" w="med" len="med"/>
                    </a:lnR>
                    <a:lnT w="6350" cap="flat" cmpd="sng" algn="ctr">
                      <a:solidFill>
                        <a:srgbClr val="D5E3DF"/>
                      </a:solidFill>
                      <a:prstDash val="solid"/>
                      <a:round/>
                      <a:headEnd type="none" w="med" len="med"/>
                      <a:tailEnd type="none" w="med" len="med"/>
                    </a:lnT>
                    <a:lnB w="6350" cap="flat" cmpd="sng" algn="ctr">
                      <a:solidFill>
                        <a:srgbClr val="D5E3DF"/>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Systematic review of AI in retail, 2005–2021</a:t>
                      </a:r>
                      <a:endParaRPr lang="en-US" sz="1150" dirty="0"/>
                    </a:p>
                  </a:txBody>
                  <a:tcPr marL="91440" marR="91440" marT="36576" marB="36576" anchor="ctr">
                    <a:lnL w="6350" cap="flat" cmpd="sng" algn="ctr">
                      <a:solidFill>
                        <a:srgbClr val="D5E3DF"/>
                      </a:solidFill>
                      <a:prstDash val="solid"/>
                      <a:round/>
                      <a:headEnd type="none" w="med" len="med"/>
                      <a:tailEnd type="none" w="med" len="med"/>
                    </a:lnL>
                    <a:lnR w="6350" cap="flat" cmpd="sng" algn="ctr">
                      <a:solidFill>
                        <a:srgbClr val="D5E3DF"/>
                      </a:solidFill>
                      <a:prstDash val="solid"/>
                      <a:round/>
                      <a:headEnd type="none" w="med" len="med"/>
                      <a:tailEnd type="none" w="med" len="med"/>
                    </a:lnR>
                    <a:lnT w="6350" cap="flat" cmpd="sng" algn="ctr">
                      <a:solidFill>
                        <a:srgbClr val="D5E3DF"/>
                      </a:solidFill>
                      <a:prstDash val="solid"/>
                      <a:round/>
                      <a:headEnd type="none" w="med" len="med"/>
                      <a:tailEnd type="none" w="med" len="med"/>
                    </a:lnT>
                    <a:lnB w="6350" cap="flat" cmpd="sng" algn="ctr">
                      <a:solidFill>
                        <a:srgbClr val="D5E3DF"/>
                      </a:solidFill>
                      <a:prstDash val="solid"/>
                      <a:round/>
                      <a:headEnd type="none" w="med" len="med"/>
                      <a:tailEnd type="none" w="med" len="med"/>
                    </a:lnB>
                    <a:solidFill>
                      <a:schemeClr val="bg2"/>
                    </a:solidFill>
                  </a:tcPr>
                </a:tc>
                <a:tc>
                  <a:txBody>
                    <a:bodyPr/>
                    <a:lstStyle/>
                    <a:p>
                      <a:pPr indent="0" marL="0">
                        <a:buNone/>
                      </a:pPr>
                      <a:r>
                        <a:rPr lang="en-US" sz="1150" dirty="0">
                          <a:solidFill>
                            <a:schemeClr val="accent4"/>
                          </a:solidFill>
                        </a:rPr>
                        <a:t>Before LLM assistants; not small Indian shops</a:t>
                      </a:r>
                      <a:endParaRPr lang="en-US" sz="1150" dirty="0"/>
                    </a:p>
                  </a:txBody>
                  <a:tcPr marL="91440" marR="91440" marT="36576" marB="36576" anchor="ctr">
                    <a:lnL w="6350" cap="flat" cmpd="sng" algn="ctr">
                      <a:solidFill>
                        <a:srgbClr val="D5E3DF"/>
                      </a:solidFill>
                      <a:prstDash val="solid"/>
                      <a:round/>
                      <a:headEnd type="none" w="med" len="med"/>
                      <a:tailEnd type="none" w="med" len="med"/>
                    </a:lnL>
                    <a:lnR w="6350" cap="flat" cmpd="sng" algn="ctr">
                      <a:solidFill>
                        <a:srgbClr val="D5E3DF"/>
                      </a:solidFill>
                      <a:prstDash val="solid"/>
                      <a:round/>
                      <a:headEnd type="none" w="med" len="med"/>
                      <a:tailEnd type="none" w="med" len="med"/>
                    </a:lnR>
                    <a:lnT w="6350" cap="flat" cmpd="sng" algn="ctr">
                      <a:solidFill>
                        <a:srgbClr val="D5E3DF"/>
                      </a:solidFill>
                      <a:prstDash val="solid"/>
                      <a:round/>
                      <a:headEnd type="none" w="med" len="med"/>
                      <a:tailEnd type="none" w="med" len="med"/>
                    </a:lnT>
                    <a:lnB w="6350" cap="flat" cmpd="sng" algn="ctr">
                      <a:solidFill>
                        <a:srgbClr val="D5E3DF"/>
                      </a:solidFill>
                      <a:prstDash val="solid"/>
                      <a:round/>
                      <a:headEnd type="none" w="med" len="med"/>
                      <a:tailEnd type="none" w="med" len="med"/>
                    </a:lnB>
                    <a:solidFill>
                      <a:schemeClr val="bg2"/>
                    </a:solidFill>
                  </a:tcPr>
                </a:tc>
              </a:tr>
            </a:tbl>
          </a:graphicData>
        </a:graphic>
      </p:graphicFrame>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Eyebrow"/>
          <p:cNvSpPr txBox="1"/>
          <p:nvPr/>
        </p:nvSpPr>
        <p:spPr>
          <a:xfrm>
            <a:off x="457200" y="274320"/>
            <a:ext cx="5486400" cy="256032"/>
          </a:xfrm>
          <a:prstGeom prst="rect">
            <a:avLst/>
          </a:prstGeom>
          <a:noFill/>
          <a:ln/>
        </p:spPr>
        <p:txBody>
          <a:bodyPr wrap="square" lIns="0" tIns="0" rIns="0" bIns="0" rtlCol="0" anchor="ctr"/>
          <a:lstStyle/>
          <a:p>
            <a:pPr indent="0" marL="0">
              <a:buNone/>
            </a:pPr>
            <a:r>
              <a:rPr lang="en-US" sz="1100" b="1" spc="200" kern="0" dirty="0">
                <a:solidFill>
                  <a:schemeClr val="accent1"/>
                </a:solidFill>
              </a:rPr>
              <a:t>06 · LITERATURE REVIEW</a:t>
            </a:r>
            <a:endParaRPr lang="en-US" sz="1100" dirty="0"/>
          </a:p>
        </p:txBody>
      </p:sp>
      <p:sp>
        <p:nvSpPr>
          <p:cNvPr id="3" name="Text 0"/>
          <p:cNvSpPr/>
          <p:nvPr>
            <p:ph idx="100" type="title" hasCustomPrompt="1"/>
          </p:nvPr>
        </p:nvSpPr>
        <p:spPr>
          <a:xfrm>
            <a:off x="457200" y="502920"/>
            <a:ext cx="6400800" cy="640080"/>
          </a:xfrm>
          <a:prstGeom prst="rect">
            <a:avLst/>
          </a:prstGeom>
          <a:noFill/>
          <a:ln/>
        </p:spPr>
        <p:txBody>
          <a:bodyPr wrap="square" lIns="0" tIns="0" rIns="0" bIns="0" rtlCol="0" anchor="ctr"/>
          <a:lstStyle/>
          <a:p>
            <a:pPr algn="l" indent="0" marL="0">
              <a:buNone/>
            </a:pPr>
            <a:r>
              <a:rPr lang="en-US" sz="3400" b="1" dirty="0">
                <a:solidFill>
                  <a:schemeClr val="tx2"/>
                </a:solidFill>
                <a:latin typeface="Cambria" pitchFamily="34" charset="0"/>
                <a:ea typeface="Cambria" pitchFamily="34" charset="-122"/>
                <a:cs typeface="Cambria" pitchFamily="34" charset="-120"/>
              </a:rPr>
              <a:t>Key Findings</a:t>
            </a:r>
            <a:endParaRPr lang="en-US" sz="3400" dirty="0"/>
          </a:p>
        </p:txBody>
      </p:sp>
      <p:sp>
        <p:nvSpPr>
          <p:cNvPr id="4" name="LuBoxes tile"/>
          <p:cNvSpPr/>
          <p:nvPr/>
        </p:nvSpPr>
        <p:spPr>
          <a:xfrm>
            <a:off x="457200" y="1371600"/>
            <a:ext cx="502920" cy="502920"/>
          </a:xfrm>
          <a:prstGeom prst="roundRect">
            <a:avLst>
              <a:gd name="adj" fmla="val 22000"/>
            </a:avLst>
          </a:prstGeom>
          <a:solidFill>
            <a:schemeClr val="accent1"/>
          </a:solidFill>
          <a:ln/>
        </p:spPr>
      </p:sp>
      <p:pic>
        <p:nvPicPr>
          <p:cNvPr id="5" name="LuBoxes icon" descr="preencoded.png">    </p:cNvPr>
          <p:cNvPicPr>
            <a:picLocks noChangeAspect="1"/>
          </p:cNvPicPr>
          <p:nvPr/>
        </p:nvPicPr>
        <p:blipFill>
          <a:blip r:embed="rId1"/>
          <a:stretch>
            <a:fillRect/>
          </a:stretch>
        </p:blipFill>
        <p:spPr>
          <a:xfrm>
            <a:off x="577901" y="1492301"/>
            <a:ext cx="261518" cy="261518"/>
          </a:xfrm>
          <a:prstGeom prst="rect">
            <a:avLst/>
          </a:prstGeom>
        </p:spPr>
      </p:pic>
      <p:sp>
        <p:nvSpPr>
          <p:cNvPr id="6" name="Records, not control finding"/>
          <p:cNvSpPr txBox="1"/>
          <p:nvPr/>
        </p:nvSpPr>
        <p:spPr>
          <a:xfrm>
            <a:off x="1143000" y="1325880"/>
            <a:ext cx="3931920" cy="804672"/>
          </a:xfrm>
          <a:prstGeom prst="rect">
            <a:avLst/>
          </a:prstGeom>
          <a:noFill/>
          <a:ln/>
        </p:spPr>
        <p:txBody>
          <a:bodyPr wrap="square" lIns="0" tIns="0" rIns="0" bIns="0" rtlCol="0" anchor="t"/>
          <a:lstStyle/>
          <a:p>
            <a:pPr indent="0" marL="0">
              <a:spcAft>
                <a:spcPts val="200"/>
              </a:spcAft>
              <a:buNone/>
            </a:pPr>
            <a:r>
              <a:rPr lang="en-US" sz="1500" b="1" dirty="0">
                <a:solidFill>
                  <a:schemeClr val="tx2"/>
                </a:solidFill>
              </a:rPr>
              <a:t>Records, not control</a:t>
            </a:r>
            <a:endParaRPr lang="en-US" sz="1500" dirty="0"/>
          </a:p>
          <a:p>
            <a:pPr indent="0" marL="0">
              <a:spcAft>
                <a:spcPts val="200"/>
              </a:spcAft>
              <a:buNone/>
            </a:pPr>
            <a:r>
              <a:rPr lang="en-US" sz="1200" dirty="0">
                <a:solidFill>
                  <a:schemeClr val="tx1"/>
                </a:solidFill>
              </a:rPr>
              <a:t>Small-business systems [1]–[4] replace registers but edit stock directly; few join purchasing, billing and stock, and only some follow GST rules.</a:t>
            </a:r>
            <a:endParaRPr lang="en-US" sz="1500" dirty="0"/>
          </a:p>
        </p:txBody>
      </p:sp>
      <p:sp>
        <p:nvSpPr>
          <p:cNvPr id="7" name="LuTrendingUp tile"/>
          <p:cNvSpPr/>
          <p:nvPr/>
        </p:nvSpPr>
        <p:spPr>
          <a:xfrm>
            <a:off x="457200" y="2240280"/>
            <a:ext cx="502920" cy="502920"/>
          </a:xfrm>
          <a:prstGeom prst="roundRect">
            <a:avLst>
              <a:gd name="adj" fmla="val 22000"/>
            </a:avLst>
          </a:prstGeom>
          <a:solidFill>
            <a:schemeClr val="accent1"/>
          </a:solidFill>
          <a:ln/>
        </p:spPr>
      </p:sp>
      <p:pic>
        <p:nvPicPr>
          <p:cNvPr id="8" name="LuTrendingUp icon" descr="preencoded.png">    </p:cNvPr>
          <p:cNvPicPr>
            <a:picLocks noChangeAspect="1"/>
          </p:cNvPicPr>
          <p:nvPr/>
        </p:nvPicPr>
        <p:blipFill>
          <a:blip r:embed="rId2"/>
          <a:stretch>
            <a:fillRect/>
          </a:stretch>
        </p:blipFill>
        <p:spPr>
          <a:xfrm>
            <a:off x="577901" y="2360981"/>
            <a:ext cx="261518" cy="261518"/>
          </a:xfrm>
          <a:prstGeom prst="rect">
            <a:avLst/>
          </a:prstGeom>
        </p:spPr>
      </p:pic>
      <p:sp>
        <p:nvSpPr>
          <p:cNvPr id="9" name="Forecasting stays in the lab finding"/>
          <p:cNvSpPr txBox="1"/>
          <p:nvPr/>
        </p:nvSpPr>
        <p:spPr>
          <a:xfrm>
            <a:off x="1143000" y="2194560"/>
            <a:ext cx="3931920" cy="804672"/>
          </a:xfrm>
          <a:prstGeom prst="rect">
            <a:avLst/>
          </a:prstGeom>
          <a:noFill/>
          <a:ln/>
        </p:spPr>
        <p:txBody>
          <a:bodyPr wrap="square" lIns="0" tIns="0" rIns="0" bIns="0" rtlCol="0" anchor="t"/>
          <a:lstStyle/>
          <a:p>
            <a:pPr indent="0" marL="0">
              <a:spcAft>
                <a:spcPts val="200"/>
              </a:spcAft>
              <a:buNone/>
            </a:pPr>
            <a:r>
              <a:rPr lang="en-US" sz="1500" b="1" dirty="0">
                <a:solidFill>
                  <a:schemeClr val="tx2"/>
                </a:solidFill>
              </a:rPr>
              <a:t>Forecasting stays in the lab</a:t>
            </a:r>
            <a:endParaRPr lang="en-US" sz="1500" dirty="0"/>
          </a:p>
          <a:p>
            <a:pPr indent="0" marL="0">
              <a:spcAft>
                <a:spcPts val="200"/>
              </a:spcAft>
              <a:buNone/>
            </a:pPr>
            <a:r>
              <a:rPr lang="en-US" sz="1200" dirty="0">
                <a:solidFill>
                  <a:schemeClr val="tx1"/>
                </a:solidFill>
              </a:rPr>
              <a:t>Forecasting [5], [6] reduces stock-outs, but on large retailers’ data and outside the system a shop uses; [7] removes the owner altogether.</a:t>
            </a:r>
            <a:endParaRPr lang="en-US" sz="1500" dirty="0"/>
          </a:p>
        </p:txBody>
      </p:sp>
      <p:sp>
        <p:nvSpPr>
          <p:cNvPr id="10" name="LuMessageSquareText tile"/>
          <p:cNvSpPr/>
          <p:nvPr/>
        </p:nvSpPr>
        <p:spPr>
          <a:xfrm>
            <a:off x="457200" y="3108960"/>
            <a:ext cx="502920" cy="502920"/>
          </a:xfrm>
          <a:prstGeom prst="roundRect">
            <a:avLst>
              <a:gd name="adj" fmla="val 22000"/>
            </a:avLst>
          </a:prstGeom>
          <a:solidFill>
            <a:schemeClr val="accent1"/>
          </a:solidFill>
          <a:ln/>
        </p:spPr>
      </p:sp>
      <p:pic>
        <p:nvPicPr>
          <p:cNvPr id="11" name="LuMessageSquareText icon" descr="preencoded.png">    </p:cNvPr>
          <p:cNvPicPr>
            <a:picLocks noChangeAspect="1"/>
          </p:cNvPicPr>
          <p:nvPr/>
        </p:nvPicPr>
        <p:blipFill>
          <a:blip r:embed="rId3"/>
          <a:stretch>
            <a:fillRect/>
          </a:stretch>
        </p:blipFill>
        <p:spPr>
          <a:xfrm>
            <a:off x="577901" y="3229661"/>
            <a:ext cx="261518" cy="261518"/>
          </a:xfrm>
          <a:prstGeom prst="rect">
            <a:avLst/>
          </a:prstGeom>
        </p:spPr>
      </p:pic>
      <p:sp>
        <p:nvSpPr>
          <p:cNvPr id="12" name="Assistants for analysts finding"/>
          <p:cNvSpPr txBox="1"/>
          <p:nvPr/>
        </p:nvSpPr>
        <p:spPr>
          <a:xfrm>
            <a:off x="1143000" y="3063240"/>
            <a:ext cx="3931920" cy="804672"/>
          </a:xfrm>
          <a:prstGeom prst="rect">
            <a:avLst/>
          </a:prstGeom>
          <a:noFill/>
          <a:ln/>
        </p:spPr>
        <p:txBody>
          <a:bodyPr wrap="square" lIns="0" tIns="0" rIns="0" bIns="0" rtlCol="0" anchor="t"/>
          <a:lstStyle/>
          <a:p>
            <a:pPr indent="0" marL="0">
              <a:spcAft>
                <a:spcPts val="200"/>
              </a:spcAft>
              <a:buNone/>
            </a:pPr>
            <a:r>
              <a:rPr lang="en-US" sz="1500" b="1" dirty="0">
                <a:solidFill>
                  <a:schemeClr val="tx2"/>
                </a:solidFill>
              </a:rPr>
              <a:t>Assistants for analysts</a:t>
            </a:r>
            <a:endParaRPr lang="en-US" sz="1500" dirty="0"/>
          </a:p>
          <a:p>
            <a:pPr indent="0" marL="0">
              <a:spcAft>
                <a:spcPts val="200"/>
              </a:spcAft>
              <a:buNone/>
            </a:pPr>
            <a:r>
              <a:rPr lang="en-US" sz="1200" dirty="0">
                <a:solidFill>
                  <a:schemeClr val="tx1"/>
                </a:solidFill>
              </a:rPr>
              <a:t>LLMs make plain-English questions practical [8], [9], but for enterprise analysts and without any link to ordering.</a:t>
            </a:r>
            <a:endParaRPr lang="en-US" sz="1500" dirty="0"/>
          </a:p>
        </p:txBody>
      </p:sp>
      <p:sp>
        <p:nvSpPr>
          <p:cNvPr id="13" name="Gap card"/>
          <p:cNvSpPr/>
          <p:nvPr/>
        </p:nvSpPr>
        <p:spPr>
          <a:xfrm>
            <a:off x="5394960" y="1325880"/>
            <a:ext cx="3291840" cy="3154680"/>
          </a:xfrm>
          <a:prstGeom prst="roundRect">
            <a:avLst>
              <a:gd name="adj" fmla="val 4058"/>
            </a:avLst>
          </a:prstGeom>
          <a:solidFill>
            <a:schemeClr val="tx2"/>
          </a:solidFill>
          <a:ln/>
        </p:spPr>
      </p:sp>
      <p:sp>
        <p:nvSpPr>
          <p:cNvPr id="14" name="LuTarget tile"/>
          <p:cNvSpPr/>
          <p:nvPr/>
        </p:nvSpPr>
        <p:spPr>
          <a:xfrm>
            <a:off x="5623560" y="1554480"/>
            <a:ext cx="502920" cy="502920"/>
          </a:xfrm>
          <a:prstGeom prst="roundRect">
            <a:avLst>
              <a:gd name="adj" fmla="val 22000"/>
            </a:avLst>
          </a:prstGeom>
          <a:solidFill>
            <a:schemeClr val="accent2"/>
          </a:solidFill>
          <a:ln/>
        </p:spPr>
      </p:sp>
      <p:pic>
        <p:nvPicPr>
          <p:cNvPr id="15" name="LuTarget icon" descr="preencoded.png">    </p:cNvPr>
          <p:cNvPicPr>
            <a:picLocks noChangeAspect="1"/>
          </p:cNvPicPr>
          <p:nvPr/>
        </p:nvPicPr>
        <p:blipFill>
          <a:blip r:embed="rId4"/>
          <a:stretch>
            <a:fillRect/>
          </a:stretch>
        </p:blipFill>
        <p:spPr>
          <a:xfrm>
            <a:off x="5744261" y="1675181"/>
            <a:ext cx="261518" cy="261518"/>
          </a:xfrm>
          <a:prstGeom prst="rect">
            <a:avLst/>
          </a:prstGeom>
        </p:spPr>
      </p:pic>
      <p:sp>
        <p:nvSpPr>
          <p:cNvPr id="16" name="Gap label"/>
          <p:cNvSpPr txBox="1"/>
          <p:nvPr/>
        </p:nvSpPr>
        <p:spPr>
          <a:xfrm>
            <a:off x="6263640" y="1554480"/>
            <a:ext cx="2286000" cy="502920"/>
          </a:xfrm>
          <a:prstGeom prst="rect">
            <a:avLst/>
          </a:prstGeom>
          <a:noFill/>
          <a:ln/>
        </p:spPr>
        <p:txBody>
          <a:bodyPr wrap="square" lIns="0" tIns="0" rIns="0" bIns="0" rtlCol="0" anchor="ctr"/>
          <a:lstStyle/>
          <a:p>
            <a:pPr indent="0" marL="0">
              <a:buNone/>
            </a:pPr>
            <a:r>
              <a:rPr lang="en-US" sz="1100" b="1" spc="200" kern="0" dirty="0">
                <a:solidFill>
                  <a:schemeClr val="accent2"/>
                </a:solidFill>
              </a:rPr>
              <a:t>THE GAP WE FILL</a:t>
            </a:r>
            <a:endParaRPr lang="en-US" sz="1100" dirty="0"/>
          </a:p>
        </p:txBody>
      </p:sp>
      <p:sp>
        <p:nvSpPr>
          <p:cNvPr id="17" name="Gap text"/>
          <p:cNvSpPr txBox="1"/>
          <p:nvPr/>
        </p:nvSpPr>
        <p:spPr>
          <a:xfrm>
            <a:off x="5623560" y="2240280"/>
            <a:ext cx="2834640" cy="2103120"/>
          </a:xfrm>
          <a:prstGeom prst="rect">
            <a:avLst/>
          </a:prstGeom>
          <a:noFill/>
          <a:ln/>
        </p:spPr>
        <p:txBody>
          <a:bodyPr wrap="square" lIns="0" tIns="0" rIns="0" bIns="0" rtlCol="0" anchor="t"/>
          <a:lstStyle/>
          <a:p>
            <a:pPr indent="0" marL="0">
              <a:buNone/>
            </a:pPr>
            <a:r>
              <a:rPr lang="en-US" sz="1450" dirty="0">
                <a:solidFill>
                  <a:schemeClr val="bg1"/>
                </a:solidFill>
              </a:rPr>
              <a:t>An affordable, integrated system for small Indian retailers that keeps stock exact with a ledger, follows GST rules, and lets AI prepare orders that the owner confirms, with an assistant over the shop’s own data.</a:t>
            </a:r>
            <a:endParaRPr lang="en-US" sz="145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Eyebrow"/>
          <p:cNvSpPr txBox="1"/>
          <p:nvPr/>
        </p:nvSpPr>
        <p:spPr>
          <a:xfrm>
            <a:off x="457200" y="274320"/>
            <a:ext cx="5486400" cy="256032"/>
          </a:xfrm>
          <a:prstGeom prst="rect">
            <a:avLst/>
          </a:prstGeom>
          <a:noFill/>
          <a:ln/>
        </p:spPr>
        <p:txBody>
          <a:bodyPr wrap="square" lIns="0" tIns="0" rIns="0" bIns="0" rtlCol="0" anchor="ctr"/>
          <a:lstStyle/>
          <a:p>
            <a:pPr indent="0" marL="0">
              <a:buNone/>
            </a:pPr>
            <a:r>
              <a:rPr lang="en-US" sz="1100" b="1" spc="200" kern="0" dirty="0">
                <a:solidFill>
                  <a:schemeClr val="accent1"/>
                </a:solidFill>
              </a:rPr>
              <a:t>07 · COMPARISON</a:t>
            </a:r>
            <a:endParaRPr lang="en-US" sz="1100" dirty="0"/>
          </a:p>
        </p:txBody>
      </p:sp>
      <p:sp>
        <p:nvSpPr>
          <p:cNvPr id="3" name="Text 0"/>
          <p:cNvSpPr/>
          <p:nvPr>
            <p:ph idx="100" type="title" hasCustomPrompt="1"/>
          </p:nvPr>
        </p:nvSpPr>
        <p:spPr>
          <a:xfrm>
            <a:off x="457200" y="502920"/>
            <a:ext cx="6400800" cy="640080"/>
          </a:xfrm>
          <a:prstGeom prst="rect">
            <a:avLst/>
          </a:prstGeom>
          <a:noFill/>
          <a:ln/>
        </p:spPr>
        <p:txBody>
          <a:bodyPr wrap="square" lIns="0" tIns="0" rIns="0" bIns="0" rtlCol="0" anchor="ctr"/>
          <a:lstStyle/>
          <a:p>
            <a:pPr algn="l" indent="0" marL="0">
              <a:buNone/>
            </a:pPr>
            <a:r>
              <a:rPr lang="en-US" sz="3400" b="1" dirty="0">
                <a:solidFill>
                  <a:schemeClr val="tx2"/>
                </a:solidFill>
                <a:latin typeface="Cambria" pitchFamily="34" charset="0"/>
                <a:ea typeface="Cambria" pitchFamily="34" charset="-122"/>
                <a:cs typeface="Cambria" pitchFamily="34" charset="-120"/>
              </a:rPr>
              <a:t>Existing vs Proposed System</a:t>
            </a:r>
            <a:endParaRPr lang="en-US" sz="3400" dirty="0"/>
          </a:p>
        </p:txBody>
      </p:sp>
      <p:graphicFrame>
        <p:nvGraphicFramePr>
          <p:cNvPr id="13" name="Comparison table"/>
          <p:cNvGraphicFramePr>
            <a:graphicFrameLocks noGrp="1"/>
          </p:cNvGraphicFramePr>
          <p:nvPr>
            <p:extLst>
              <p:ext uri="{D42A27DB-BD31-4B8C-83A1-F6EECF244321}">
                <p14:modId xmlns:p14="http://schemas.microsoft.com/office/powerpoint/2010/main" val="1579011935"/>
              </p:ext>
            </p:extLst>
          </p:nvPr>
        </p:nvGraphicFramePr>
        <p:xfrm>
          <a:off x="457200" y="1280160"/>
          <a:ext cx="8229600" cy="914400"/>
        </p:xfrm>
        <a:graphic>
          <a:graphicData uri="http://schemas.openxmlformats.org/drawingml/2006/table">
            <a:tbl>
              <a:tblPr/>
              <a:tblGrid>
                <a:gridCol w="1737360"/>
                <a:gridCol w="2926080"/>
                <a:gridCol w="3566160"/>
              </a:tblGrid>
              <a:tr h="365760">
                <a:tc>
                  <a:txBody>
                    <a:bodyPr/>
                    <a:lstStyle/>
                    <a:p>
                      <a:pPr indent="0" marL="0">
                        <a:buNone/>
                      </a:pPr>
                      <a:r>
                        <a:rPr lang="en-US" sz="1200" b="1" dirty="0">
                          <a:solidFill>
                            <a:schemeClr val="bg1"/>
                          </a:solidFill>
                        </a:rPr>
                        <a:t>Aspect</a:t>
                      </a:r>
                      <a:endParaRPr lang="en-US" sz="1200" dirty="0"/>
                    </a:p>
                  </a:txBody>
                  <a:tcPr marL="91440" marR="91440" marT="27432" marB="27432" anchor="ctr">
                    <a:lnL w="6350" cap="flat" cmpd="sng" algn="ctr">
                      <a:solidFill>
                        <a:srgbClr val="D5E3DF"/>
                      </a:solidFill>
                      <a:prstDash val="solid"/>
                      <a:round/>
                      <a:headEnd type="none" w="med" len="med"/>
                      <a:tailEnd type="none" w="med" len="med"/>
                    </a:lnL>
                    <a:lnR w="6350" cap="flat" cmpd="sng" algn="ctr">
                      <a:solidFill>
                        <a:srgbClr val="D5E3DF"/>
                      </a:solidFill>
                      <a:prstDash val="solid"/>
                      <a:round/>
                      <a:headEnd type="none" w="med" len="med"/>
                      <a:tailEnd type="none" w="med" len="med"/>
                    </a:lnR>
                    <a:lnT w="6350" cap="flat" cmpd="sng" algn="ctr">
                      <a:solidFill>
                        <a:srgbClr val="D5E3DF"/>
                      </a:solidFill>
                      <a:prstDash val="solid"/>
                      <a:round/>
                      <a:headEnd type="none" w="med" len="med"/>
                      <a:tailEnd type="none" w="med" len="med"/>
                    </a:lnT>
                    <a:lnB w="6350" cap="flat" cmpd="sng" algn="ctr">
                      <a:solidFill>
                        <a:srgbClr val="D5E3DF"/>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Existing / manual</a:t>
                      </a:r>
                      <a:endParaRPr lang="en-US" sz="1200" dirty="0"/>
                    </a:p>
                  </a:txBody>
                  <a:tcPr marL="91440" marR="91440" marT="27432" marB="27432" anchor="ctr">
                    <a:lnL w="6350" cap="flat" cmpd="sng" algn="ctr">
                      <a:solidFill>
                        <a:srgbClr val="D5E3DF"/>
                      </a:solidFill>
                      <a:prstDash val="solid"/>
                      <a:round/>
                      <a:headEnd type="none" w="med" len="med"/>
                      <a:tailEnd type="none" w="med" len="med"/>
                    </a:lnL>
                    <a:lnR w="6350" cap="flat" cmpd="sng" algn="ctr">
                      <a:solidFill>
                        <a:srgbClr val="D5E3DF"/>
                      </a:solidFill>
                      <a:prstDash val="solid"/>
                      <a:round/>
                      <a:headEnd type="none" w="med" len="med"/>
                      <a:tailEnd type="none" w="med" len="med"/>
                    </a:lnR>
                    <a:lnT w="6350" cap="flat" cmpd="sng" algn="ctr">
                      <a:solidFill>
                        <a:srgbClr val="D5E3DF"/>
                      </a:solidFill>
                      <a:prstDash val="solid"/>
                      <a:round/>
                      <a:headEnd type="none" w="med" len="med"/>
                      <a:tailEnd type="none" w="med" len="med"/>
                    </a:lnT>
                    <a:lnB w="6350" cap="flat" cmpd="sng" algn="ctr">
                      <a:solidFill>
                        <a:srgbClr val="D5E3DF"/>
                      </a:solidFill>
                      <a:prstDash val="solid"/>
                      <a:round/>
                      <a:headEnd type="none" w="med" len="med"/>
                      <a:tailEnd type="none" w="med" len="med"/>
                    </a:lnB>
                    <a:solidFill>
                      <a:schemeClr val="accent6"/>
                    </a:solidFill>
                  </a:tcPr>
                </a:tc>
                <a:tc>
                  <a:txBody>
                    <a:bodyPr/>
                    <a:lstStyle/>
                    <a:p>
                      <a:pPr indent="0" marL="0">
                        <a:buNone/>
                      </a:pPr>
                      <a:r>
                        <a:rPr lang="en-US" sz="1200" b="1" dirty="0">
                          <a:solidFill>
                            <a:schemeClr val="bg1"/>
                          </a:solidFill>
                        </a:rPr>
                        <a:t>Proposed system</a:t>
                      </a:r>
                      <a:endParaRPr lang="en-US" sz="1200" dirty="0"/>
                    </a:p>
                  </a:txBody>
                  <a:tcPr marL="91440" marR="91440" marT="27432" marB="27432" anchor="ctr">
                    <a:lnL w="6350" cap="flat" cmpd="sng" algn="ctr">
                      <a:solidFill>
                        <a:srgbClr val="D5E3DF"/>
                      </a:solidFill>
                      <a:prstDash val="solid"/>
                      <a:round/>
                      <a:headEnd type="none" w="med" len="med"/>
                      <a:tailEnd type="none" w="med" len="med"/>
                    </a:lnL>
                    <a:lnR w="6350" cap="flat" cmpd="sng" algn="ctr">
                      <a:solidFill>
                        <a:srgbClr val="D5E3DF"/>
                      </a:solidFill>
                      <a:prstDash val="solid"/>
                      <a:round/>
                      <a:headEnd type="none" w="med" len="med"/>
                      <a:tailEnd type="none" w="med" len="med"/>
                    </a:lnR>
                    <a:lnT w="6350" cap="flat" cmpd="sng" algn="ctr">
                      <a:solidFill>
                        <a:srgbClr val="D5E3DF"/>
                      </a:solidFill>
                      <a:prstDash val="solid"/>
                      <a:round/>
                      <a:headEnd type="none" w="med" len="med"/>
                      <a:tailEnd type="none" w="med" len="med"/>
                    </a:lnT>
                    <a:lnB w="6350" cap="flat" cmpd="sng" algn="ctr">
                      <a:solidFill>
                        <a:srgbClr val="D5E3DF"/>
                      </a:solidFill>
                      <a:prstDash val="solid"/>
                      <a:round/>
                      <a:headEnd type="none" w="med" len="med"/>
                      <a:tailEnd type="none" w="med" len="med"/>
                    </a:lnB>
                    <a:solidFill>
                      <a:schemeClr val="accent1"/>
                    </a:solidFill>
                  </a:tcPr>
                </a:tc>
              </a:tr>
              <a:tr h="365760">
                <a:tc>
                  <a:txBody>
                    <a:bodyPr/>
                    <a:lstStyle/>
                    <a:p>
                      <a:pPr indent="0" marL="0">
                        <a:buNone/>
                      </a:pPr>
                      <a:r>
                        <a:rPr lang="en-US" sz="1150" b="1" dirty="0">
                          <a:solidFill>
                            <a:schemeClr val="tx1"/>
                          </a:solidFill>
                        </a:rPr>
                        <a:t>Stock records</a:t>
                      </a:r>
                      <a:endParaRPr lang="en-US" sz="1150" dirty="0"/>
                    </a:p>
                  </a:txBody>
                  <a:tcPr marL="91440" marR="91440" marT="27432" marB="27432" anchor="ctr">
                    <a:lnL w="6350" cap="flat" cmpd="sng" algn="ctr">
                      <a:solidFill>
                        <a:srgbClr val="D5E3DF"/>
                      </a:solidFill>
                      <a:prstDash val="solid"/>
                      <a:round/>
                      <a:headEnd type="none" w="med" len="med"/>
                      <a:tailEnd type="none" w="med" len="med"/>
                    </a:lnL>
                    <a:lnR w="6350" cap="flat" cmpd="sng" algn="ctr">
                      <a:solidFill>
                        <a:srgbClr val="D5E3DF"/>
                      </a:solidFill>
                      <a:prstDash val="solid"/>
                      <a:round/>
                      <a:headEnd type="none" w="med" len="med"/>
                      <a:tailEnd type="none" w="med" len="med"/>
                    </a:lnR>
                    <a:lnT w="6350" cap="flat" cmpd="sng" algn="ctr">
                      <a:solidFill>
                        <a:srgbClr val="D5E3DF"/>
                      </a:solidFill>
                      <a:prstDash val="solid"/>
                      <a:round/>
                      <a:headEnd type="none" w="med" len="med"/>
                      <a:tailEnd type="none" w="med" len="med"/>
                    </a:lnT>
                    <a:lnB w="6350" cap="flat" cmpd="sng" algn="ctr">
                      <a:solidFill>
                        <a:srgbClr val="D5E3DF"/>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Registers or spreadsheets; drift from reality</a:t>
                      </a:r>
                      <a:endParaRPr lang="en-US" sz="1150" dirty="0"/>
                    </a:p>
                  </a:txBody>
                  <a:tcPr marL="91440" marR="91440" marT="27432" marB="27432" anchor="ctr">
                    <a:lnL w="6350" cap="flat" cmpd="sng" algn="ctr">
                      <a:solidFill>
                        <a:srgbClr val="D5E3DF"/>
                      </a:solidFill>
                      <a:prstDash val="solid"/>
                      <a:round/>
                      <a:headEnd type="none" w="med" len="med"/>
                      <a:tailEnd type="none" w="med" len="med"/>
                    </a:lnL>
                    <a:lnR w="6350" cap="flat" cmpd="sng" algn="ctr">
                      <a:solidFill>
                        <a:srgbClr val="D5E3DF"/>
                      </a:solidFill>
                      <a:prstDash val="solid"/>
                      <a:round/>
                      <a:headEnd type="none" w="med" len="med"/>
                      <a:tailEnd type="none" w="med" len="med"/>
                    </a:lnR>
                    <a:lnT w="6350" cap="flat" cmpd="sng" algn="ctr">
                      <a:solidFill>
                        <a:srgbClr val="D5E3DF"/>
                      </a:solidFill>
                      <a:prstDash val="solid"/>
                      <a:round/>
                      <a:headEnd type="none" w="med" len="med"/>
                      <a:tailEnd type="none" w="med" len="med"/>
                    </a:lnT>
                    <a:lnB w="6350" cap="flat" cmpd="sng" algn="ctr">
                      <a:solidFill>
                        <a:srgbClr val="D5E3DF"/>
                      </a:solidFill>
                      <a:prstDash val="solid"/>
                      <a:round/>
                      <a:headEnd type="none" w="med" len="med"/>
                      <a:tailEnd type="none" w="med" len="med"/>
                    </a:lnB>
                    <a:solidFill>
                      <a:schemeClr val="bg2"/>
                    </a:solidFill>
                  </a:tcPr>
                </a:tc>
                <a:tc>
                  <a:txBody>
                    <a:bodyPr/>
                    <a:lstStyle/>
                    <a:p>
                      <a:pPr indent="0" marL="0">
                        <a:buNone/>
                      </a:pPr>
                      <a:r>
                        <a:rPr lang="en-US" sz="1150" b="1" dirty="0">
                          <a:solidFill>
                            <a:schemeClr val="accent1"/>
                          </a:solidFill>
                        </a:rPr>
                        <a:t>Stock ledger: every change saved in one transaction</a:t>
                      </a:r>
                      <a:endParaRPr lang="en-US" sz="1150" dirty="0"/>
                    </a:p>
                  </a:txBody>
                  <a:tcPr marL="91440" marR="91440" marT="27432" marB="27432" anchor="ctr">
                    <a:lnL w="6350" cap="flat" cmpd="sng" algn="ctr">
                      <a:solidFill>
                        <a:srgbClr val="D5E3DF"/>
                      </a:solidFill>
                      <a:prstDash val="solid"/>
                      <a:round/>
                      <a:headEnd type="none" w="med" len="med"/>
                      <a:tailEnd type="none" w="med" len="med"/>
                    </a:lnL>
                    <a:lnR w="6350" cap="flat" cmpd="sng" algn="ctr">
                      <a:solidFill>
                        <a:srgbClr val="D5E3DF"/>
                      </a:solidFill>
                      <a:prstDash val="solid"/>
                      <a:round/>
                      <a:headEnd type="none" w="med" len="med"/>
                      <a:tailEnd type="none" w="med" len="med"/>
                    </a:lnR>
                    <a:lnT w="6350" cap="flat" cmpd="sng" algn="ctr">
                      <a:solidFill>
                        <a:srgbClr val="D5E3DF"/>
                      </a:solidFill>
                      <a:prstDash val="solid"/>
                      <a:round/>
                      <a:headEnd type="none" w="med" len="med"/>
                      <a:tailEnd type="none" w="med" len="med"/>
                    </a:lnT>
                    <a:lnB w="6350" cap="flat" cmpd="sng" algn="ctr">
                      <a:solidFill>
                        <a:srgbClr val="D5E3DF"/>
                      </a:solidFill>
                      <a:prstDash val="solid"/>
                      <a:round/>
                      <a:headEnd type="none" w="med" len="med"/>
                      <a:tailEnd type="none" w="med" len="med"/>
                    </a:lnB>
                    <a:solidFill>
                      <a:srgbClr val="E2F1EC"/>
                    </a:solidFill>
                  </a:tcPr>
                </a:tc>
              </a:tr>
              <a:tr h="365760">
                <a:tc>
                  <a:txBody>
                    <a:bodyPr/>
                    <a:lstStyle/>
                    <a:p>
                      <a:pPr indent="0" marL="0">
                        <a:buNone/>
                      </a:pPr>
                      <a:r>
                        <a:rPr lang="en-US" sz="1150" b="1" dirty="0">
                          <a:solidFill>
                            <a:schemeClr val="tx1"/>
                          </a:solidFill>
                        </a:rPr>
                        <a:t>Billing and tax</a:t>
                      </a:r>
                      <a:endParaRPr lang="en-US" sz="1150" dirty="0"/>
                    </a:p>
                  </a:txBody>
                  <a:tcPr marL="91440" marR="91440" marT="27432" marB="27432" anchor="ctr">
                    <a:lnL w="6350" cap="flat" cmpd="sng" algn="ctr">
                      <a:solidFill>
                        <a:srgbClr val="D5E3DF"/>
                      </a:solidFill>
                      <a:prstDash val="solid"/>
                      <a:round/>
                      <a:headEnd type="none" w="med" len="med"/>
                      <a:tailEnd type="none" w="med" len="med"/>
                    </a:lnL>
                    <a:lnR w="6350" cap="flat" cmpd="sng" algn="ctr">
                      <a:solidFill>
                        <a:srgbClr val="D5E3DF"/>
                      </a:solidFill>
                      <a:prstDash val="solid"/>
                      <a:round/>
                      <a:headEnd type="none" w="med" len="med"/>
                      <a:tailEnd type="none" w="med" len="med"/>
                    </a:lnR>
                    <a:lnT w="6350" cap="flat" cmpd="sng" algn="ctr">
                      <a:solidFill>
                        <a:srgbClr val="D5E3DF"/>
                      </a:solidFill>
                      <a:prstDash val="solid"/>
                      <a:round/>
                      <a:headEnd type="none" w="med" len="med"/>
                      <a:tailEnd type="none" w="med" len="med"/>
                    </a:lnT>
                    <a:lnB w="6350" cap="flat" cmpd="sng" algn="ctr">
                      <a:solidFill>
                        <a:srgbClr val="D5E3DF"/>
                      </a:solidFill>
                      <a:prstDash val="solid"/>
                      <a:round/>
                      <a:headEnd type="none" w="med" len="med"/>
                      <a:tailEnd type="none" w="med" len="med"/>
                    </a:lnB>
                    <a:solidFill>
                      <a:schemeClr val="bg1"/>
                    </a:solidFill>
                  </a:tcPr>
                </a:tc>
                <a:tc>
                  <a:txBody>
                    <a:bodyPr/>
                    <a:lstStyle/>
                    <a:p>
                      <a:pPr indent="0" marL="0">
                        <a:buNone/>
                      </a:pPr>
                      <a:r>
                        <a:rPr lang="en-US" sz="1150" dirty="0">
                          <a:solidFill>
                            <a:schemeClr val="tx1"/>
                          </a:solidFill>
                        </a:rPr>
                        <a:t>Hand-written bills, not linked to stock</a:t>
                      </a:r>
                      <a:endParaRPr lang="en-US" sz="1150" dirty="0"/>
                    </a:p>
                  </a:txBody>
                  <a:tcPr marL="91440" marR="91440" marT="27432" marB="27432" anchor="ctr">
                    <a:lnL w="6350" cap="flat" cmpd="sng" algn="ctr">
                      <a:solidFill>
                        <a:srgbClr val="D5E3DF"/>
                      </a:solidFill>
                      <a:prstDash val="solid"/>
                      <a:round/>
                      <a:headEnd type="none" w="med" len="med"/>
                      <a:tailEnd type="none" w="med" len="med"/>
                    </a:lnL>
                    <a:lnR w="6350" cap="flat" cmpd="sng" algn="ctr">
                      <a:solidFill>
                        <a:srgbClr val="D5E3DF"/>
                      </a:solidFill>
                      <a:prstDash val="solid"/>
                      <a:round/>
                      <a:headEnd type="none" w="med" len="med"/>
                      <a:tailEnd type="none" w="med" len="med"/>
                    </a:lnR>
                    <a:lnT w="6350" cap="flat" cmpd="sng" algn="ctr">
                      <a:solidFill>
                        <a:srgbClr val="D5E3DF"/>
                      </a:solidFill>
                      <a:prstDash val="solid"/>
                      <a:round/>
                      <a:headEnd type="none" w="med" len="med"/>
                      <a:tailEnd type="none" w="med" len="med"/>
                    </a:lnT>
                    <a:lnB w="6350" cap="flat" cmpd="sng" algn="ctr">
                      <a:solidFill>
                        <a:srgbClr val="D5E3DF"/>
                      </a:solidFill>
                      <a:prstDash val="solid"/>
                      <a:round/>
                      <a:headEnd type="none" w="med" len="med"/>
                      <a:tailEnd type="none" w="med" len="med"/>
                    </a:lnB>
                    <a:solidFill>
                      <a:schemeClr val="bg1"/>
                    </a:solidFill>
                  </a:tcPr>
                </a:tc>
                <a:tc>
                  <a:txBody>
                    <a:bodyPr/>
                    <a:lstStyle/>
                    <a:p>
                      <a:pPr indent="0" marL="0">
                        <a:buNone/>
                      </a:pPr>
                      <a:r>
                        <a:rPr lang="en-US" sz="1150" b="1" dirty="0">
                          <a:solidFill>
                            <a:schemeClr val="accent1"/>
                          </a:solidFill>
                        </a:rPr>
                        <a:t>GST invoices with HSN codes; CGST + SGST or IGST</a:t>
                      </a:r>
                      <a:endParaRPr lang="en-US" sz="1150" dirty="0"/>
                    </a:p>
                  </a:txBody>
                  <a:tcPr marL="91440" marR="91440" marT="27432" marB="27432" anchor="ctr">
                    <a:lnL w="6350" cap="flat" cmpd="sng" algn="ctr">
                      <a:solidFill>
                        <a:srgbClr val="D5E3DF"/>
                      </a:solidFill>
                      <a:prstDash val="solid"/>
                      <a:round/>
                      <a:headEnd type="none" w="med" len="med"/>
                      <a:tailEnd type="none" w="med" len="med"/>
                    </a:lnL>
                    <a:lnR w="6350" cap="flat" cmpd="sng" algn="ctr">
                      <a:solidFill>
                        <a:srgbClr val="D5E3DF"/>
                      </a:solidFill>
                      <a:prstDash val="solid"/>
                      <a:round/>
                      <a:headEnd type="none" w="med" len="med"/>
                      <a:tailEnd type="none" w="med" len="med"/>
                    </a:lnR>
                    <a:lnT w="6350" cap="flat" cmpd="sng" algn="ctr">
                      <a:solidFill>
                        <a:srgbClr val="D5E3DF"/>
                      </a:solidFill>
                      <a:prstDash val="solid"/>
                      <a:round/>
                      <a:headEnd type="none" w="med" len="med"/>
                      <a:tailEnd type="none" w="med" len="med"/>
                    </a:lnT>
                    <a:lnB w="6350" cap="flat" cmpd="sng" algn="ctr">
                      <a:solidFill>
                        <a:srgbClr val="D5E3DF"/>
                      </a:solidFill>
                      <a:prstDash val="solid"/>
                      <a:round/>
                      <a:headEnd type="none" w="med" len="med"/>
                      <a:tailEnd type="none" w="med" len="med"/>
                    </a:lnB>
                    <a:solidFill>
                      <a:srgbClr val="E2F1EC"/>
                    </a:solidFill>
                  </a:tcPr>
                </a:tc>
              </a:tr>
              <a:tr h="365760">
                <a:tc>
                  <a:txBody>
                    <a:bodyPr/>
                    <a:lstStyle/>
                    <a:p>
                      <a:pPr indent="0" marL="0">
                        <a:buNone/>
                      </a:pPr>
                      <a:r>
                        <a:rPr lang="en-US" sz="1150" b="1" dirty="0">
                          <a:solidFill>
                            <a:schemeClr val="tx1"/>
                          </a:solidFill>
                        </a:rPr>
                        <a:t>Purchasing</a:t>
                      </a:r>
                      <a:endParaRPr lang="en-US" sz="1150" dirty="0"/>
                    </a:p>
                  </a:txBody>
                  <a:tcPr marL="91440" marR="91440" marT="27432" marB="27432" anchor="ctr">
                    <a:lnL w="6350" cap="flat" cmpd="sng" algn="ctr">
                      <a:solidFill>
                        <a:srgbClr val="D5E3DF"/>
                      </a:solidFill>
                      <a:prstDash val="solid"/>
                      <a:round/>
                      <a:headEnd type="none" w="med" len="med"/>
                      <a:tailEnd type="none" w="med" len="med"/>
                    </a:lnL>
                    <a:lnR w="6350" cap="flat" cmpd="sng" algn="ctr">
                      <a:solidFill>
                        <a:srgbClr val="D5E3DF"/>
                      </a:solidFill>
                      <a:prstDash val="solid"/>
                      <a:round/>
                      <a:headEnd type="none" w="med" len="med"/>
                      <a:tailEnd type="none" w="med" len="med"/>
                    </a:lnR>
                    <a:lnT w="6350" cap="flat" cmpd="sng" algn="ctr">
                      <a:solidFill>
                        <a:srgbClr val="D5E3DF"/>
                      </a:solidFill>
                      <a:prstDash val="solid"/>
                      <a:round/>
                      <a:headEnd type="none" w="med" len="med"/>
                      <a:tailEnd type="none" w="med" len="med"/>
                    </a:lnT>
                    <a:lnB w="6350" cap="flat" cmpd="sng" algn="ctr">
                      <a:solidFill>
                        <a:srgbClr val="D5E3DF"/>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Phone orders; deliveries not matched</a:t>
                      </a:r>
                      <a:endParaRPr lang="en-US" sz="1150" dirty="0"/>
                    </a:p>
                  </a:txBody>
                  <a:tcPr marL="91440" marR="91440" marT="27432" marB="27432" anchor="ctr">
                    <a:lnL w="6350" cap="flat" cmpd="sng" algn="ctr">
                      <a:solidFill>
                        <a:srgbClr val="D5E3DF"/>
                      </a:solidFill>
                      <a:prstDash val="solid"/>
                      <a:round/>
                      <a:headEnd type="none" w="med" len="med"/>
                      <a:tailEnd type="none" w="med" len="med"/>
                    </a:lnL>
                    <a:lnR w="6350" cap="flat" cmpd="sng" algn="ctr">
                      <a:solidFill>
                        <a:srgbClr val="D5E3DF"/>
                      </a:solidFill>
                      <a:prstDash val="solid"/>
                      <a:round/>
                      <a:headEnd type="none" w="med" len="med"/>
                      <a:tailEnd type="none" w="med" len="med"/>
                    </a:lnR>
                    <a:lnT w="6350" cap="flat" cmpd="sng" algn="ctr">
                      <a:solidFill>
                        <a:srgbClr val="D5E3DF"/>
                      </a:solidFill>
                      <a:prstDash val="solid"/>
                      <a:round/>
                      <a:headEnd type="none" w="med" len="med"/>
                      <a:tailEnd type="none" w="med" len="med"/>
                    </a:lnT>
                    <a:lnB w="6350" cap="flat" cmpd="sng" algn="ctr">
                      <a:solidFill>
                        <a:srgbClr val="D5E3DF"/>
                      </a:solidFill>
                      <a:prstDash val="solid"/>
                      <a:round/>
                      <a:headEnd type="none" w="med" len="med"/>
                      <a:tailEnd type="none" w="med" len="med"/>
                    </a:lnB>
                    <a:solidFill>
                      <a:schemeClr val="bg2"/>
                    </a:solidFill>
                  </a:tcPr>
                </a:tc>
                <a:tc>
                  <a:txBody>
                    <a:bodyPr/>
                    <a:lstStyle/>
                    <a:p>
                      <a:pPr indent="0" marL="0">
                        <a:buNone/>
                      </a:pPr>
                      <a:r>
                        <a:rPr lang="en-US" sz="1150" b="1" dirty="0">
                          <a:solidFill>
                            <a:schemeClr val="accent1"/>
                          </a:solidFill>
                        </a:rPr>
                        <a:t>Purchase orders, part deliveries, average cost</a:t>
                      </a:r>
                      <a:endParaRPr lang="en-US" sz="1150" dirty="0"/>
                    </a:p>
                  </a:txBody>
                  <a:tcPr marL="91440" marR="91440" marT="27432" marB="27432" anchor="ctr">
                    <a:lnL w="6350" cap="flat" cmpd="sng" algn="ctr">
                      <a:solidFill>
                        <a:srgbClr val="D5E3DF"/>
                      </a:solidFill>
                      <a:prstDash val="solid"/>
                      <a:round/>
                      <a:headEnd type="none" w="med" len="med"/>
                      <a:tailEnd type="none" w="med" len="med"/>
                    </a:lnL>
                    <a:lnR w="6350" cap="flat" cmpd="sng" algn="ctr">
                      <a:solidFill>
                        <a:srgbClr val="D5E3DF"/>
                      </a:solidFill>
                      <a:prstDash val="solid"/>
                      <a:round/>
                      <a:headEnd type="none" w="med" len="med"/>
                      <a:tailEnd type="none" w="med" len="med"/>
                    </a:lnR>
                    <a:lnT w="6350" cap="flat" cmpd="sng" algn="ctr">
                      <a:solidFill>
                        <a:srgbClr val="D5E3DF"/>
                      </a:solidFill>
                      <a:prstDash val="solid"/>
                      <a:round/>
                      <a:headEnd type="none" w="med" len="med"/>
                      <a:tailEnd type="none" w="med" len="med"/>
                    </a:lnT>
                    <a:lnB w="6350" cap="flat" cmpd="sng" algn="ctr">
                      <a:solidFill>
                        <a:srgbClr val="D5E3DF"/>
                      </a:solidFill>
                      <a:prstDash val="solid"/>
                      <a:round/>
                      <a:headEnd type="none" w="med" len="med"/>
                      <a:tailEnd type="none" w="med" len="med"/>
                    </a:lnB>
                    <a:solidFill>
                      <a:srgbClr val="E2F1EC"/>
                    </a:solidFill>
                  </a:tcPr>
                </a:tc>
              </a:tr>
              <a:tr h="365760">
                <a:tc>
                  <a:txBody>
                    <a:bodyPr/>
                    <a:lstStyle/>
                    <a:p>
                      <a:pPr indent="0" marL="0">
                        <a:buNone/>
                      </a:pPr>
                      <a:r>
                        <a:rPr lang="en-US" sz="1150" b="1" dirty="0">
                          <a:solidFill>
                            <a:schemeClr val="tx1"/>
                          </a:solidFill>
                        </a:rPr>
                        <a:t>Reorder decisions</a:t>
                      </a:r>
                      <a:endParaRPr lang="en-US" sz="1150" dirty="0"/>
                    </a:p>
                  </a:txBody>
                  <a:tcPr marL="91440" marR="91440" marT="27432" marB="27432" anchor="ctr">
                    <a:lnL w="6350" cap="flat" cmpd="sng" algn="ctr">
                      <a:solidFill>
                        <a:srgbClr val="D5E3DF"/>
                      </a:solidFill>
                      <a:prstDash val="solid"/>
                      <a:round/>
                      <a:headEnd type="none" w="med" len="med"/>
                      <a:tailEnd type="none" w="med" len="med"/>
                    </a:lnL>
                    <a:lnR w="6350" cap="flat" cmpd="sng" algn="ctr">
                      <a:solidFill>
                        <a:srgbClr val="D5E3DF"/>
                      </a:solidFill>
                      <a:prstDash val="solid"/>
                      <a:round/>
                      <a:headEnd type="none" w="med" len="med"/>
                      <a:tailEnd type="none" w="med" len="med"/>
                    </a:lnR>
                    <a:lnT w="6350" cap="flat" cmpd="sng" algn="ctr">
                      <a:solidFill>
                        <a:srgbClr val="D5E3DF"/>
                      </a:solidFill>
                      <a:prstDash val="solid"/>
                      <a:round/>
                      <a:headEnd type="none" w="med" len="med"/>
                      <a:tailEnd type="none" w="med" len="med"/>
                    </a:lnT>
                    <a:lnB w="6350" cap="flat" cmpd="sng" algn="ctr">
                      <a:solidFill>
                        <a:srgbClr val="D5E3DF"/>
                      </a:solidFill>
                      <a:prstDash val="solid"/>
                      <a:round/>
                      <a:headEnd type="none" w="med" len="med"/>
                      <a:tailEnd type="none" w="med" len="med"/>
                    </a:lnB>
                    <a:solidFill>
                      <a:schemeClr val="bg1"/>
                    </a:solidFill>
                  </a:tcPr>
                </a:tc>
                <a:tc>
                  <a:txBody>
                    <a:bodyPr/>
                    <a:lstStyle/>
                    <a:p>
                      <a:pPr indent="0" marL="0">
                        <a:buNone/>
                      </a:pPr>
                      <a:r>
                        <a:rPr lang="en-US" sz="1150" dirty="0">
                          <a:solidFill>
                            <a:schemeClr val="tx1"/>
                          </a:solidFill>
                        </a:rPr>
                        <a:t>Guesswork or a fixed reorder level</a:t>
                      </a:r>
                      <a:endParaRPr lang="en-US" sz="1150" dirty="0"/>
                    </a:p>
                  </a:txBody>
                  <a:tcPr marL="91440" marR="91440" marT="27432" marB="27432" anchor="ctr">
                    <a:lnL w="6350" cap="flat" cmpd="sng" algn="ctr">
                      <a:solidFill>
                        <a:srgbClr val="D5E3DF"/>
                      </a:solidFill>
                      <a:prstDash val="solid"/>
                      <a:round/>
                      <a:headEnd type="none" w="med" len="med"/>
                      <a:tailEnd type="none" w="med" len="med"/>
                    </a:lnL>
                    <a:lnR w="6350" cap="flat" cmpd="sng" algn="ctr">
                      <a:solidFill>
                        <a:srgbClr val="D5E3DF"/>
                      </a:solidFill>
                      <a:prstDash val="solid"/>
                      <a:round/>
                      <a:headEnd type="none" w="med" len="med"/>
                      <a:tailEnd type="none" w="med" len="med"/>
                    </a:lnR>
                    <a:lnT w="6350" cap="flat" cmpd="sng" algn="ctr">
                      <a:solidFill>
                        <a:srgbClr val="D5E3DF"/>
                      </a:solidFill>
                      <a:prstDash val="solid"/>
                      <a:round/>
                      <a:headEnd type="none" w="med" len="med"/>
                      <a:tailEnd type="none" w="med" len="med"/>
                    </a:lnT>
                    <a:lnB w="6350" cap="flat" cmpd="sng" algn="ctr">
                      <a:solidFill>
                        <a:srgbClr val="D5E3DF"/>
                      </a:solidFill>
                      <a:prstDash val="solid"/>
                      <a:round/>
                      <a:headEnd type="none" w="med" len="med"/>
                      <a:tailEnd type="none" w="med" len="med"/>
                    </a:lnB>
                    <a:solidFill>
                      <a:schemeClr val="bg1"/>
                    </a:solidFill>
                  </a:tcPr>
                </a:tc>
                <a:tc>
                  <a:txBody>
                    <a:bodyPr/>
                    <a:lstStyle/>
                    <a:p>
                      <a:pPr indent="0" marL="0">
                        <a:buNone/>
                      </a:pPr>
                      <a:r>
                        <a:rPr lang="en-US" sz="1150" b="1" dirty="0">
                          <a:solidFill>
                            <a:schemeClr val="accent1"/>
                          </a:solidFill>
                        </a:rPr>
                        <a:t>Forecasts with seasons and festivals; safety stock</a:t>
                      </a:r>
                      <a:endParaRPr lang="en-US" sz="1150" dirty="0"/>
                    </a:p>
                  </a:txBody>
                  <a:tcPr marL="91440" marR="91440" marT="27432" marB="27432" anchor="ctr">
                    <a:lnL w="6350" cap="flat" cmpd="sng" algn="ctr">
                      <a:solidFill>
                        <a:srgbClr val="D5E3DF"/>
                      </a:solidFill>
                      <a:prstDash val="solid"/>
                      <a:round/>
                      <a:headEnd type="none" w="med" len="med"/>
                      <a:tailEnd type="none" w="med" len="med"/>
                    </a:lnL>
                    <a:lnR w="6350" cap="flat" cmpd="sng" algn="ctr">
                      <a:solidFill>
                        <a:srgbClr val="D5E3DF"/>
                      </a:solidFill>
                      <a:prstDash val="solid"/>
                      <a:round/>
                      <a:headEnd type="none" w="med" len="med"/>
                      <a:tailEnd type="none" w="med" len="med"/>
                    </a:lnR>
                    <a:lnT w="6350" cap="flat" cmpd="sng" algn="ctr">
                      <a:solidFill>
                        <a:srgbClr val="D5E3DF"/>
                      </a:solidFill>
                      <a:prstDash val="solid"/>
                      <a:round/>
                      <a:headEnd type="none" w="med" len="med"/>
                      <a:tailEnd type="none" w="med" len="med"/>
                    </a:lnT>
                    <a:lnB w="6350" cap="flat" cmpd="sng" algn="ctr">
                      <a:solidFill>
                        <a:srgbClr val="D5E3DF"/>
                      </a:solidFill>
                      <a:prstDash val="solid"/>
                      <a:round/>
                      <a:headEnd type="none" w="med" len="med"/>
                      <a:tailEnd type="none" w="med" len="med"/>
                    </a:lnB>
                    <a:solidFill>
                      <a:srgbClr val="E2F1EC"/>
                    </a:solidFill>
                  </a:tcPr>
                </a:tc>
              </a:tr>
              <a:tr h="365760">
                <a:tc>
                  <a:txBody>
                    <a:bodyPr/>
                    <a:lstStyle/>
                    <a:p>
                      <a:pPr indent="0" marL="0">
                        <a:buNone/>
                      </a:pPr>
                      <a:r>
                        <a:rPr lang="en-US" sz="1150" b="1" dirty="0">
                          <a:solidFill>
                            <a:schemeClr val="tx1"/>
                          </a:solidFill>
                        </a:rPr>
                        <a:t>Control over AI</a:t>
                      </a:r>
                      <a:endParaRPr lang="en-US" sz="1150" dirty="0"/>
                    </a:p>
                  </a:txBody>
                  <a:tcPr marL="91440" marR="91440" marT="27432" marB="27432" anchor="ctr">
                    <a:lnL w="6350" cap="flat" cmpd="sng" algn="ctr">
                      <a:solidFill>
                        <a:srgbClr val="D5E3DF"/>
                      </a:solidFill>
                      <a:prstDash val="solid"/>
                      <a:round/>
                      <a:headEnd type="none" w="med" len="med"/>
                      <a:tailEnd type="none" w="med" len="med"/>
                    </a:lnL>
                    <a:lnR w="6350" cap="flat" cmpd="sng" algn="ctr">
                      <a:solidFill>
                        <a:srgbClr val="D5E3DF"/>
                      </a:solidFill>
                      <a:prstDash val="solid"/>
                      <a:round/>
                      <a:headEnd type="none" w="med" len="med"/>
                      <a:tailEnd type="none" w="med" len="med"/>
                    </a:lnR>
                    <a:lnT w="6350" cap="flat" cmpd="sng" algn="ctr">
                      <a:solidFill>
                        <a:srgbClr val="D5E3DF"/>
                      </a:solidFill>
                      <a:prstDash val="solid"/>
                      <a:round/>
                      <a:headEnd type="none" w="med" len="med"/>
                      <a:tailEnd type="none" w="med" len="med"/>
                    </a:lnT>
                    <a:lnB w="6350" cap="flat" cmpd="sng" algn="ctr">
                      <a:solidFill>
                        <a:srgbClr val="D5E3DF"/>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All manual, or fully automatic</a:t>
                      </a:r>
                      <a:endParaRPr lang="en-US" sz="1150" dirty="0"/>
                    </a:p>
                  </a:txBody>
                  <a:tcPr marL="91440" marR="91440" marT="27432" marB="27432" anchor="ctr">
                    <a:lnL w="6350" cap="flat" cmpd="sng" algn="ctr">
                      <a:solidFill>
                        <a:srgbClr val="D5E3DF"/>
                      </a:solidFill>
                      <a:prstDash val="solid"/>
                      <a:round/>
                      <a:headEnd type="none" w="med" len="med"/>
                      <a:tailEnd type="none" w="med" len="med"/>
                    </a:lnL>
                    <a:lnR w="6350" cap="flat" cmpd="sng" algn="ctr">
                      <a:solidFill>
                        <a:srgbClr val="D5E3DF"/>
                      </a:solidFill>
                      <a:prstDash val="solid"/>
                      <a:round/>
                      <a:headEnd type="none" w="med" len="med"/>
                      <a:tailEnd type="none" w="med" len="med"/>
                    </a:lnR>
                    <a:lnT w="6350" cap="flat" cmpd="sng" algn="ctr">
                      <a:solidFill>
                        <a:srgbClr val="D5E3DF"/>
                      </a:solidFill>
                      <a:prstDash val="solid"/>
                      <a:round/>
                      <a:headEnd type="none" w="med" len="med"/>
                      <a:tailEnd type="none" w="med" len="med"/>
                    </a:lnT>
                    <a:lnB w="6350" cap="flat" cmpd="sng" algn="ctr">
                      <a:solidFill>
                        <a:srgbClr val="D5E3DF"/>
                      </a:solidFill>
                      <a:prstDash val="solid"/>
                      <a:round/>
                      <a:headEnd type="none" w="med" len="med"/>
                      <a:tailEnd type="none" w="med" len="med"/>
                    </a:lnB>
                    <a:solidFill>
                      <a:schemeClr val="bg2"/>
                    </a:solidFill>
                  </a:tcPr>
                </a:tc>
                <a:tc>
                  <a:txBody>
                    <a:bodyPr/>
                    <a:lstStyle/>
                    <a:p>
                      <a:pPr indent="0" marL="0">
                        <a:buNone/>
                      </a:pPr>
                      <a:r>
                        <a:rPr lang="en-US" sz="1150" b="1" dirty="0">
                          <a:solidFill>
                            <a:schemeClr val="accent1"/>
                          </a:solidFill>
                        </a:rPr>
                        <a:t>Human in the loop: owner confirms every plan</a:t>
                      </a:r>
                      <a:endParaRPr lang="en-US" sz="1150" dirty="0"/>
                    </a:p>
                  </a:txBody>
                  <a:tcPr marL="91440" marR="91440" marT="27432" marB="27432" anchor="ctr">
                    <a:lnL w="6350" cap="flat" cmpd="sng" algn="ctr">
                      <a:solidFill>
                        <a:srgbClr val="D5E3DF"/>
                      </a:solidFill>
                      <a:prstDash val="solid"/>
                      <a:round/>
                      <a:headEnd type="none" w="med" len="med"/>
                      <a:tailEnd type="none" w="med" len="med"/>
                    </a:lnL>
                    <a:lnR w="6350" cap="flat" cmpd="sng" algn="ctr">
                      <a:solidFill>
                        <a:srgbClr val="D5E3DF"/>
                      </a:solidFill>
                      <a:prstDash val="solid"/>
                      <a:round/>
                      <a:headEnd type="none" w="med" len="med"/>
                      <a:tailEnd type="none" w="med" len="med"/>
                    </a:lnR>
                    <a:lnT w="6350" cap="flat" cmpd="sng" algn="ctr">
                      <a:solidFill>
                        <a:srgbClr val="D5E3DF"/>
                      </a:solidFill>
                      <a:prstDash val="solid"/>
                      <a:round/>
                      <a:headEnd type="none" w="med" len="med"/>
                      <a:tailEnd type="none" w="med" len="med"/>
                    </a:lnT>
                    <a:lnB w="6350" cap="flat" cmpd="sng" algn="ctr">
                      <a:solidFill>
                        <a:srgbClr val="D5E3DF"/>
                      </a:solidFill>
                      <a:prstDash val="solid"/>
                      <a:round/>
                      <a:headEnd type="none" w="med" len="med"/>
                      <a:tailEnd type="none" w="med" len="med"/>
                    </a:lnB>
                    <a:solidFill>
                      <a:srgbClr val="E2F1EC"/>
                    </a:solidFill>
                  </a:tcPr>
                </a:tc>
              </a:tr>
              <a:tr h="365760">
                <a:tc>
                  <a:txBody>
                    <a:bodyPr/>
                    <a:lstStyle/>
                    <a:p>
                      <a:pPr indent="0" marL="0">
                        <a:buNone/>
                      </a:pPr>
                      <a:r>
                        <a:rPr lang="en-US" sz="1150" b="1" dirty="0">
                          <a:solidFill>
                            <a:schemeClr val="tx1"/>
                          </a:solidFill>
                        </a:rPr>
                        <a:t>Questions about data</a:t>
                      </a:r>
                      <a:endParaRPr lang="en-US" sz="1150" dirty="0"/>
                    </a:p>
                  </a:txBody>
                  <a:tcPr marL="91440" marR="91440" marT="27432" marB="27432" anchor="ctr">
                    <a:lnL w="6350" cap="flat" cmpd="sng" algn="ctr">
                      <a:solidFill>
                        <a:srgbClr val="D5E3DF"/>
                      </a:solidFill>
                      <a:prstDash val="solid"/>
                      <a:round/>
                      <a:headEnd type="none" w="med" len="med"/>
                      <a:tailEnd type="none" w="med" len="med"/>
                    </a:lnL>
                    <a:lnR w="6350" cap="flat" cmpd="sng" algn="ctr">
                      <a:solidFill>
                        <a:srgbClr val="D5E3DF"/>
                      </a:solidFill>
                      <a:prstDash val="solid"/>
                      <a:round/>
                      <a:headEnd type="none" w="med" len="med"/>
                      <a:tailEnd type="none" w="med" len="med"/>
                    </a:lnR>
                    <a:lnT w="6350" cap="flat" cmpd="sng" algn="ctr">
                      <a:solidFill>
                        <a:srgbClr val="D5E3DF"/>
                      </a:solidFill>
                      <a:prstDash val="solid"/>
                      <a:round/>
                      <a:headEnd type="none" w="med" len="med"/>
                      <a:tailEnd type="none" w="med" len="med"/>
                    </a:lnT>
                    <a:lnB w="6350" cap="flat" cmpd="sng" algn="ctr">
                      <a:solidFill>
                        <a:srgbClr val="D5E3DF"/>
                      </a:solidFill>
                      <a:prstDash val="solid"/>
                      <a:round/>
                      <a:headEnd type="none" w="med" len="med"/>
                      <a:tailEnd type="none" w="med" len="med"/>
                    </a:lnB>
                    <a:solidFill>
                      <a:schemeClr val="bg1"/>
                    </a:solidFill>
                  </a:tcPr>
                </a:tc>
                <a:tc>
                  <a:txBody>
                    <a:bodyPr/>
                    <a:lstStyle/>
                    <a:p>
                      <a:pPr indent="0" marL="0">
                        <a:buNone/>
                      </a:pPr>
                      <a:r>
                        <a:rPr lang="en-US" sz="1150" dirty="0">
                          <a:solidFill>
                            <a:schemeClr val="tx1"/>
                          </a:solidFill>
                        </a:rPr>
                        <a:t>Fixed reports or analyst tools</a:t>
                      </a:r>
                      <a:endParaRPr lang="en-US" sz="1150" dirty="0"/>
                    </a:p>
                  </a:txBody>
                  <a:tcPr marL="91440" marR="91440" marT="27432" marB="27432" anchor="ctr">
                    <a:lnL w="6350" cap="flat" cmpd="sng" algn="ctr">
                      <a:solidFill>
                        <a:srgbClr val="D5E3DF"/>
                      </a:solidFill>
                      <a:prstDash val="solid"/>
                      <a:round/>
                      <a:headEnd type="none" w="med" len="med"/>
                      <a:tailEnd type="none" w="med" len="med"/>
                    </a:lnL>
                    <a:lnR w="6350" cap="flat" cmpd="sng" algn="ctr">
                      <a:solidFill>
                        <a:srgbClr val="D5E3DF"/>
                      </a:solidFill>
                      <a:prstDash val="solid"/>
                      <a:round/>
                      <a:headEnd type="none" w="med" len="med"/>
                      <a:tailEnd type="none" w="med" len="med"/>
                    </a:lnR>
                    <a:lnT w="6350" cap="flat" cmpd="sng" algn="ctr">
                      <a:solidFill>
                        <a:srgbClr val="D5E3DF"/>
                      </a:solidFill>
                      <a:prstDash val="solid"/>
                      <a:round/>
                      <a:headEnd type="none" w="med" len="med"/>
                      <a:tailEnd type="none" w="med" len="med"/>
                    </a:lnT>
                    <a:lnB w="6350" cap="flat" cmpd="sng" algn="ctr">
                      <a:solidFill>
                        <a:srgbClr val="D5E3DF"/>
                      </a:solidFill>
                      <a:prstDash val="solid"/>
                      <a:round/>
                      <a:headEnd type="none" w="med" len="med"/>
                      <a:tailEnd type="none" w="med" len="med"/>
                    </a:lnB>
                    <a:solidFill>
                      <a:schemeClr val="bg1"/>
                    </a:solidFill>
                  </a:tcPr>
                </a:tc>
                <a:tc>
                  <a:txBody>
                    <a:bodyPr/>
                    <a:lstStyle/>
                    <a:p>
                      <a:pPr indent="0" marL="0">
                        <a:buNone/>
                      </a:pPr>
                      <a:r>
                        <a:rPr lang="en-US" sz="1150" b="1" dirty="0">
                          <a:solidFill>
                            <a:schemeClr val="accent1"/>
                          </a:solidFill>
                        </a:rPr>
                        <a:t>Plain-English assistant on the shop’s own data</a:t>
                      </a:r>
                      <a:endParaRPr lang="en-US" sz="1150" dirty="0"/>
                    </a:p>
                  </a:txBody>
                  <a:tcPr marL="91440" marR="91440" marT="27432" marB="27432" anchor="ctr">
                    <a:lnL w="6350" cap="flat" cmpd="sng" algn="ctr">
                      <a:solidFill>
                        <a:srgbClr val="D5E3DF"/>
                      </a:solidFill>
                      <a:prstDash val="solid"/>
                      <a:round/>
                      <a:headEnd type="none" w="med" len="med"/>
                      <a:tailEnd type="none" w="med" len="med"/>
                    </a:lnL>
                    <a:lnR w="6350" cap="flat" cmpd="sng" algn="ctr">
                      <a:solidFill>
                        <a:srgbClr val="D5E3DF"/>
                      </a:solidFill>
                      <a:prstDash val="solid"/>
                      <a:round/>
                      <a:headEnd type="none" w="med" len="med"/>
                      <a:tailEnd type="none" w="med" len="med"/>
                    </a:lnR>
                    <a:lnT w="6350" cap="flat" cmpd="sng" algn="ctr">
                      <a:solidFill>
                        <a:srgbClr val="D5E3DF"/>
                      </a:solidFill>
                      <a:prstDash val="solid"/>
                      <a:round/>
                      <a:headEnd type="none" w="med" len="med"/>
                      <a:tailEnd type="none" w="med" len="med"/>
                    </a:lnT>
                    <a:lnB w="6350" cap="flat" cmpd="sng" algn="ctr">
                      <a:solidFill>
                        <a:srgbClr val="D5E3DF"/>
                      </a:solidFill>
                      <a:prstDash val="solid"/>
                      <a:round/>
                      <a:headEnd type="none" w="med" len="med"/>
                      <a:tailEnd type="none" w="med" len="med"/>
                    </a:lnB>
                    <a:solidFill>
                      <a:srgbClr val="E2F1EC"/>
                    </a:solidFill>
                  </a:tcPr>
                </a:tc>
              </a:tr>
              <a:tr h="365760">
                <a:tc>
                  <a:txBody>
                    <a:bodyPr/>
                    <a:lstStyle/>
                    <a:p>
                      <a:pPr indent="0" marL="0">
                        <a:buNone/>
                      </a:pPr>
                      <a:r>
                        <a:rPr lang="en-US" sz="1150" b="1" dirty="0">
                          <a:solidFill>
                            <a:schemeClr val="tx1"/>
                          </a:solidFill>
                        </a:rPr>
                        <a:t>Access and security</a:t>
                      </a:r>
                      <a:endParaRPr lang="en-US" sz="1150" dirty="0"/>
                    </a:p>
                  </a:txBody>
                  <a:tcPr marL="91440" marR="91440" marT="27432" marB="27432" anchor="ctr">
                    <a:lnL w="6350" cap="flat" cmpd="sng" algn="ctr">
                      <a:solidFill>
                        <a:srgbClr val="D5E3DF"/>
                      </a:solidFill>
                      <a:prstDash val="solid"/>
                      <a:round/>
                      <a:headEnd type="none" w="med" len="med"/>
                      <a:tailEnd type="none" w="med" len="med"/>
                    </a:lnL>
                    <a:lnR w="6350" cap="flat" cmpd="sng" algn="ctr">
                      <a:solidFill>
                        <a:srgbClr val="D5E3DF"/>
                      </a:solidFill>
                      <a:prstDash val="solid"/>
                      <a:round/>
                      <a:headEnd type="none" w="med" len="med"/>
                      <a:tailEnd type="none" w="med" len="med"/>
                    </a:lnR>
                    <a:lnT w="6350" cap="flat" cmpd="sng" algn="ctr">
                      <a:solidFill>
                        <a:srgbClr val="D5E3DF"/>
                      </a:solidFill>
                      <a:prstDash val="solid"/>
                      <a:round/>
                      <a:headEnd type="none" w="med" len="med"/>
                      <a:tailEnd type="none" w="med" len="med"/>
                    </a:lnT>
                    <a:lnB w="6350" cap="flat" cmpd="sng" algn="ctr">
                      <a:solidFill>
                        <a:srgbClr val="D5E3DF"/>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Shared logins or none</a:t>
                      </a:r>
                      <a:endParaRPr lang="en-US" sz="1150" dirty="0"/>
                    </a:p>
                  </a:txBody>
                  <a:tcPr marL="91440" marR="91440" marT="27432" marB="27432" anchor="ctr">
                    <a:lnL w="6350" cap="flat" cmpd="sng" algn="ctr">
                      <a:solidFill>
                        <a:srgbClr val="D5E3DF"/>
                      </a:solidFill>
                      <a:prstDash val="solid"/>
                      <a:round/>
                      <a:headEnd type="none" w="med" len="med"/>
                      <a:tailEnd type="none" w="med" len="med"/>
                    </a:lnL>
                    <a:lnR w="6350" cap="flat" cmpd="sng" algn="ctr">
                      <a:solidFill>
                        <a:srgbClr val="D5E3DF"/>
                      </a:solidFill>
                      <a:prstDash val="solid"/>
                      <a:round/>
                      <a:headEnd type="none" w="med" len="med"/>
                      <a:tailEnd type="none" w="med" len="med"/>
                    </a:lnR>
                    <a:lnT w="6350" cap="flat" cmpd="sng" algn="ctr">
                      <a:solidFill>
                        <a:srgbClr val="D5E3DF"/>
                      </a:solidFill>
                      <a:prstDash val="solid"/>
                      <a:round/>
                      <a:headEnd type="none" w="med" len="med"/>
                      <a:tailEnd type="none" w="med" len="med"/>
                    </a:lnT>
                    <a:lnB w="6350" cap="flat" cmpd="sng" algn="ctr">
                      <a:solidFill>
                        <a:srgbClr val="D5E3DF"/>
                      </a:solidFill>
                      <a:prstDash val="solid"/>
                      <a:round/>
                      <a:headEnd type="none" w="med" len="med"/>
                      <a:tailEnd type="none" w="med" len="med"/>
                    </a:lnB>
                    <a:solidFill>
                      <a:schemeClr val="bg2"/>
                    </a:solidFill>
                  </a:tcPr>
                </a:tc>
                <a:tc>
                  <a:txBody>
                    <a:bodyPr/>
                    <a:lstStyle/>
                    <a:p>
                      <a:pPr indent="0" marL="0">
                        <a:buNone/>
                      </a:pPr>
                      <a:r>
                        <a:rPr lang="en-US" sz="1150" b="1" dirty="0">
                          <a:solidFill>
                            <a:schemeClr val="accent1"/>
                          </a:solidFill>
                        </a:rPr>
                        <a:t>Roles, JWT sign-in, rotating tokens, audit log</a:t>
                      </a:r>
                      <a:endParaRPr lang="en-US" sz="1150" dirty="0"/>
                    </a:p>
                  </a:txBody>
                  <a:tcPr marL="91440" marR="91440" marT="27432" marB="27432" anchor="ctr">
                    <a:lnL w="6350" cap="flat" cmpd="sng" algn="ctr">
                      <a:solidFill>
                        <a:srgbClr val="D5E3DF"/>
                      </a:solidFill>
                      <a:prstDash val="solid"/>
                      <a:round/>
                      <a:headEnd type="none" w="med" len="med"/>
                      <a:tailEnd type="none" w="med" len="med"/>
                    </a:lnL>
                    <a:lnR w="6350" cap="flat" cmpd="sng" algn="ctr">
                      <a:solidFill>
                        <a:srgbClr val="D5E3DF"/>
                      </a:solidFill>
                      <a:prstDash val="solid"/>
                      <a:round/>
                      <a:headEnd type="none" w="med" len="med"/>
                      <a:tailEnd type="none" w="med" len="med"/>
                    </a:lnR>
                    <a:lnT w="6350" cap="flat" cmpd="sng" algn="ctr">
                      <a:solidFill>
                        <a:srgbClr val="D5E3DF"/>
                      </a:solidFill>
                      <a:prstDash val="solid"/>
                      <a:round/>
                      <a:headEnd type="none" w="med" len="med"/>
                      <a:tailEnd type="none" w="med" len="med"/>
                    </a:lnT>
                    <a:lnB w="6350" cap="flat" cmpd="sng" algn="ctr">
                      <a:solidFill>
                        <a:srgbClr val="D5E3DF"/>
                      </a:solidFill>
                      <a:prstDash val="solid"/>
                      <a:round/>
                      <a:headEnd type="none" w="med" len="med"/>
                      <a:tailEnd type="none" w="med" len="med"/>
                    </a:lnB>
                    <a:solidFill>
                      <a:srgbClr val="E2F1EC"/>
                    </a:solidFill>
                  </a:tcPr>
                </a:tc>
              </a:tr>
              <a:tr h="365760">
                <a:tc>
                  <a:txBody>
                    <a:bodyPr/>
                    <a:lstStyle/>
                    <a:p>
                      <a:pPr indent="0" marL="0">
                        <a:buNone/>
                      </a:pPr>
                      <a:r>
                        <a:rPr lang="en-US" sz="1150" b="1" dirty="0">
                          <a:solidFill>
                            <a:schemeClr val="tx1"/>
                          </a:solidFill>
                        </a:rPr>
                        <a:t>Platform</a:t>
                      </a:r>
                      <a:endParaRPr lang="en-US" sz="1150" dirty="0"/>
                    </a:p>
                  </a:txBody>
                  <a:tcPr marL="91440" marR="91440" marT="27432" marB="27432" anchor="ctr">
                    <a:lnL w="6350" cap="flat" cmpd="sng" algn="ctr">
                      <a:solidFill>
                        <a:srgbClr val="D5E3DF"/>
                      </a:solidFill>
                      <a:prstDash val="solid"/>
                      <a:round/>
                      <a:headEnd type="none" w="med" len="med"/>
                      <a:tailEnd type="none" w="med" len="med"/>
                    </a:lnL>
                    <a:lnR w="6350" cap="flat" cmpd="sng" algn="ctr">
                      <a:solidFill>
                        <a:srgbClr val="D5E3DF"/>
                      </a:solidFill>
                      <a:prstDash val="solid"/>
                      <a:round/>
                      <a:headEnd type="none" w="med" len="med"/>
                      <a:tailEnd type="none" w="med" len="med"/>
                    </a:lnR>
                    <a:lnT w="6350" cap="flat" cmpd="sng" algn="ctr">
                      <a:solidFill>
                        <a:srgbClr val="D5E3DF"/>
                      </a:solidFill>
                      <a:prstDash val="solid"/>
                      <a:round/>
                      <a:headEnd type="none" w="med" len="med"/>
                      <a:tailEnd type="none" w="med" len="med"/>
                    </a:lnT>
                    <a:lnB w="6350" cap="flat" cmpd="sng" algn="ctr">
                      <a:solidFill>
                        <a:srgbClr val="D5E3DF"/>
                      </a:solidFill>
                      <a:prstDash val="solid"/>
                      <a:round/>
                      <a:headEnd type="none" w="med" len="med"/>
                      <a:tailEnd type="none" w="med" len="med"/>
                    </a:lnB>
                    <a:solidFill>
                      <a:schemeClr val="bg1"/>
                    </a:solidFill>
                  </a:tcPr>
                </a:tc>
                <a:tc>
                  <a:txBody>
                    <a:bodyPr/>
                    <a:lstStyle/>
                    <a:p>
                      <a:pPr indent="0" marL="0">
                        <a:buNone/>
                      </a:pPr>
                      <a:r>
                        <a:rPr lang="en-US" sz="1150" dirty="0">
                          <a:solidFill>
                            <a:schemeClr val="tx1"/>
                          </a:solidFill>
                        </a:rPr>
                        <a:t>Desktop software on one computer</a:t>
                      </a:r>
                      <a:endParaRPr lang="en-US" sz="1150" dirty="0"/>
                    </a:p>
                  </a:txBody>
                  <a:tcPr marL="91440" marR="91440" marT="27432" marB="27432" anchor="ctr">
                    <a:lnL w="6350" cap="flat" cmpd="sng" algn="ctr">
                      <a:solidFill>
                        <a:srgbClr val="D5E3DF"/>
                      </a:solidFill>
                      <a:prstDash val="solid"/>
                      <a:round/>
                      <a:headEnd type="none" w="med" len="med"/>
                      <a:tailEnd type="none" w="med" len="med"/>
                    </a:lnL>
                    <a:lnR w="6350" cap="flat" cmpd="sng" algn="ctr">
                      <a:solidFill>
                        <a:srgbClr val="D5E3DF"/>
                      </a:solidFill>
                      <a:prstDash val="solid"/>
                      <a:round/>
                      <a:headEnd type="none" w="med" len="med"/>
                      <a:tailEnd type="none" w="med" len="med"/>
                    </a:lnR>
                    <a:lnT w="6350" cap="flat" cmpd="sng" algn="ctr">
                      <a:solidFill>
                        <a:srgbClr val="D5E3DF"/>
                      </a:solidFill>
                      <a:prstDash val="solid"/>
                      <a:round/>
                      <a:headEnd type="none" w="med" len="med"/>
                      <a:tailEnd type="none" w="med" len="med"/>
                    </a:lnT>
                    <a:lnB w="6350" cap="flat" cmpd="sng" algn="ctr">
                      <a:solidFill>
                        <a:srgbClr val="D5E3DF"/>
                      </a:solidFill>
                      <a:prstDash val="solid"/>
                      <a:round/>
                      <a:headEnd type="none" w="med" len="med"/>
                      <a:tailEnd type="none" w="med" len="med"/>
                    </a:lnB>
                    <a:solidFill>
                      <a:schemeClr val="bg1"/>
                    </a:solidFill>
                  </a:tcPr>
                </a:tc>
                <a:tc>
                  <a:txBody>
                    <a:bodyPr/>
                    <a:lstStyle/>
                    <a:p>
                      <a:pPr indent="0" marL="0">
                        <a:buNone/>
                      </a:pPr>
                      <a:r>
                        <a:rPr lang="en-US" sz="1150" b="1" dirty="0">
                          <a:solidFill>
                            <a:schemeClr val="accent1"/>
                          </a:solidFill>
                        </a:rPr>
                        <a:t>Web app on any device; Docker deployment</a:t>
                      </a:r>
                      <a:endParaRPr lang="en-US" sz="1150" dirty="0"/>
                    </a:p>
                  </a:txBody>
                  <a:tcPr marL="91440" marR="91440" marT="27432" marB="27432" anchor="ctr">
                    <a:lnL w="6350" cap="flat" cmpd="sng" algn="ctr">
                      <a:solidFill>
                        <a:srgbClr val="D5E3DF"/>
                      </a:solidFill>
                      <a:prstDash val="solid"/>
                      <a:round/>
                      <a:headEnd type="none" w="med" len="med"/>
                      <a:tailEnd type="none" w="med" len="med"/>
                    </a:lnL>
                    <a:lnR w="6350" cap="flat" cmpd="sng" algn="ctr">
                      <a:solidFill>
                        <a:srgbClr val="D5E3DF"/>
                      </a:solidFill>
                      <a:prstDash val="solid"/>
                      <a:round/>
                      <a:headEnd type="none" w="med" len="med"/>
                      <a:tailEnd type="none" w="med" len="med"/>
                    </a:lnR>
                    <a:lnT w="6350" cap="flat" cmpd="sng" algn="ctr">
                      <a:solidFill>
                        <a:srgbClr val="D5E3DF"/>
                      </a:solidFill>
                      <a:prstDash val="solid"/>
                      <a:round/>
                      <a:headEnd type="none" w="med" len="med"/>
                      <a:tailEnd type="none" w="med" len="med"/>
                    </a:lnT>
                    <a:lnB w="6350" cap="flat" cmpd="sng" algn="ctr">
                      <a:solidFill>
                        <a:srgbClr val="D5E3DF"/>
                      </a:solidFill>
                      <a:prstDash val="solid"/>
                      <a:round/>
                      <a:headEnd type="none" w="med" len="med"/>
                      <a:tailEnd type="none" w="med" len="med"/>
                    </a:lnB>
                    <a:solidFill>
                      <a:srgbClr val="E2F1EC"/>
                    </a:solidFill>
                  </a:tcPr>
                </a:tc>
              </a:tr>
            </a:tbl>
          </a:graphicData>
        </a:graphic>
      </p:graphicFrame>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Eyebrow"/>
          <p:cNvSpPr txBox="1"/>
          <p:nvPr/>
        </p:nvSpPr>
        <p:spPr>
          <a:xfrm>
            <a:off x="457200" y="274320"/>
            <a:ext cx="5486400" cy="256032"/>
          </a:xfrm>
          <a:prstGeom prst="rect">
            <a:avLst/>
          </a:prstGeom>
          <a:noFill/>
          <a:ln/>
        </p:spPr>
        <p:txBody>
          <a:bodyPr wrap="square" lIns="0" tIns="0" rIns="0" bIns="0" rtlCol="0" anchor="ctr"/>
          <a:lstStyle/>
          <a:p>
            <a:pPr indent="0" marL="0">
              <a:buNone/>
            </a:pPr>
            <a:r>
              <a:rPr lang="en-US" sz="1100" b="1" spc="200" kern="0" dirty="0">
                <a:solidFill>
                  <a:schemeClr val="accent1"/>
                </a:solidFill>
              </a:rPr>
              <a:t>08 · SYSTEM ARCHITECTURE</a:t>
            </a:r>
            <a:endParaRPr lang="en-US" sz="1100" dirty="0"/>
          </a:p>
        </p:txBody>
      </p:sp>
      <p:sp>
        <p:nvSpPr>
          <p:cNvPr id="3" name="Text 0"/>
          <p:cNvSpPr/>
          <p:nvPr>
            <p:ph idx="100" type="title" hasCustomPrompt="1"/>
          </p:nvPr>
        </p:nvSpPr>
        <p:spPr>
          <a:xfrm>
            <a:off x="457200" y="502920"/>
            <a:ext cx="6400800" cy="640080"/>
          </a:xfrm>
          <a:prstGeom prst="rect">
            <a:avLst/>
          </a:prstGeom>
          <a:noFill/>
          <a:ln/>
        </p:spPr>
        <p:txBody>
          <a:bodyPr wrap="square" lIns="0" tIns="0" rIns="0" bIns="0" rtlCol="0" anchor="ctr"/>
          <a:lstStyle/>
          <a:p>
            <a:pPr algn="l" indent="0" marL="0">
              <a:buNone/>
            </a:pPr>
            <a:r>
              <a:rPr lang="en-US" sz="3400" b="1" dirty="0">
                <a:solidFill>
                  <a:schemeClr val="tx2"/>
                </a:solidFill>
                <a:latin typeface="Cambria" pitchFamily="34" charset="0"/>
                <a:ea typeface="Cambria" pitchFamily="34" charset="-122"/>
                <a:cs typeface="Cambria" pitchFamily="34" charset="-120"/>
              </a:rPr>
              <a:t>System Architecture</a:t>
            </a:r>
            <a:endParaRPr lang="en-US" sz="3400" dirty="0"/>
          </a:p>
        </p:txBody>
      </p:sp>
      <p:sp>
        <p:nvSpPr>
          <p:cNvPr id="4" name="LuMonitor tile"/>
          <p:cNvSpPr/>
          <p:nvPr/>
        </p:nvSpPr>
        <p:spPr>
          <a:xfrm>
            <a:off x="457200" y="1362456"/>
            <a:ext cx="457200" cy="457200"/>
          </a:xfrm>
          <a:prstGeom prst="roundRect">
            <a:avLst>
              <a:gd name="adj" fmla="val 22000"/>
            </a:avLst>
          </a:prstGeom>
          <a:solidFill>
            <a:schemeClr val="accent1"/>
          </a:solidFill>
          <a:ln/>
        </p:spPr>
      </p:sp>
      <p:pic>
        <p:nvPicPr>
          <p:cNvPr id="5" name="LuMonitor icon" descr="preencoded.png">    </p:cNvPr>
          <p:cNvPicPr>
            <a:picLocks noChangeAspect="1"/>
          </p:cNvPicPr>
          <p:nvPr/>
        </p:nvPicPr>
        <p:blipFill>
          <a:blip r:embed="rId1"/>
          <a:stretch>
            <a:fillRect/>
          </a:stretch>
        </p:blipFill>
        <p:spPr>
          <a:xfrm>
            <a:off x="566928" y="1472184"/>
            <a:ext cx="237744" cy="237744"/>
          </a:xfrm>
          <a:prstGeom prst="rect">
            <a:avLst/>
          </a:prstGeom>
        </p:spPr>
      </p:pic>
      <p:sp>
        <p:nvSpPr>
          <p:cNvPr id="6" name="Presentation layer tier"/>
          <p:cNvSpPr txBox="1"/>
          <p:nvPr/>
        </p:nvSpPr>
        <p:spPr>
          <a:xfrm>
            <a:off x="1051560" y="1325880"/>
            <a:ext cx="3108960" cy="749808"/>
          </a:xfrm>
          <a:prstGeom prst="rect">
            <a:avLst/>
          </a:prstGeom>
          <a:noFill/>
          <a:ln/>
        </p:spPr>
        <p:txBody>
          <a:bodyPr wrap="square" lIns="0" tIns="0" rIns="0" bIns="0" rtlCol="0" anchor="t"/>
          <a:lstStyle/>
          <a:p>
            <a:pPr indent="0" marL="0">
              <a:spcAft>
                <a:spcPts val="200"/>
              </a:spcAft>
              <a:buNone/>
            </a:pPr>
            <a:r>
              <a:rPr lang="en-US" sz="1400" b="1" dirty="0">
                <a:solidFill>
                  <a:schemeClr val="tx2"/>
                </a:solidFill>
              </a:rPr>
              <a:t>Presentation layer</a:t>
            </a:r>
            <a:endParaRPr lang="en-US" sz="1400" dirty="0"/>
          </a:p>
          <a:p>
            <a:pPr indent="0" marL="0">
              <a:spcAft>
                <a:spcPts val="200"/>
              </a:spcAft>
              <a:buNone/>
            </a:pPr>
            <a:r>
              <a:rPr lang="en-US" sz="1150" dirty="0">
                <a:solidFill>
                  <a:schemeClr val="tx1"/>
                </a:solidFill>
              </a:rPr>
              <a:t>React web app in the browser: one screen per module, for desktop or phone</a:t>
            </a:r>
            <a:endParaRPr lang="en-US" sz="1400" dirty="0"/>
          </a:p>
        </p:txBody>
      </p:sp>
      <p:sp>
        <p:nvSpPr>
          <p:cNvPr id="7" name="LuServer tile"/>
          <p:cNvSpPr/>
          <p:nvPr/>
        </p:nvSpPr>
        <p:spPr>
          <a:xfrm>
            <a:off x="457200" y="2185416"/>
            <a:ext cx="457200" cy="457200"/>
          </a:xfrm>
          <a:prstGeom prst="roundRect">
            <a:avLst>
              <a:gd name="adj" fmla="val 22000"/>
            </a:avLst>
          </a:prstGeom>
          <a:solidFill>
            <a:schemeClr val="tx2"/>
          </a:solidFill>
          <a:ln/>
        </p:spPr>
      </p:sp>
      <p:pic>
        <p:nvPicPr>
          <p:cNvPr id="8" name="LuServer icon" descr="preencoded.png">    </p:cNvPr>
          <p:cNvPicPr>
            <a:picLocks noChangeAspect="1"/>
          </p:cNvPicPr>
          <p:nvPr/>
        </p:nvPicPr>
        <p:blipFill>
          <a:blip r:embed="rId2"/>
          <a:stretch>
            <a:fillRect/>
          </a:stretch>
        </p:blipFill>
        <p:spPr>
          <a:xfrm>
            <a:off x="566928" y="2295144"/>
            <a:ext cx="237744" cy="237744"/>
          </a:xfrm>
          <a:prstGeom prst="rect">
            <a:avLst/>
          </a:prstGeom>
        </p:spPr>
      </p:pic>
      <p:sp>
        <p:nvSpPr>
          <p:cNvPr id="9" name="Application layer tier"/>
          <p:cNvSpPr txBox="1"/>
          <p:nvPr/>
        </p:nvSpPr>
        <p:spPr>
          <a:xfrm>
            <a:off x="1051560" y="2148840"/>
            <a:ext cx="3108960" cy="749808"/>
          </a:xfrm>
          <a:prstGeom prst="rect">
            <a:avLst/>
          </a:prstGeom>
          <a:noFill/>
          <a:ln/>
        </p:spPr>
        <p:txBody>
          <a:bodyPr wrap="square" lIns="0" tIns="0" rIns="0" bIns="0" rtlCol="0" anchor="t"/>
          <a:lstStyle/>
          <a:p>
            <a:pPr indent="0" marL="0">
              <a:spcAft>
                <a:spcPts val="200"/>
              </a:spcAft>
              <a:buNone/>
            </a:pPr>
            <a:r>
              <a:rPr lang="en-US" sz="1400" b="1" dirty="0">
                <a:solidFill>
                  <a:schemeClr val="tx2"/>
                </a:solidFill>
              </a:rPr>
              <a:t>Application layer</a:t>
            </a:r>
            <a:endParaRPr lang="en-US" sz="1400" dirty="0"/>
          </a:p>
          <a:p>
            <a:pPr indent="0" marL="0">
              <a:spcAft>
                <a:spcPts val="200"/>
              </a:spcAft>
              <a:buNone/>
            </a:pPr>
            <a:r>
              <a:rPr lang="en-US" sz="1150" dirty="0">
                <a:solidFill>
                  <a:schemeClr val="tx1"/>
                </a:solidFill>
              </a:rPr>
              <a:t>Express REST API: sign-in, role checks and validation on every request</a:t>
            </a:r>
            <a:endParaRPr lang="en-US" sz="1400" dirty="0"/>
          </a:p>
        </p:txBody>
      </p:sp>
      <p:sp>
        <p:nvSpPr>
          <p:cNvPr id="10" name="LuDatabase tile"/>
          <p:cNvSpPr/>
          <p:nvPr/>
        </p:nvSpPr>
        <p:spPr>
          <a:xfrm>
            <a:off x="457200" y="3008376"/>
            <a:ext cx="457200" cy="457200"/>
          </a:xfrm>
          <a:prstGeom prst="roundRect">
            <a:avLst>
              <a:gd name="adj" fmla="val 22000"/>
            </a:avLst>
          </a:prstGeom>
          <a:solidFill>
            <a:schemeClr val="accent1"/>
          </a:solidFill>
          <a:ln/>
        </p:spPr>
      </p:sp>
      <p:pic>
        <p:nvPicPr>
          <p:cNvPr id="11" name="LuDatabase icon" descr="preencoded.png">    </p:cNvPr>
          <p:cNvPicPr>
            <a:picLocks noChangeAspect="1"/>
          </p:cNvPicPr>
          <p:nvPr/>
        </p:nvPicPr>
        <p:blipFill>
          <a:blip r:embed="rId3"/>
          <a:stretch>
            <a:fillRect/>
          </a:stretch>
        </p:blipFill>
        <p:spPr>
          <a:xfrm>
            <a:off x="566928" y="3118104"/>
            <a:ext cx="237744" cy="237744"/>
          </a:xfrm>
          <a:prstGeom prst="rect">
            <a:avLst/>
          </a:prstGeom>
        </p:spPr>
      </p:pic>
      <p:sp>
        <p:nvSpPr>
          <p:cNvPr id="12" name="Data layer tier"/>
          <p:cNvSpPr txBox="1"/>
          <p:nvPr/>
        </p:nvSpPr>
        <p:spPr>
          <a:xfrm>
            <a:off x="1051560" y="2971800"/>
            <a:ext cx="3108960" cy="749808"/>
          </a:xfrm>
          <a:prstGeom prst="rect">
            <a:avLst/>
          </a:prstGeom>
          <a:noFill/>
          <a:ln/>
        </p:spPr>
        <p:txBody>
          <a:bodyPr wrap="square" lIns="0" tIns="0" rIns="0" bIns="0" rtlCol="0" anchor="t"/>
          <a:lstStyle/>
          <a:p>
            <a:pPr indent="0" marL="0">
              <a:spcAft>
                <a:spcPts val="200"/>
              </a:spcAft>
              <a:buNone/>
            </a:pPr>
            <a:r>
              <a:rPr lang="en-US" sz="1400" b="1" dirty="0">
                <a:solidFill>
                  <a:schemeClr val="tx2"/>
                </a:solidFill>
              </a:rPr>
              <a:t>Data layer</a:t>
            </a:r>
            <a:endParaRPr lang="en-US" sz="1400" dirty="0"/>
          </a:p>
          <a:p>
            <a:pPr indent="0" marL="0">
              <a:spcAft>
                <a:spcPts val="200"/>
              </a:spcAft>
              <a:buNone/>
            </a:pPr>
            <a:r>
              <a:rPr lang="en-US" sz="1150" dirty="0">
                <a:solidFill>
                  <a:schemeClr val="tx1"/>
                </a:solidFill>
              </a:rPr>
              <a:t>MongoDB replica set, so each sale or delivery saves all-or-nothing</a:t>
            </a:r>
            <a:endParaRPr lang="en-US" sz="1400" dirty="0"/>
          </a:p>
        </p:txBody>
      </p:sp>
      <p:sp>
        <p:nvSpPr>
          <p:cNvPr id="13" name="LuShare2 tile"/>
          <p:cNvSpPr/>
          <p:nvPr/>
        </p:nvSpPr>
        <p:spPr>
          <a:xfrm>
            <a:off x="457200" y="3831336"/>
            <a:ext cx="457200" cy="457200"/>
          </a:xfrm>
          <a:prstGeom prst="roundRect">
            <a:avLst>
              <a:gd name="adj" fmla="val 22000"/>
            </a:avLst>
          </a:prstGeom>
          <a:solidFill>
            <a:schemeClr val="tx2"/>
          </a:solidFill>
          <a:ln/>
        </p:spPr>
      </p:sp>
      <p:pic>
        <p:nvPicPr>
          <p:cNvPr id="14" name="LuShare2 icon" descr="preencoded.png">    </p:cNvPr>
          <p:cNvPicPr>
            <a:picLocks noChangeAspect="1"/>
          </p:cNvPicPr>
          <p:nvPr/>
        </p:nvPicPr>
        <p:blipFill>
          <a:blip r:embed="rId4"/>
          <a:stretch>
            <a:fillRect/>
          </a:stretch>
        </p:blipFill>
        <p:spPr>
          <a:xfrm>
            <a:off x="566928" y="3941064"/>
            <a:ext cx="237744" cy="237744"/>
          </a:xfrm>
          <a:prstGeom prst="rect">
            <a:avLst/>
          </a:prstGeom>
        </p:spPr>
      </p:pic>
      <p:sp>
        <p:nvSpPr>
          <p:cNvPr id="15" name="Shared package tier"/>
          <p:cNvSpPr txBox="1"/>
          <p:nvPr/>
        </p:nvSpPr>
        <p:spPr>
          <a:xfrm>
            <a:off x="1051560" y="3794760"/>
            <a:ext cx="3108960" cy="749808"/>
          </a:xfrm>
          <a:prstGeom prst="rect">
            <a:avLst/>
          </a:prstGeom>
          <a:noFill/>
          <a:ln/>
        </p:spPr>
        <p:txBody>
          <a:bodyPr wrap="square" lIns="0" tIns="0" rIns="0" bIns="0" rtlCol="0" anchor="t"/>
          <a:lstStyle/>
          <a:p>
            <a:pPr indent="0" marL="0">
              <a:spcAft>
                <a:spcPts val="200"/>
              </a:spcAft>
              <a:buNone/>
            </a:pPr>
            <a:r>
              <a:rPr lang="en-US" sz="1400" b="1" dirty="0">
                <a:solidFill>
                  <a:schemeClr val="tx2"/>
                </a:solidFill>
              </a:rPr>
              <a:t>Shared package</a:t>
            </a:r>
            <a:endParaRPr lang="en-US" sz="1400" dirty="0"/>
          </a:p>
          <a:p>
            <a:pPr indent="0" marL="0">
              <a:spcAft>
                <a:spcPts val="200"/>
              </a:spcAft>
              <a:buNone/>
            </a:pPr>
            <a:r>
              <a:rPr lang="en-US" sz="1150" dirty="0">
                <a:solidFill>
                  <a:schemeClr val="tx1"/>
                </a:solidFill>
              </a:rPr>
              <a:t>GST maths, money in paise and validation used by both sides</a:t>
            </a:r>
            <a:endParaRPr lang="en-US" sz="1400" dirty="0"/>
          </a:p>
        </p:txBody>
      </p:sp>
      <p:sp>
        <p:nvSpPr>
          <p:cNvPr id="16" name="Diagram frame"/>
          <p:cNvSpPr/>
          <p:nvPr/>
        </p:nvSpPr>
        <p:spPr>
          <a:xfrm>
            <a:off x="4343400" y="1188720"/>
            <a:ext cx="4343400" cy="3493008"/>
          </a:xfrm>
          <a:prstGeom prst="roundRect">
            <a:avLst>
              <a:gd name="adj" fmla="val 2094"/>
            </a:avLst>
          </a:prstGeom>
          <a:solidFill>
            <a:schemeClr val="bg1"/>
          </a:solidFill>
          <a:ln w="9525">
            <a:solidFill>
              <a:srgbClr val="D5E3DF"/>
            </a:solidFill>
            <a:prstDash val="solid"/>
          </a:ln>
        </p:spPr>
      </p:sp>
      <p:pic>
        <p:nvPicPr>
          <p:cNvPr id="17" name="Architecture diagram" descr="Three-tier architecture: React presentation layer, Express application layer, MongoDB data layer, shared package and optional Google Gemini API">    </p:cNvPr>
          <p:cNvPicPr>
            <a:picLocks noChangeAspect="1"/>
          </p:cNvPicPr>
          <p:nvPr/>
        </p:nvPicPr>
        <p:blipFill>
          <a:blip r:embed="rId5"/>
          <a:stretch>
            <a:fillRect/>
          </a:stretch>
        </p:blipFill>
        <p:spPr>
          <a:xfrm>
            <a:off x="4526280" y="1261872"/>
            <a:ext cx="3977640" cy="3270817"/>
          </a:xfrm>
          <a:prstGeom prst="rect">
            <a:avLst/>
          </a:prstGeom>
        </p:spPr>
      </p:pic>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Eyebrow"/>
          <p:cNvSpPr txBox="1"/>
          <p:nvPr/>
        </p:nvSpPr>
        <p:spPr>
          <a:xfrm>
            <a:off x="457200" y="274320"/>
            <a:ext cx="5486400" cy="256032"/>
          </a:xfrm>
          <a:prstGeom prst="rect">
            <a:avLst/>
          </a:prstGeom>
          <a:noFill/>
          <a:ln/>
        </p:spPr>
        <p:txBody>
          <a:bodyPr wrap="square" lIns="0" tIns="0" rIns="0" bIns="0" rtlCol="0" anchor="ctr"/>
          <a:lstStyle/>
          <a:p>
            <a:pPr indent="0" marL="0">
              <a:buNone/>
            </a:pPr>
            <a:r>
              <a:rPr lang="en-US" sz="1100" b="1" spc="200" kern="0" dirty="0">
                <a:solidFill>
                  <a:schemeClr val="accent1"/>
                </a:solidFill>
              </a:rPr>
              <a:t>09 · MODULES</a:t>
            </a:r>
            <a:endParaRPr lang="en-US" sz="1100" dirty="0"/>
          </a:p>
        </p:txBody>
      </p:sp>
      <p:sp>
        <p:nvSpPr>
          <p:cNvPr id="3" name="Text 0"/>
          <p:cNvSpPr/>
          <p:nvPr>
            <p:ph idx="100" type="title" hasCustomPrompt="1"/>
          </p:nvPr>
        </p:nvSpPr>
        <p:spPr>
          <a:xfrm>
            <a:off x="457200" y="502920"/>
            <a:ext cx="6400800" cy="640080"/>
          </a:xfrm>
          <a:prstGeom prst="rect">
            <a:avLst/>
          </a:prstGeom>
          <a:noFill/>
          <a:ln/>
        </p:spPr>
        <p:txBody>
          <a:bodyPr wrap="square" lIns="0" tIns="0" rIns="0" bIns="0" rtlCol="0" anchor="ctr"/>
          <a:lstStyle/>
          <a:p>
            <a:pPr algn="l" indent="0" marL="0">
              <a:buNone/>
            </a:pPr>
            <a:r>
              <a:rPr lang="en-US" sz="3400" b="1" dirty="0">
                <a:solidFill>
                  <a:schemeClr val="tx2"/>
                </a:solidFill>
                <a:latin typeface="Cambria" pitchFamily="34" charset="0"/>
                <a:ea typeface="Cambria" pitchFamily="34" charset="-122"/>
                <a:cs typeface="Cambria" pitchFamily="34" charset="-120"/>
              </a:rPr>
              <a:t>Modules</a:t>
            </a:r>
            <a:endParaRPr lang="en-US" sz="3400" dirty="0"/>
          </a:p>
        </p:txBody>
      </p:sp>
      <p:sp>
        <p:nvSpPr>
          <p:cNvPr id="4" name="Sign-in and roles card"/>
          <p:cNvSpPr/>
          <p:nvPr/>
        </p:nvSpPr>
        <p:spPr>
          <a:xfrm>
            <a:off x="457200" y="1298448"/>
            <a:ext cx="1901952" cy="1591056"/>
          </a:xfrm>
          <a:prstGeom prst="roundRect">
            <a:avLst>
              <a:gd name="adj" fmla="val 5747"/>
            </a:avLst>
          </a:prstGeom>
          <a:solidFill>
            <a:schemeClr val="bg2"/>
          </a:solidFill>
          <a:ln/>
        </p:spPr>
      </p:sp>
      <p:sp>
        <p:nvSpPr>
          <p:cNvPr id="5" name="LuKeyRound tile"/>
          <p:cNvSpPr/>
          <p:nvPr/>
        </p:nvSpPr>
        <p:spPr>
          <a:xfrm>
            <a:off x="640080" y="1481328"/>
            <a:ext cx="420624" cy="420624"/>
          </a:xfrm>
          <a:prstGeom prst="roundRect">
            <a:avLst>
              <a:gd name="adj" fmla="val 22000"/>
            </a:avLst>
          </a:prstGeom>
          <a:solidFill>
            <a:schemeClr val="accent1"/>
          </a:solidFill>
          <a:ln/>
        </p:spPr>
      </p:sp>
      <p:pic>
        <p:nvPicPr>
          <p:cNvPr id="6" name="LuKeyRound icon" descr="preencoded.png">    </p:cNvPr>
          <p:cNvPicPr>
            <a:picLocks noChangeAspect="1"/>
          </p:cNvPicPr>
          <p:nvPr/>
        </p:nvPicPr>
        <p:blipFill>
          <a:blip r:embed="rId1"/>
          <a:stretch>
            <a:fillRect/>
          </a:stretch>
        </p:blipFill>
        <p:spPr>
          <a:xfrm>
            <a:off x="741030" y="1582278"/>
            <a:ext cx="218724" cy="218724"/>
          </a:xfrm>
          <a:prstGeom prst="rect">
            <a:avLst/>
          </a:prstGeom>
        </p:spPr>
      </p:pic>
      <p:sp>
        <p:nvSpPr>
          <p:cNvPr id="7" name="Sign-in and roles status"/>
          <p:cNvSpPr/>
          <p:nvPr/>
        </p:nvSpPr>
        <p:spPr>
          <a:xfrm>
            <a:off x="1490472" y="1554480"/>
            <a:ext cx="713232" cy="274320"/>
          </a:xfrm>
          <a:prstGeom prst="roundRect">
            <a:avLst>
              <a:gd name="adj" fmla="val 50000"/>
            </a:avLst>
          </a:prstGeom>
          <a:solidFill>
            <a:srgbClr val="D5ECE4"/>
          </a:solidFill>
          <a:ln/>
        </p:spPr>
      </p:sp>
      <p:sp>
        <p:nvSpPr>
          <p:cNvPr id="8" name="Sign-in and roles status text"/>
          <p:cNvSpPr txBox="1"/>
          <p:nvPr/>
        </p:nvSpPr>
        <p:spPr>
          <a:xfrm>
            <a:off x="1490472" y="1554480"/>
            <a:ext cx="713232" cy="274320"/>
          </a:xfrm>
          <a:prstGeom prst="rect">
            <a:avLst/>
          </a:prstGeom>
          <a:noFill/>
          <a:ln/>
        </p:spPr>
        <p:txBody>
          <a:bodyPr wrap="square" lIns="0" tIns="0" rIns="0" bIns="0" rtlCol="0" anchor="ctr"/>
          <a:lstStyle/>
          <a:p>
            <a:pPr algn="ctr" indent="0" marL="0">
              <a:buNone/>
            </a:pPr>
            <a:r>
              <a:rPr lang="en-US" sz="1050" b="1" dirty="0">
                <a:solidFill>
                  <a:schemeClr val="accent1"/>
                </a:solidFill>
              </a:rPr>
              <a:t>Built</a:t>
            </a:r>
            <a:endParaRPr lang="en-US" sz="1050" dirty="0"/>
          </a:p>
        </p:txBody>
      </p:sp>
      <p:sp>
        <p:nvSpPr>
          <p:cNvPr id="9" name="Sign-in and roles text"/>
          <p:cNvSpPr txBox="1"/>
          <p:nvPr/>
        </p:nvSpPr>
        <p:spPr>
          <a:xfrm>
            <a:off x="640080" y="1993392"/>
            <a:ext cx="1627632" cy="859536"/>
          </a:xfrm>
          <a:prstGeom prst="rect">
            <a:avLst/>
          </a:prstGeom>
          <a:noFill/>
          <a:ln/>
        </p:spPr>
        <p:txBody>
          <a:bodyPr wrap="square" lIns="0" tIns="0" rIns="0" bIns="0" rtlCol="0" anchor="t"/>
          <a:lstStyle/>
          <a:p>
            <a:pPr indent="0" marL="0">
              <a:spcAft>
                <a:spcPts val="200"/>
              </a:spcAft>
              <a:buNone/>
            </a:pPr>
            <a:r>
              <a:rPr lang="en-US" sz="1350" b="1" dirty="0">
                <a:solidFill>
                  <a:schemeClr val="tx2"/>
                </a:solidFill>
              </a:rPr>
              <a:t>Sign-in and roles</a:t>
            </a:r>
            <a:endParaRPr lang="en-US" sz="1350" dirty="0"/>
          </a:p>
          <a:p>
            <a:pPr indent="0" marL="0">
              <a:spcAft>
                <a:spcPts val="200"/>
              </a:spcAft>
              <a:buNone/>
            </a:pPr>
            <a:r>
              <a:rPr lang="en-US" sz="1150" dirty="0">
                <a:solidFill>
                  <a:schemeClr val="accent6"/>
                </a:solidFill>
              </a:rPr>
              <a:t>Admin, manager and cashier; secure tokens</a:t>
            </a:r>
            <a:endParaRPr lang="en-US" sz="1350" dirty="0"/>
          </a:p>
        </p:txBody>
      </p:sp>
      <p:sp>
        <p:nvSpPr>
          <p:cNvPr id="10" name="Catalogue card"/>
          <p:cNvSpPr/>
          <p:nvPr/>
        </p:nvSpPr>
        <p:spPr>
          <a:xfrm>
            <a:off x="2565806" y="1298448"/>
            <a:ext cx="1901952" cy="1591056"/>
          </a:xfrm>
          <a:prstGeom prst="roundRect">
            <a:avLst>
              <a:gd name="adj" fmla="val 5747"/>
            </a:avLst>
          </a:prstGeom>
          <a:solidFill>
            <a:schemeClr val="bg2"/>
          </a:solidFill>
          <a:ln/>
        </p:spPr>
      </p:sp>
      <p:sp>
        <p:nvSpPr>
          <p:cNvPr id="11" name="LuBoxes tile"/>
          <p:cNvSpPr/>
          <p:nvPr/>
        </p:nvSpPr>
        <p:spPr>
          <a:xfrm>
            <a:off x="2748686" y="1481328"/>
            <a:ext cx="420624" cy="420624"/>
          </a:xfrm>
          <a:prstGeom prst="roundRect">
            <a:avLst>
              <a:gd name="adj" fmla="val 22000"/>
            </a:avLst>
          </a:prstGeom>
          <a:solidFill>
            <a:schemeClr val="accent1"/>
          </a:solidFill>
          <a:ln/>
        </p:spPr>
      </p:sp>
      <p:pic>
        <p:nvPicPr>
          <p:cNvPr id="12" name="LuBoxes icon" descr="preencoded.png">    </p:cNvPr>
          <p:cNvPicPr>
            <a:picLocks noChangeAspect="1"/>
          </p:cNvPicPr>
          <p:nvPr/>
        </p:nvPicPr>
        <p:blipFill>
          <a:blip r:embed="rId2"/>
          <a:stretch>
            <a:fillRect/>
          </a:stretch>
        </p:blipFill>
        <p:spPr>
          <a:xfrm>
            <a:off x="2849636" y="1582278"/>
            <a:ext cx="218724" cy="218724"/>
          </a:xfrm>
          <a:prstGeom prst="rect">
            <a:avLst/>
          </a:prstGeom>
        </p:spPr>
      </p:pic>
      <p:sp>
        <p:nvSpPr>
          <p:cNvPr id="13" name="Catalogue status"/>
          <p:cNvSpPr/>
          <p:nvPr/>
        </p:nvSpPr>
        <p:spPr>
          <a:xfrm>
            <a:off x="3599078" y="1554480"/>
            <a:ext cx="713232" cy="274320"/>
          </a:xfrm>
          <a:prstGeom prst="roundRect">
            <a:avLst>
              <a:gd name="adj" fmla="val 50000"/>
            </a:avLst>
          </a:prstGeom>
          <a:solidFill>
            <a:srgbClr val="D5ECE4"/>
          </a:solidFill>
          <a:ln/>
        </p:spPr>
      </p:sp>
      <p:sp>
        <p:nvSpPr>
          <p:cNvPr id="14" name="Catalogue status text"/>
          <p:cNvSpPr txBox="1"/>
          <p:nvPr/>
        </p:nvSpPr>
        <p:spPr>
          <a:xfrm>
            <a:off x="3599078" y="1554480"/>
            <a:ext cx="713232" cy="274320"/>
          </a:xfrm>
          <a:prstGeom prst="rect">
            <a:avLst/>
          </a:prstGeom>
          <a:noFill/>
          <a:ln/>
        </p:spPr>
        <p:txBody>
          <a:bodyPr wrap="square" lIns="0" tIns="0" rIns="0" bIns="0" rtlCol="0" anchor="ctr"/>
          <a:lstStyle/>
          <a:p>
            <a:pPr algn="ctr" indent="0" marL="0">
              <a:buNone/>
            </a:pPr>
            <a:r>
              <a:rPr lang="en-US" sz="1050" b="1" dirty="0">
                <a:solidFill>
                  <a:schemeClr val="accent1"/>
                </a:solidFill>
              </a:rPr>
              <a:t>Built</a:t>
            </a:r>
            <a:endParaRPr lang="en-US" sz="1050" dirty="0"/>
          </a:p>
        </p:txBody>
      </p:sp>
      <p:sp>
        <p:nvSpPr>
          <p:cNvPr id="15" name="Catalogue text"/>
          <p:cNvSpPr txBox="1"/>
          <p:nvPr/>
        </p:nvSpPr>
        <p:spPr>
          <a:xfrm>
            <a:off x="2748686" y="1993392"/>
            <a:ext cx="1627632" cy="859536"/>
          </a:xfrm>
          <a:prstGeom prst="rect">
            <a:avLst/>
          </a:prstGeom>
          <a:noFill/>
          <a:ln/>
        </p:spPr>
        <p:txBody>
          <a:bodyPr wrap="square" lIns="0" tIns="0" rIns="0" bIns="0" rtlCol="0" anchor="t"/>
          <a:lstStyle/>
          <a:p>
            <a:pPr indent="0" marL="0">
              <a:spcAft>
                <a:spcPts val="200"/>
              </a:spcAft>
              <a:buNone/>
            </a:pPr>
            <a:r>
              <a:rPr lang="en-US" sz="1350" b="1" dirty="0">
                <a:solidFill>
                  <a:schemeClr val="tx2"/>
                </a:solidFill>
              </a:rPr>
              <a:t>Catalogue</a:t>
            </a:r>
            <a:endParaRPr lang="en-US" sz="1350" dirty="0"/>
          </a:p>
          <a:p>
            <a:pPr indent="0" marL="0">
              <a:spcAft>
                <a:spcPts val="200"/>
              </a:spcAft>
              <a:buNone/>
            </a:pPr>
            <a:r>
              <a:rPr lang="en-US" sz="1150" dirty="0">
                <a:solidFill>
                  <a:schemeClr val="accent6"/>
                </a:solidFill>
              </a:rPr>
              <a:t>Products, categories, suppliers, HSN and GST</a:t>
            </a:r>
            <a:endParaRPr lang="en-US" sz="1350" dirty="0"/>
          </a:p>
        </p:txBody>
      </p:sp>
      <p:sp>
        <p:nvSpPr>
          <p:cNvPr id="16" name="Stock ledger card"/>
          <p:cNvSpPr/>
          <p:nvPr/>
        </p:nvSpPr>
        <p:spPr>
          <a:xfrm>
            <a:off x="4674413" y="1298448"/>
            <a:ext cx="1901952" cy="1591056"/>
          </a:xfrm>
          <a:prstGeom prst="roundRect">
            <a:avLst>
              <a:gd name="adj" fmla="val 5747"/>
            </a:avLst>
          </a:prstGeom>
          <a:solidFill>
            <a:schemeClr val="bg2"/>
          </a:solidFill>
          <a:ln/>
        </p:spPr>
      </p:sp>
      <p:sp>
        <p:nvSpPr>
          <p:cNvPr id="17" name="LuLayers tile"/>
          <p:cNvSpPr/>
          <p:nvPr/>
        </p:nvSpPr>
        <p:spPr>
          <a:xfrm>
            <a:off x="4857293" y="1481328"/>
            <a:ext cx="420624" cy="420624"/>
          </a:xfrm>
          <a:prstGeom prst="roundRect">
            <a:avLst>
              <a:gd name="adj" fmla="val 22000"/>
            </a:avLst>
          </a:prstGeom>
          <a:solidFill>
            <a:schemeClr val="accent1"/>
          </a:solidFill>
          <a:ln/>
        </p:spPr>
      </p:sp>
      <p:pic>
        <p:nvPicPr>
          <p:cNvPr id="18" name="LuLayers icon" descr="preencoded.png">    </p:cNvPr>
          <p:cNvPicPr>
            <a:picLocks noChangeAspect="1"/>
          </p:cNvPicPr>
          <p:nvPr/>
        </p:nvPicPr>
        <p:blipFill>
          <a:blip r:embed="rId3"/>
          <a:stretch>
            <a:fillRect/>
          </a:stretch>
        </p:blipFill>
        <p:spPr>
          <a:xfrm>
            <a:off x="4958243" y="1582278"/>
            <a:ext cx="218724" cy="218724"/>
          </a:xfrm>
          <a:prstGeom prst="rect">
            <a:avLst/>
          </a:prstGeom>
        </p:spPr>
      </p:pic>
      <p:sp>
        <p:nvSpPr>
          <p:cNvPr id="19" name="Stock ledger status"/>
          <p:cNvSpPr/>
          <p:nvPr/>
        </p:nvSpPr>
        <p:spPr>
          <a:xfrm>
            <a:off x="5707685" y="1554480"/>
            <a:ext cx="713232" cy="274320"/>
          </a:xfrm>
          <a:prstGeom prst="roundRect">
            <a:avLst>
              <a:gd name="adj" fmla="val 50000"/>
            </a:avLst>
          </a:prstGeom>
          <a:solidFill>
            <a:srgbClr val="D5ECE4"/>
          </a:solidFill>
          <a:ln/>
        </p:spPr>
      </p:sp>
      <p:sp>
        <p:nvSpPr>
          <p:cNvPr id="20" name="Stock ledger status text"/>
          <p:cNvSpPr txBox="1"/>
          <p:nvPr/>
        </p:nvSpPr>
        <p:spPr>
          <a:xfrm>
            <a:off x="5707685" y="1554480"/>
            <a:ext cx="713232" cy="274320"/>
          </a:xfrm>
          <a:prstGeom prst="rect">
            <a:avLst/>
          </a:prstGeom>
          <a:noFill/>
          <a:ln/>
        </p:spPr>
        <p:txBody>
          <a:bodyPr wrap="square" lIns="0" tIns="0" rIns="0" bIns="0" rtlCol="0" anchor="ctr"/>
          <a:lstStyle/>
          <a:p>
            <a:pPr algn="ctr" indent="0" marL="0">
              <a:buNone/>
            </a:pPr>
            <a:r>
              <a:rPr lang="en-US" sz="1050" b="1" dirty="0">
                <a:solidFill>
                  <a:schemeClr val="accent1"/>
                </a:solidFill>
              </a:rPr>
              <a:t>Built</a:t>
            </a:r>
            <a:endParaRPr lang="en-US" sz="1050" dirty="0"/>
          </a:p>
        </p:txBody>
      </p:sp>
      <p:sp>
        <p:nvSpPr>
          <p:cNvPr id="21" name="Stock ledger text"/>
          <p:cNvSpPr txBox="1"/>
          <p:nvPr/>
        </p:nvSpPr>
        <p:spPr>
          <a:xfrm>
            <a:off x="4857293" y="1993392"/>
            <a:ext cx="1627632" cy="859536"/>
          </a:xfrm>
          <a:prstGeom prst="rect">
            <a:avLst/>
          </a:prstGeom>
          <a:noFill/>
          <a:ln/>
        </p:spPr>
        <p:txBody>
          <a:bodyPr wrap="square" lIns="0" tIns="0" rIns="0" bIns="0" rtlCol="0" anchor="t"/>
          <a:lstStyle/>
          <a:p>
            <a:pPr indent="0" marL="0">
              <a:spcAft>
                <a:spcPts val="200"/>
              </a:spcAft>
              <a:buNone/>
            </a:pPr>
            <a:r>
              <a:rPr lang="en-US" sz="1350" b="1" dirty="0">
                <a:solidFill>
                  <a:schemeClr val="tx2"/>
                </a:solidFill>
              </a:rPr>
              <a:t>Stock ledger</a:t>
            </a:r>
            <a:endParaRPr lang="en-US" sz="1350" dirty="0"/>
          </a:p>
          <a:p>
            <a:pPr indent="0" marL="0">
              <a:spcAft>
                <a:spcPts val="200"/>
              </a:spcAft>
              <a:buNone/>
            </a:pPr>
            <a:r>
              <a:rPr lang="en-US" sz="1150" dirty="0">
                <a:solidFill>
                  <a:schemeClr val="accent6"/>
                </a:solidFill>
              </a:rPr>
              <a:t>Every movement recorded, with counts</a:t>
            </a:r>
            <a:endParaRPr lang="en-US" sz="1350" dirty="0"/>
          </a:p>
        </p:txBody>
      </p:sp>
      <p:sp>
        <p:nvSpPr>
          <p:cNvPr id="22" name="Purchases card"/>
          <p:cNvSpPr/>
          <p:nvPr/>
        </p:nvSpPr>
        <p:spPr>
          <a:xfrm>
            <a:off x="6783019" y="1298448"/>
            <a:ext cx="1901952" cy="1591056"/>
          </a:xfrm>
          <a:prstGeom prst="roundRect">
            <a:avLst>
              <a:gd name="adj" fmla="val 5747"/>
            </a:avLst>
          </a:prstGeom>
          <a:solidFill>
            <a:schemeClr val="bg2"/>
          </a:solidFill>
          <a:ln/>
        </p:spPr>
      </p:sp>
      <p:sp>
        <p:nvSpPr>
          <p:cNvPr id="23" name="LuTruck tile"/>
          <p:cNvSpPr/>
          <p:nvPr/>
        </p:nvSpPr>
        <p:spPr>
          <a:xfrm>
            <a:off x="6965899" y="1481328"/>
            <a:ext cx="420624" cy="420624"/>
          </a:xfrm>
          <a:prstGeom prst="roundRect">
            <a:avLst>
              <a:gd name="adj" fmla="val 22000"/>
            </a:avLst>
          </a:prstGeom>
          <a:solidFill>
            <a:schemeClr val="accent1"/>
          </a:solidFill>
          <a:ln/>
        </p:spPr>
      </p:sp>
      <p:pic>
        <p:nvPicPr>
          <p:cNvPr id="24" name="LuTruck icon" descr="preencoded.png">    </p:cNvPr>
          <p:cNvPicPr>
            <a:picLocks noChangeAspect="1"/>
          </p:cNvPicPr>
          <p:nvPr/>
        </p:nvPicPr>
        <p:blipFill>
          <a:blip r:embed="rId4"/>
          <a:stretch>
            <a:fillRect/>
          </a:stretch>
        </p:blipFill>
        <p:spPr>
          <a:xfrm>
            <a:off x="7066849" y="1582278"/>
            <a:ext cx="218724" cy="218724"/>
          </a:xfrm>
          <a:prstGeom prst="rect">
            <a:avLst/>
          </a:prstGeom>
        </p:spPr>
      </p:pic>
      <p:sp>
        <p:nvSpPr>
          <p:cNvPr id="25" name="Purchases status"/>
          <p:cNvSpPr/>
          <p:nvPr/>
        </p:nvSpPr>
        <p:spPr>
          <a:xfrm>
            <a:off x="7816291" y="1554480"/>
            <a:ext cx="713232" cy="274320"/>
          </a:xfrm>
          <a:prstGeom prst="roundRect">
            <a:avLst>
              <a:gd name="adj" fmla="val 50000"/>
            </a:avLst>
          </a:prstGeom>
          <a:solidFill>
            <a:srgbClr val="D5ECE4"/>
          </a:solidFill>
          <a:ln/>
        </p:spPr>
      </p:sp>
      <p:sp>
        <p:nvSpPr>
          <p:cNvPr id="26" name="Purchases status text"/>
          <p:cNvSpPr txBox="1"/>
          <p:nvPr/>
        </p:nvSpPr>
        <p:spPr>
          <a:xfrm>
            <a:off x="7816291" y="1554480"/>
            <a:ext cx="713232" cy="274320"/>
          </a:xfrm>
          <a:prstGeom prst="rect">
            <a:avLst/>
          </a:prstGeom>
          <a:noFill/>
          <a:ln/>
        </p:spPr>
        <p:txBody>
          <a:bodyPr wrap="square" lIns="0" tIns="0" rIns="0" bIns="0" rtlCol="0" anchor="ctr"/>
          <a:lstStyle/>
          <a:p>
            <a:pPr algn="ctr" indent="0" marL="0">
              <a:buNone/>
            </a:pPr>
            <a:r>
              <a:rPr lang="en-US" sz="1050" b="1" dirty="0">
                <a:solidFill>
                  <a:schemeClr val="accent1"/>
                </a:solidFill>
              </a:rPr>
              <a:t>Built</a:t>
            </a:r>
            <a:endParaRPr lang="en-US" sz="1050" dirty="0"/>
          </a:p>
        </p:txBody>
      </p:sp>
      <p:sp>
        <p:nvSpPr>
          <p:cNvPr id="27" name="Purchases text"/>
          <p:cNvSpPr txBox="1"/>
          <p:nvPr/>
        </p:nvSpPr>
        <p:spPr>
          <a:xfrm>
            <a:off x="6965899" y="1993392"/>
            <a:ext cx="1627632" cy="859536"/>
          </a:xfrm>
          <a:prstGeom prst="rect">
            <a:avLst/>
          </a:prstGeom>
          <a:noFill/>
          <a:ln/>
        </p:spPr>
        <p:txBody>
          <a:bodyPr wrap="square" lIns="0" tIns="0" rIns="0" bIns="0" rtlCol="0" anchor="t"/>
          <a:lstStyle/>
          <a:p>
            <a:pPr indent="0" marL="0">
              <a:spcAft>
                <a:spcPts val="200"/>
              </a:spcAft>
              <a:buNone/>
            </a:pPr>
            <a:r>
              <a:rPr lang="en-US" sz="1350" b="1" dirty="0">
                <a:solidFill>
                  <a:schemeClr val="tx2"/>
                </a:solidFill>
              </a:rPr>
              <a:t>Purchases</a:t>
            </a:r>
            <a:endParaRPr lang="en-US" sz="1350" dirty="0"/>
          </a:p>
          <a:p>
            <a:pPr indent="0" marL="0">
              <a:spcAft>
                <a:spcPts val="200"/>
              </a:spcAft>
              <a:buNone/>
            </a:pPr>
            <a:r>
              <a:rPr lang="en-US" sz="1150" dirty="0">
                <a:solidFill>
                  <a:schemeClr val="accent6"/>
                </a:solidFill>
              </a:rPr>
              <a:t>Orders, part deliveries, average cost</a:t>
            </a:r>
            <a:endParaRPr lang="en-US" sz="1350" dirty="0"/>
          </a:p>
        </p:txBody>
      </p:sp>
      <p:sp>
        <p:nvSpPr>
          <p:cNvPr id="28" name="Point of sale card"/>
          <p:cNvSpPr/>
          <p:nvPr/>
        </p:nvSpPr>
        <p:spPr>
          <a:xfrm>
            <a:off x="457200" y="2999232"/>
            <a:ext cx="1901952" cy="1591056"/>
          </a:xfrm>
          <a:prstGeom prst="roundRect">
            <a:avLst>
              <a:gd name="adj" fmla="val 5747"/>
            </a:avLst>
          </a:prstGeom>
          <a:solidFill>
            <a:schemeClr val="bg2"/>
          </a:solidFill>
          <a:ln/>
        </p:spPr>
      </p:sp>
      <p:sp>
        <p:nvSpPr>
          <p:cNvPr id="29" name="LuScanBarcode tile"/>
          <p:cNvSpPr/>
          <p:nvPr/>
        </p:nvSpPr>
        <p:spPr>
          <a:xfrm>
            <a:off x="640080" y="3182112"/>
            <a:ext cx="420624" cy="420624"/>
          </a:xfrm>
          <a:prstGeom prst="roundRect">
            <a:avLst>
              <a:gd name="adj" fmla="val 22000"/>
            </a:avLst>
          </a:prstGeom>
          <a:solidFill>
            <a:schemeClr val="accent1"/>
          </a:solidFill>
          <a:ln/>
        </p:spPr>
      </p:sp>
      <p:pic>
        <p:nvPicPr>
          <p:cNvPr id="30" name="LuScanBarcode icon" descr="preencoded.png">    </p:cNvPr>
          <p:cNvPicPr>
            <a:picLocks noChangeAspect="1"/>
          </p:cNvPicPr>
          <p:nvPr/>
        </p:nvPicPr>
        <p:blipFill>
          <a:blip r:embed="rId5"/>
          <a:stretch>
            <a:fillRect/>
          </a:stretch>
        </p:blipFill>
        <p:spPr>
          <a:xfrm>
            <a:off x="741030" y="3283062"/>
            <a:ext cx="218724" cy="218724"/>
          </a:xfrm>
          <a:prstGeom prst="rect">
            <a:avLst/>
          </a:prstGeom>
        </p:spPr>
      </p:pic>
      <p:sp>
        <p:nvSpPr>
          <p:cNvPr id="31" name="Point of sale status"/>
          <p:cNvSpPr/>
          <p:nvPr/>
        </p:nvSpPr>
        <p:spPr>
          <a:xfrm>
            <a:off x="1490472" y="3255264"/>
            <a:ext cx="713232" cy="274320"/>
          </a:xfrm>
          <a:prstGeom prst="roundRect">
            <a:avLst>
              <a:gd name="adj" fmla="val 50000"/>
            </a:avLst>
          </a:prstGeom>
          <a:solidFill>
            <a:srgbClr val="D5ECE4"/>
          </a:solidFill>
          <a:ln/>
        </p:spPr>
      </p:sp>
      <p:sp>
        <p:nvSpPr>
          <p:cNvPr id="32" name="Point of sale status text"/>
          <p:cNvSpPr txBox="1"/>
          <p:nvPr/>
        </p:nvSpPr>
        <p:spPr>
          <a:xfrm>
            <a:off x="1490472" y="3255264"/>
            <a:ext cx="713232" cy="274320"/>
          </a:xfrm>
          <a:prstGeom prst="rect">
            <a:avLst/>
          </a:prstGeom>
          <a:noFill/>
          <a:ln/>
        </p:spPr>
        <p:txBody>
          <a:bodyPr wrap="square" lIns="0" tIns="0" rIns="0" bIns="0" rtlCol="0" anchor="ctr"/>
          <a:lstStyle/>
          <a:p>
            <a:pPr algn="ctr" indent="0" marL="0">
              <a:buNone/>
            </a:pPr>
            <a:r>
              <a:rPr lang="en-US" sz="1050" b="1" dirty="0">
                <a:solidFill>
                  <a:schemeClr val="accent1"/>
                </a:solidFill>
              </a:rPr>
              <a:t>Built</a:t>
            </a:r>
            <a:endParaRPr lang="en-US" sz="1050" dirty="0"/>
          </a:p>
        </p:txBody>
      </p:sp>
      <p:sp>
        <p:nvSpPr>
          <p:cNvPr id="33" name="Point of sale text"/>
          <p:cNvSpPr txBox="1"/>
          <p:nvPr/>
        </p:nvSpPr>
        <p:spPr>
          <a:xfrm>
            <a:off x="640080" y="3694176"/>
            <a:ext cx="1627632" cy="859536"/>
          </a:xfrm>
          <a:prstGeom prst="rect">
            <a:avLst/>
          </a:prstGeom>
          <a:noFill/>
          <a:ln/>
        </p:spPr>
        <p:txBody>
          <a:bodyPr wrap="square" lIns="0" tIns="0" rIns="0" bIns="0" rtlCol="0" anchor="t"/>
          <a:lstStyle/>
          <a:p>
            <a:pPr indent="0" marL="0">
              <a:spcAft>
                <a:spcPts val="200"/>
              </a:spcAft>
              <a:buNone/>
            </a:pPr>
            <a:r>
              <a:rPr lang="en-US" sz="1350" b="1" dirty="0">
                <a:solidFill>
                  <a:schemeClr val="tx2"/>
                </a:solidFill>
              </a:rPr>
              <a:t>Point of sale</a:t>
            </a:r>
            <a:endParaRPr lang="en-US" sz="1350" dirty="0"/>
          </a:p>
          <a:p>
            <a:pPr indent="0" marL="0">
              <a:spcAft>
                <a:spcPts val="200"/>
              </a:spcAft>
              <a:buNone/>
            </a:pPr>
            <a:r>
              <a:rPr lang="en-US" sz="1150" dirty="0">
                <a:solidFill>
                  <a:schemeClr val="accent6"/>
                </a:solidFill>
              </a:rPr>
              <a:t>Barcode billing, split payments, GST invoice</a:t>
            </a:r>
            <a:endParaRPr lang="en-US" sz="1350" dirty="0"/>
          </a:p>
        </p:txBody>
      </p:sp>
      <p:sp>
        <p:nvSpPr>
          <p:cNvPr id="34" name="Returns and customers card"/>
          <p:cNvSpPr/>
          <p:nvPr/>
        </p:nvSpPr>
        <p:spPr>
          <a:xfrm>
            <a:off x="2565806" y="2999232"/>
            <a:ext cx="1901952" cy="1591056"/>
          </a:xfrm>
          <a:prstGeom prst="roundRect">
            <a:avLst>
              <a:gd name="adj" fmla="val 5747"/>
            </a:avLst>
          </a:prstGeom>
          <a:solidFill>
            <a:schemeClr val="bg2"/>
          </a:solidFill>
          <a:ln/>
        </p:spPr>
      </p:sp>
      <p:sp>
        <p:nvSpPr>
          <p:cNvPr id="35" name="LuUndo2 tile"/>
          <p:cNvSpPr/>
          <p:nvPr/>
        </p:nvSpPr>
        <p:spPr>
          <a:xfrm>
            <a:off x="2748686" y="3182112"/>
            <a:ext cx="420624" cy="420624"/>
          </a:xfrm>
          <a:prstGeom prst="roundRect">
            <a:avLst>
              <a:gd name="adj" fmla="val 22000"/>
            </a:avLst>
          </a:prstGeom>
          <a:solidFill>
            <a:schemeClr val="accent1"/>
          </a:solidFill>
          <a:ln/>
        </p:spPr>
      </p:sp>
      <p:pic>
        <p:nvPicPr>
          <p:cNvPr id="36" name="LuUndo2 icon" descr="preencoded.png">    </p:cNvPr>
          <p:cNvPicPr>
            <a:picLocks noChangeAspect="1"/>
          </p:cNvPicPr>
          <p:nvPr/>
        </p:nvPicPr>
        <p:blipFill>
          <a:blip r:embed="rId6"/>
          <a:stretch>
            <a:fillRect/>
          </a:stretch>
        </p:blipFill>
        <p:spPr>
          <a:xfrm>
            <a:off x="2849636" y="3283062"/>
            <a:ext cx="218724" cy="218724"/>
          </a:xfrm>
          <a:prstGeom prst="rect">
            <a:avLst/>
          </a:prstGeom>
        </p:spPr>
      </p:pic>
      <p:sp>
        <p:nvSpPr>
          <p:cNvPr id="37" name="Returns and customers status"/>
          <p:cNvSpPr/>
          <p:nvPr/>
        </p:nvSpPr>
        <p:spPr>
          <a:xfrm>
            <a:off x="3599078" y="3255264"/>
            <a:ext cx="713232" cy="274320"/>
          </a:xfrm>
          <a:prstGeom prst="roundRect">
            <a:avLst>
              <a:gd name="adj" fmla="val 50000"/>
            </a:avLst>
          </a:prstGeom>
          <a:solidFill>
            <a:srgbClr val="D5ECE4"/>
          </a:solidFill>
          <a:ln/>
        </p:spPr>
      </p:sp>
      <p:sp>
        <p:nvSpPr>
          <p:cNvPr id="38" name="Returns and customers status text"/>
          <p:cNvSpPr txBox="1"/>
          <p:nvPr/>
        </p:nvSpPr>
        <p:spPr>
          <a:xfrm>
            <a:off x="3599078" y="3255264"/>
            <a:ext cx="713232" cy="274320"/>
          </a:xfrm>
          <a:prstGeom prst="rect">
            <a:avLst/>
          </a:prstGeom>
          <a:noFill/>
          <a:ln/>
        </p:spPr>
        <p:txBody>
          <a:bodyPr wrap="square" lIns="0" tIns="0" rIns="0" bIns="0" rtlCol="0" anchor="ctr"/>
          <a:lstStyle/>
          <a:p>
            <a:pPr algn="ctr" indent="0" marL="0">
              <a:buNone/>
            </a:pPr>
            <a:r>
              <a:rPr lang="en-US" sz="1050" b="1" dirty="0">
                <a:solidFill>
                  <a:schemeClr val="accent1"/>
                </a:solidFill>
              </a:rPr>
              <a:t>Built</a:t>
            </a:r>
            <a:endParaRPr lang="en-US" sz="1050" dirty="0"/>
          </a:p>
        </p:txBody>
      </p:sp>
      <p:sp>
        <p:nvSpPr>
          <p:cNvPr id="39" name="Returns and customers text"/>
          <p:cNvSpPr txBox="1"/>
          <p:nvPr/>
        </p:nvSpPr>
        <p:spPr>
          <a:xfrm>
            <a:off x="2748686" y="3694176"/>
            <a:ext cx="1627632" cy="859536"/>
          </a:xfrm>
          <a:prstGeom prst="rect">
            <a:avLst/>
          </a:prstGeom>
          <a:noFill/>
          <a:ln/>
        </p:spPr>
        <p:txBody>
          <a:bodyPr wrap="square" lIns="0" tIns="0" rIns="0" bIns="0" rtlCol="0" anchor="t"/>
          <a:lstStyle/>
          <a:p>
            <a:pPr indent="0" marL="0">
              <a:spcAft>
                <a:spcPts val="200"/>
              </a:spcAft>
              <a:buNone/>
            </a:pPr>
            <a:r>
              <a:rPr lang="en-US" sz="1350" b="1" dirty="0">
                <a:solidFill>
                  <a:schemeClr val="tx2"/>
                </a:solidFill>
              </a:rPr>
              <a:t>Returns and customers</a:t>
            </a:r>
            <a:endParaRPr lang="en-US" sz="1350" dirty="0"/>
          </a:p>
          <a:p>
            <a:pPr indent="0" marL="0">
              <a:spcAft>
                <a:spcPts val="200"/>
              </a:spcAft>
              <a:buNone/>
            </a:pPr>
            <a:r>
              <a:rPr lang="en-US" sz="1150" dirty="0">
                <a:solidFill>
                  <a:schemeClr val="accent6"/>
                </a:solidFill>
              </a:rPr>
              <a:t>Credit notes, refunds, customer history</a:t>
            </a:r>
            <a:endParaRPr lang="en-US" sz="1350" dirty="0"/>
          </a:p>
        </p:txBody>
      </p:sp>
      <p:sp>
        <p:nvSpPr>
          <p:cNvPr id="40" name="Dashboard and reports card"/>
          <p:cNvSpPr/>
          <p:nvPr/>
        </p:nvSpPr>
        <p:spPr>
          <a:xfrm>
            <a:off x="4674413" y="2999232"/>
            <a:ext cx="1901952" cy="1591056"/>
          </a:xfrm>
          <a:prstGeom prst="roundRect">
            <a:avLst>
              <a:gd name="adj" fmla="val 5747"/>
            </a:avLst>
          </a:prstGeom>
          <a:solidFill>
            <a:schemeClr val="bg2"/>
          </a:solidFill>
          <a:ln/>
        </p:spPr>
      </p:sp>
      <p:sp>
        <p:nvSpPr>
          <p:cNvPr id="41" name="LuChartColumn tile"/>
          <p:cNvSpPr/>
          <p:nvPr/>
        </p:nvSpPr>
        <p:spPr>
          <a:xfrm>
            <a:off x="4857293" y="3182112"/>
            <a:ext cx="420624" cy="420624"/>
          </a:xfrm>
          <a:prstGeom prst="roundRect">
            <a:avLst>
              <a:gd name="adj" fmla="val 22000"/>
            </a:avLst>
          </a:prstGeom>
          <a:solidFill>
            <a:schemeClr val="accent1"/>
          </a:solidFill>
          <a:ln/>
        </p:spPr>
      </p:sp>
      <p:pic>
        <p:nvPicPr>
          <p:cNvPr id="42" name="LuChartColumn icon" descr="preencoded.png">    </p:cNvPr>
          <p:cNvPicPr>
            <a:picLocks noChangeAspect="1"/>
          </p:cNvPicPr>
          <p:nvPr/>
        </p:nvPicPr>
        <p:blipFill>
          <a:blip r:embed="rId7"/>
          <a:stretch>
            <a:fillRect/>
          </a:stretch>
        </p:blipFill>
        <p:spPr>
          <a:xfrm>
            <a:off x="4958243" y="3283062"/>
            <a:ext cx="218724" cy="218724"/>
          </a:xfrm>
          <a:prstGeom prst="rect">
            <a:avLst/>
          </a:prstGeom>
        </p:spPr>
      </p:pic>
      <p:sp>
        <p:nvSpPr>
          <p:cNvPr id="43" name="Dashboard and reports status"/>
          <p:cNvSpPr/>
          <p:nvPr/>
        </p:nvSpPr>
        <p:spPr>
          <a:xfrm>
            <a:off x="5707685" y="3255264"/>
            <a:ext cx="713232" cy="274320"/>
          </a:xfrm>
          <a:prstGeom prst="roundRect">
            <a:avLst>
              <a:gd name="adj" fmla="val 50000"/>
            </a:avLst>
          </a:prstGeom>
          <a:solidFill>
            <a:srgbClr val="D5ECE4"/>
          </a:solidFill>
          <a:ln/>
        </p:spPr>
      </p:sp>
      <p:sp>
        <p:nvSpPr>
          <p:cNvPr id="44" name="Dashboard and reports status text"/>
          <p:cNvSpPr txBox="1"/>
          <p:nvPr/>
        </p:nvSpPr>
        <p:spPr>
          <a:xfrm>
            <a:off x="5707685" y="3255264"/>
            <a:ext cx="713232" cy="274320"/>
          </a:xfrm>
          <a:prstGeom prst="rect">
            <a:avLst/>
          </a:prstGeom>
          <a:noFill/>
          <a:ln/>
        </p:spPr>
        <p:txBody>
          <a:bodyPr wrap="square" lIns="0" tIns="0" rIns="0" bIns="0" rtlCol="0" anchor="ctr"/>
          <a:lstStyle/>
          <a:p>
            <a:pPr algn="ctr" indent="0" marL="0">
              <a:buNone/>
            </a:pPr>
            <a:r>
              <a:rPr lang="en-US" sz="1050" b="1" dirty="0">
                <a:solidFill>
                  <a:schemeClr val="accent1"/>
                </a:solidFill>
              </a:rPr>
              <a:t>Built</a:t>
            </a:r>
            <a:endParaRPr lang="en-US" sz="1050" dirty="0"/>
          </a:p>
        </p:txBody>
      </p:sp>
      <p:sp>
        <p:nvSpPr>
          <p:cNvPr id="45" name="Dashboard and reports text"/>
          <p:cNvSpPr txBox="1"/>
          <p:nvPr/>
        </p:nvSpPr>
        <p:spPr>
          <a:xfrm>
            <a:off x="4857293" y="3694176"/>
            <a:ext cx="1627632" cy="859536"/>
          </a:xfrm>
          <a:prstGeom prst="rect">
            <a:avLst/>
          </a:prstGeom>
          <a:noFill/>
          <a:ln/>
        </p:spPr>
        <p:txBody>
          <a:bodyPr wrap="square" lIns="0" tIns="0" rIns="0" bIns="0" rtlCol="0" anchor="t"/>
          <a:lstStyle/>
          <a:p>
            <a:pPr indent="0" marL="0">
              <a:spcAft>
                <a:spcPts val="200"/>
              </a:spcAft>
              <a:buNone/>
            </a:pPr>
            <a:r>
              <a:rPr lang="en-US" sz="1350" b="1" dirty="0">
                <a:solidFill>
                  <a:schemeClr val="tx2"/>
                </a:solidFill>
              </a:rPr>
              <a:t>Dashboard and reports</a:t>
            </a:r>
            <a:endParaRPr lang="en-US" sz="1350" dirty="0"/>
          </a:p>
          <a:p>
            <a:pPr indent="0" marL="0">
              <a:spcAft>
                <a:spcPts val="200"/>
              </a:spcAft>
              <a:buNone/>
            </a:pPr>
            <a:r>
              <a:rPr lang="en-US" sz="1150" dirty="0">
                <a:solidFill>
                  <a:schemeClr val="accent6"/>
                </a:solidFill>
              </a:rPr>
              <a:t>Sales, profit, GST summary, CSV and PDF</a:t>
            </a:r>
            <a:endParaRPr lang="en-US" sz="1350" dirty="0"/>
          </a:p>
        </p:txBody>
      </p:sp>
      <p:sp>
        <p:nvSpPr>
          <p:cNvPr id="46" name="AI restock and assistant card"/>
          <p:cNvSpPr/>
          <p:nvPr/>
        </p:nvSpPr>
        <p:spPr>
          <a:xfrm>
            <a:off x="6783019" y="2999232"/>
            <a:ext cx="1901952" cy="1591056"/>
          </a:xfrm>
          <a:prstGeom prst="roundRect">
            <a:avLst>
              <a:gd name="adj" fmla="val 5747"/>
            </a:avLst>
          </a:prstGeom>
          <a:solidFill>
            <a:schemeClr val="bg2"/>
          </a:solidFill>
          <a:ln/>
        </p:spPr>
      </p:sp>
      <p:sp>
        <p:nvSpPr>
          <p:cNvPr id="47" name="LuSparkles tile"/>
          <p:cNvSpPr/>
          <p:nvPr/>
        </p:nvSpPr>
        <p:spPr>
          <a:xfrm>
            <a:off x="6965899" y="3182112"/>
            <a:ext cx="420624" cy="420624"/>
          </a:xfrm>
          <a:prstGeom prst="roundRect">
            <a:avLst>
              <a:gd name="adj" fmla="val 22000"/>
            </a:avLst>
          </a:prstGeom>
          <a:solidFill>
            <a:schemeClr val="accent2"/>
          </a:solidFill>
          <a:ln/>
        </p:spPr>
      </p:sp>
      <p:pic>
        <p:nvPicPr>
          <p:cNvPr id="48" name="LuSparkles icon" descr="preencoded.png">    </p:cNvPr>
          <p:cNvPicPr>
            <a:picLocks noChangeAspect="1"/>
          </p:cNvPicPr>
          <p:nvPr/>
        </p:nvPicPr>
        <p:blipFill>
          <a:blip r:embed="rId8"/>
          <a:stretch>
            <a:fillRect/>
          </a:stretch>
        </p:blipFill>
        <p:spPr>
          <a:xfrm>
            <a:off x="7066849" y="3283062"/>
            <a:ext cx="218724" cy="218724"/>
          </a:xfrm>
          <a:prstGeom prst="rect">
            <a:avLst/>
          </a:prstGeom>
        </p:spPr>
      </p:pic>
      <p:sp>
        <p:nvSpPr>
          <p:cNvPr id="49" name="AI restock and assistant status"/>
          <p:cNvSpPr/>
          <p:nvPr/>
        </p:nvSpPr>
        <p:spPr>
          <a:xfrm>
            <a:off x="7816291" y="3255264"/>
            <a:ext cx="713232" cy="274320"/>
          </a:xfrm>
          <a:prstGeom prst="roundRect">
            <a:avLst>
              <a:gd name="adj" fmla="val 50000"/>
            </a:avLst>
          </a:prstGeom>
          <a:solidFill>
            <a:srgbClr val="FDEBC8"/>
          </a:solidFill>
          <a:ln/>
        </p:spPr>
      </p:sp>
      <p:sp>
        <p:nvSpPr>
          <p:cNvPr id="50" name="AI restock and assistant status text"/>
          <p:cNvSpPr txBox="1"/>
          <p:nvPr/>
        </p:nvSpPr>
        <p:spPr>
          <a:xfrm>
            <a:off x="7816291" y="3255264"/>
            <a:ext cx="713232" cy="274320"/>
          </a:xfrm>
          <a:prstGeom prst="rect">
            <a:avLst/>
          </a:prstGeom>
          <a:noFill/>
          <a:ln/>
        </p:spPr>
        <p:txBody>
          <a:bodyPr wrap="square" lIns="0" tIns="0" rIns="0" bIns="0" rtlCol="0" anchor="ctr"/>
          <a:lstStyle/>
          <a:p>
            <a:pPr algn="ctr" indent="0" marL="0">
              <a:buNone/>
            </a:pPr>
            <a:r>
              <a:rPr lang="en-US" sz="1050" b="1" dirty="0">
                <a:solidFill>
                  <a:srgbClr val="8A5A00"/>
                </a:solidFill>
              </a:rPr>
              <a:t>Next</a:t>
            </a:r>
            <a:endParaRPr lang="en-US" sz="1050" dirty="0"/>
          </a:p>
        </p:txBody>
      </p:sp>
      <p:sp>
        <p:nvSpPr>
          <p:cNvPr id="51" name="AI restock and assistant text"/>
          <p:cNvSpPr txBox="1"/>
          <p:nvPr/>
        </p:nvSpPr>
        <p:spPr>
          <a:xfrm>
            <a:off x="6965899" y="3694176"/>
            <a:ext cx="1627632" cy="859536"/>
          </a:xfrm>
          <a:prstGeom prst="rect">
            <a:avLst/>
          </a:prstGeom>
          <a:noFill/>
          <a:ln/>
        </p:spPr>
        <p:txBody>
          <a:bodyPr wrap="square" lIns="0" tIns="0" rIns="0" bIns="0" rtlCol="0" anchor="t"/>
          <a:lstStyle/>
          <a:p>
            <a:pPr indent="0" marL="0">
              <a:spcAft>
                <a:spcPts val="200"/>
              </a:spcAft>
              <a:buNone/>
            </a:pPr>
            <a:r>
              <a:rPr lang="en-US" sz="1350" b="1" dirty="0">
                <a:solidFill>
                  <a:schemeClr val="tx2"/>
                </a:solidFill>
              </a:rPr>
              <a:t>AI restock and assistant</a:t>
            </a:r>
            <a:endParaRPr lang="en-US" sz="1350" dirty="0"/>
          </a:p>
          <a:p>
            <a:pPr indent="0" marL="0">
              <a:spcAft>
                <a:spcPts val="200"/>
              </a:spcAft>
              <a:buNone/>
            </a:pPr>
            <a:r>
              <a:rPr lang="en-US" sz="1150" dirty="0">
                <a:solidFill>
                  <a:schemeClr val="accent6"/>
                </a:solidFill>
              </a:rPr>
              <a:t>Forecasts, owner-confirmed plans, chat</a:t>
            </a:r>
            <a:endParaRPr lang="en-US" sz="135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Eyebrow"/>
          <p:cNvSpPr txBox="1"/>
          <p:nvPr/>
        </p:nvSpPr>
        <p:spPr>
          <a:xfrm>
            <a:off x="457200" y="274320"/>
            <a:ext cx="5486400" cy="256032"/>
          </a:xfrm>
          <a:prstGeom prst="rect">
            <a:avLst/>
          </a:prstGeom>
          <a:noFill/>
          <a:ln/>
        </p:spPr>
        <p:txBody>
          <a:bodyPr wrap="square" lIns="0" tIns="0" rIns="0" bIns="0" rtlCol="0" anchor="ctr"/>
          <a:lstStyle/>
          <a:p>
            <a:pPr indent="0" marL="0">
              <a:buNone/>
            </a:pPr>
            <a:r>
              <a:rPr lang="en-US" sz="1100" b="1" spc="200" kern="0" dirty="0">
                <a:solidFill>
                  <a:schemeClr val="accent1"/>
                </a:solidFill>
              </a:rPr>
              <a:t>10 · METHODOLOGY</a:t>
            </a:r>
            <a:endParaRPr lang="en-US" sz="1100" dirty="0"/>
          </a:p>
        </p:txBody>
      </p:sp>
      <p:sp>
        <p:nvSpPr>
          <p:cNvPr id="3" name="Text 0"/>
          <p:cNvSpPr/>
          <p:nvPr>
            <p:ph idx="100" type="title" hasCustomPrompt="1"/>
          </p:nvPr>
        </p:nvSpPr>
        <p:spPr>
          <a:xfrm>
            <a:off x="457200" y="502920"/>
            <a:ext cx="6400800" cy="640080"/>
          </a:xfrm>
          <a:prstGeom prst="rect">
            <a:avLst/>
          </a:prstGeom>
          <a:noFill/>
          <a:ln/>
        </p:spPr>
        <p:txBody>
          <a:bodyPr wrap="square" lIns="0" tIns="0" rIns="0" bIns="0" rtlCol="0" anchor="ctr"/>
          <a:lstStyle/>
          <a:p>
            <a:pPr algn="l" indent="0" marL="0">
              <a:buNone/>
            </a:pPr>
            <a:r>
              <a:rPr lang="en-US" sz="3400" b="1" dirty="0">
                <a:solidFill>
                  <a:schemeClr val="tx2"/>
                </a:solidFill>
                <a:latin typeface="Cambria" pitchFamily="34" charset="0"/>
                <a:ea typeface="Cambria" pitchFamily="34" charset="-122"/>
                <a:cs typeface="Cambria" pitchFamily="34" charset="-120"/>
              </a:rPr>
              <a:t>Methodology</a:t>
            </a:r>
            <a:endParaRPr lang="en-US" sz="3400" dirty="0"/>
          </a:p>
        </p:txBody>
      </p:sp>
      <p:sp>
        <p:nvSpPr>
          <p:cNvPr id="4" name="Flow line"/>
          <p:cNvSpPr/>
          <p:nvPr/>
        </p:nvSpPr>
        <p:spPr>
          <a:xfrm>
            <a:off x="1143000" y="1783080"/>
            <a:ext cx="6858000" cy="0"/>
          </a:xfrm>
          <a:prstGeom prst="line">
            <a:avLst/>
          </a:prstGeom>
          <a:noFill/>
          <a:ln w="25400">
            <a:solidFill>
              <a:schemeClr val="accent3"/>
            </a:solidFill>
            <a:prstDash val="solid"/>
          </a:ln>
        </p:spPr>
      </p:sp>
      <p:sp>
        <p:nvSpPr>
          <p:cNvPr id="5" name="Step 1 circle"/>
          <p:cNvSpPr/>
          <p:nvPr/>
        </p:nvSpPr>
        <p:spPr>
          <a:xfrm>
            <a:off x="813816" y="1453896"/>
            <a:ext cx="658368" cy="658368"/>
          </a:xfrm>
          <a:prstGeom prst="ellipse">
            <a:avLst/>
          </a:prstGeom>
          <a:solidFill>
            <a:schemeClr val="accent1"/>
          </a:solidFill>
          <a:ln w="38100">
            <a:solidFill>
              <a:schemeClr val="bg1"/>
            </a:solidFill>
            <a:prstDash val="solid"/>
          </a:ln>
        </p:spPr>
      </p:sp>
      <p:pic>
        <p:nvPicPr>
          <p:cNvPr id="6" name="Step 1 icon" descr="preencoded.png">    </p:cNvPr>
          <p:cNvPicPr>
            <a:picLocks noChangeAspect="1"/>
          </p:cNvPicPr>
          <p:nvPr/>
        </p:nvPicPr>
        <p:blipFill>
          <a:blip r:embed="rId1"/>
          <a:stretch>
            <a:fillRect/>
          </a:stretch>
        </p:blipFill>
        <p:spPr>
          <a:xfrm>
            <a:off x="969264" y="1609344"/>
            <a:ext cx="347472" cy="347472"/>
          </a:xfrm>
          <a:prstGeom prst="rect">
            <a:avLst/>
          </a:prstGeom>
        </p:spPr>
      </p:pic>
      <p:sp>
        <p:nvSpPr>
          <p:cNvPr id="7" name="Step 1 label"/>
          <p:cNvSpPr txBox="1"/>
          <p:nvPr/>
        </p:nvSpPr>
        <p:spPr>
          <a:xfrm>
            <a:off x="502920" y="2240280"/>
            <a:ext cx="1280160" cy="228600"/>
          </a:xfrm>
          <a:prstGeom prst="rect">
            <a:avLst/>
          </a:prstGeom>
          <a:noFill/>
          <a:ln/>
        </p:spPr>
        <p:txBody>
          <a:bodyPr wrap="square" lIns="0" tIns="0" rIns="0" bIns="0" rtlCol="0" anchor="ctr"/>
          <a:lstStyle/>
          <a:p>
            <a:pPr algn="ctr" indent="0" marL="0">
              <a:buNone/>
            </a:pPr>
            <a:r>
              <a:rPr lang="en-US" sz="1000" b="1" spc="100" kern="0" dirty="0">
                <a:solidFill>
                  <a:schemeClr val="accent2"/>
                </a:solidFill>
              </a:rPr>
              <a:t>STEP 1</a:t>
            </a:r>
            <a:endParaRPr lang="en-US" sz="1000" dirty="0"/>
          </a:p>
        </p:txBody>
      </p:sp>
      <p:sp>
        <p:nvSpPr>
          <p:cNvPr id="8" name="Step 1 title"/>
          <p:cNvSpPr txBox="1"/>
          <p:nvPr/>
        </p:nvSpPr>
        <p:spPr>
          <a:xfrm>
            <a:off x="502920" y="2468880"/>
            <a:ext cx="1280160" cy="457200"/>
          </a:xfrm>
          <a:prstGeom prst="rect">
            <a:avLst/>
          </a:prstGeom>
          <a:noFill/>
          <a:ln/>
        </p:spPr>
        <p:txBody>
          <a:bodyPr wrap="square" lIns="0" tIns="0" rIns="0" bIns="0" rtlCol="0" anchor="t"/>
          <a:lstStyle/>
          <a:p>
            <a:pPr algn="ctr" indent="0" marL="0">
              <a:buNone/>
            </a:pPr>
            <a:r>
              <a:rPr lang="en-US" sz="1350" b="1" dirty="0">
                <a:solidFill>
                  <a:schemeClr val="tx2"/>
                </a:solidFill>
              </a:rPr>
              <a:t>Study the problem</a:t>
            </a:r>
            <a:endParaRPr lang="en-US" sz="1350" dirty="0"/>
          </a:p>
        </p:txBody>
      </p:sp>
      <p:sp>
        <p:nvSpPr>
          <p:cNvPr id="9" name="Step 1 text"/>
          <p:cNvSpPr txBox="1"/>
          <p:nvPr/>
        </p:nvSpPr>
        <p:spPr>
          <a:xfrm>
            <a:off x="502920" y="2926080"/>
            <a:ext cx="1280160" cy="777240"/>
          </a:xfrm>
          <a:prstGeom prst="rect">
            <a:avLst/>
          </a:prstGeom>
          <a:noFill/>
          <a:ln/>
        </p:spPr>
        <p:txBody>
          <a:bodyPr wrap="square" lIns="0" tIns="0" rIns="0" bIns="0" rtlCol="0" anchor="t"/>
          <a:lstStyle/>
          <a:p>
            <a:pPr algn="ctr" indent="0" marL="0">
              <a:buNone/>
            </a:pPr>
            <a:r>
              <a:rPr lang="en-US" sz="1100" dirty="0">
                <a:solidFill>
                  <a:schemeClr val="accent6"/>
                </a:solidFill>
              </a:rPr>
              <a:t>Observe how small stores keep stock and bill today</a:t>
            </a:r>
            <a:endParaRPr lang="en-US" sz="1100" dirty="0"/>
          </a:p>
        </p:txBody>
      </p:sp>
      <p:sp>
        <p:nvSpPr>
          <p:cNvPr id="10" name="Step 2 circle"/>
          <p:cNvSpPr/>
          <p:nvPr/>
        </p:nvSpPr>
        <p:spPr>
          <a:xfrm>
            <a:off x="2185416" y="1453896"/>
            <a:ext cx="658368" cy="658368"/>
          </a:xfrm>
          <a:prstGeom prst="ellipse">
            <a:avLst/>
          </a:prstGeom>
          <a:solidFill>
            <a:schemeClr val="tx2"/>
          </a:solidFill>
          <a:ln w="38100">
            <a:solidFill>
              <a:schemeClr val="bg1"/>
            </a:solidFill>
            <a:prstDash val="solid"/>
          </a:ln>
        </p:spPr>
      </p:sp>
      <p:pic>
        <p:nvPicPr>
          <p:cNvPr id="11" name="Step 2 icon" descr="preencoded.png">    </p:cNvPr>
          <p:cNvPicPr>
            <a:picLocks noChangeAspect="1"/>
          </p:cNvPicPr>
          <p:nvPr/>
        </p:nvPicPr>
        <p:blipFill>
          <a:blip r:embed="rId2"/>
          <a:stretch>
            <a:fillRect/>
          </a:stretch>
        </p:blipFill>
        <p:spPr>
          <a:xfrm>
            <a:off x="2340864" y="1609344"/>
            <a:ext cx="347472" cy="347472"/>
          </a:xfrm>
          <a:prstGeom prst="rect">
            <a:avLst/>
          </a:prstGeom>
        </p:spPr>
      </p:pic>
      <p:sp>
        <p:nvSpPr>
          <p:cNvPr id="12" name="Step 2 label"/>
          <p:cNvSpPr txBox="1"/>
          <p:nvPr/>
        </p:nvSpPr>
        <p:spPr>
          <a:xfrm>
            <a:off x="1874520" y="2240280"/>
            <a:ext cx="1280160" cy="228600"/>
          </a:xfrm>
          <a:prstGeom prst="rect">
            <a:avLst/>
          </a:prstGeom>
          <a:noFill/>
          <a:ln/>
        </p:spPr>
        <p:txBody>
          <a:bodyPr wrap="square" lIns="0" tIns="0" rIns="0" bIns="0" rtlCol="0" anchor="ctr"/>
          <a:lstStyle/>
          <a:p>
            <a:pPr algn="ctr" indent="0" marL="0">
              <a:buNone/>
            </a:pPr>
            <a:r>
              <a:rPr lang="en-US" sz="1000" b="1" spc="100" kern="0" dirty="0">
                <a:solidFill>
                  <a:schemeClr val="accent2"/>
                </a:solidFill>
              </a:rPr>
              <a:t>STEP 2</a:t>
            </a:r>
            <a:endParaRPr lang="en-US" sz="1000" dirty="0"/>
          </a:p>
        </p:txBody>
      </p:sp>
      <p:sp>
        <p:nvSpPr>
          <p:cNvPr id="13" name="Step 2 title"/>
          <p:cNvSpPr txBox="1"/>
          <p:nvPr/>
        </p:nvSpPr>
        <p:spPr>
          <a:xfrm>
            <a:off x="1874520" y="2468880"/>
            <a:ext cx="1280160" cy="457200"/>
          </a:xfrm>
          <a:prstGeom prst="rect">
            <a:avLst/>
          </a:prstGeom>
          <a:noFill/>
          <a:ln/>
        </p:spPr>
        <p:txBody>
          <a:bodyPr wrap="square" lIns="0" tIns="0" rIns="0" bIns="0" rtlCol="0" anchor="t"/>
          <a:lstStyle/>
          <a:p>
            <a:pPr algn="ctr" indent="0" marL="0">
              <a:buNone/>
            </a:pPr>
            <a:r>
              <a:rPr lang="en-US" sz="1350" b="1" dirty="0">
                <a:solidFill>
                  <a:schemeClr val="tx2"/>
                </a:solidFill>
              </a:rPr>
              <a:t>Gather requirements</a:t>
            </a:r>
            <a:endParaRPr lang="en-US" sz="1350" dirty="0"/>
          </a:p>
        </p:txBody>
      </p:sp>
      <p:sp>
        <p:nvSpPr>
          <p:cNvPr id="14" name="Step 2 text"/>
          <p:cNvSpPr txBox="1"/>
          <p:nvPr/>
        </p:nvSpPr>
        <p:spPr>
          <a:xfrm>
            <a:off x="1874520" y="2926080"/>
            <a:ext cx="1280160" cy="777240"/>
          </a:xfrm>
          <a:prstGeom prst="rect">
            <a:avLst/>
          </a:prstGeom>
          <a:noFill/>
          <a:ln/>
        </p:spPr>
        <p:txBody>
          <a:bodyPr wrap="square" lIns="0" tIns="0" rIns="0" bIns="0" rtlCol="0" anchor="t"/>
          <a:lstStyle/>
          <a:p>
            <a:pPr algn="ctr" indent="0" marL="0">
              <a:buNone/>
            </a:pPr>
            <a:r>
              <a:rPr lang="en-US" sz="1100" dirty="0">
                <a:solidFill>
                  <a:schemeClr val="accent6"/>
                </a:solidFill>
              </a:rPr>
              <a:t>Roles, GST rules, billing, stock, purchases, reports</a:t>
            </a:r>
            <a:endParaRPr lang="en-US" sz="1100" dirty="0"/>
          </a:p>
        </p:txBody>
      </p:sp>
      <p:sp>
        <p:nvSpPr>
          <p:cNvPr id="15" name="Step 3 circle"/>
          <p:cNvSpPr/>
          <p:nvPr/>
        </p:nvSpPr>
        <p:spPr>
          <a:xfrm>
            <a:off x="3557016" y="1453896"/>
            <a:ext cx="658368" cy="658368"/>
          </a:xfrm>
          <a:prstGeom prst="ellipse">
            <a:avLst/>
          </a:prstGeom>
          <a:solidFill>
            <a:schemeClr val="accent1"/>
          </a:solidFill>
          <a:ln w="38100">
            <a:solidFill>
              <a:schemeClr val="bg1"/>
            </a:solidFill>
            <a:prstDash val="solid"/>
          </a:ln>
        </p:spPr>
      </p:sp>
      <p:pic>
        <p:nvPicPr>
          <p:cNvPr id="16" name="Step 3 icon" descr="preencoded.png">    </p:cNvPr>
          <p:cNvPicPr>
            <a:picLocks noChangeAspect="1"/>
          </p:cNvPicPr>
          <p:nvPr/>
        </p:nvPicPr>
        <p:blipFill>
          <a:blip r:embed="rId3"/>
          <a:stretch>
            <a:fillRect/>
          </a:stretch>
        </p:blipFill>
        <p:spPr>
          <a:xfrm>
            <a:off x="3712464" y="1609344"/>
            <a:ext cx="347472" cy="347472"/>
          </a:xfrm>
          <a:prstGeom prst="rect">
            <a:avLst/>
          </a:prstGeom>
        </p:spPr>
      </p:pic>
      <p:sp>
        <p:nvSpPr>
          <p:cNvPr id="17" name="Step 3 label"/>
          <p:cNvSpPr txBox="1"/>
          <p:nvPr/>
        </p:nvSpPr>
        <p:spPr>
          <a:xfrm>
            <a:off x="3246120" y="2240280"/>
            <a:ext cx="1280160" cy="228600"/>
          </a:xfrm>
          <a:prstGeom prst="rect">
            <a:avLst/>
          </a:prstGeom>
          <a:noFill/>
          <a:ln/>
        </p:spPr>
        <p:txBody>
          <a:bodyPr wrap="square" lIns="0" tIns="0" rIns="0" bIns="0" rtlCol="0" anchor="ctr"/>
          <a:lstStyle/>
          <a:p>
            <a:pPr algn="ctr" indent="0" marL="0">
              <a:buNone/>
            </a:pPr>
            <a:r>
              <a:rPr lang="en-US" sz="1000" b="1" spc="100" kern="0" dirty="0">
                <a:solidFill>
                  <a:schemeClr val="accent2"/>
                </a:solidFill>
              </a:rPr>
              <a:t>STEP 3</a:t>
            </a:r>
            <a:endParaRPr lang="en-US" sz="1000" dirty="0"/>
          </a:p>
        </p:txBody>
      </p:sp>
      <p:sp>
        <p:nvSpPr>
          <p:cNvPr id="18" name="Step 3 title"/>
          <p:cNvSpPr txBox="1"/>
          <p:nvPr/>
        </p:nvSpPr>
        <p:spPr>
          <a:xfrm>
            <a:off x="3246120" y="2468880"/>
            <a:ext cx="1280160" cy="457200"/>
          </a:xfrm>
          <a:prstGeom prst="rect">
            <a:avLst/>
          </a:prstGeom>
          <a:noFill/>
          <a:ln/>
        </p:spPr>
        <p:txBody>
          <a:bodyPr wrap="square" lIns="0" tIns="0" rIns="0" bIns="0" rtlCol="0" anchor="t"/>
          <a:lstStyle/>
          <a:p>
            <a:pPr algn="ctr" indent="0" marL="0">
              <a:buNone/>
            </a:pPr>
            <a:r>
              <a:rPr lang="en-US" sz="1350" b="1" dirty="0">
                <a:solidFill>
                  <a:schemeClr val="tx2"/>
                </a:solidFill>
              </a:rPr>
              <a:t>Design</a:t>
            </a:r>
            <a:endParaRPr lang="en-US" sz="1350" dirty="0"/>
          </a:p>
        </p:txBody>
      </p:sp>
      <p:sp>
        <p:nvSpPr>
          <p:cNvPr id="19" name="Step 3 text"/>
          <p:cNvSpPr txBox="1"/>
          <p:nvPr/>
        </p:nvSpPr>
        <p:spPr>
          <a:xfrm>
            <a:off x="3246120" y="2926080"/>
            <a:ext cx="1280160" cy="777240"/>
          </a:xfrm>
          <a:prstGeom prst="rect">
            <a:avLst/>
          </a:prstGeom>
          <a:noFill/>
          <a:ln/>
        </p:spPr>
        <p:txBody>
          <a:bodyPr wrap="square" lIns="0" tIns="0" rIns="0" bIns="0" rtlCol="0" anchor="t"/>
          <a:lstStyle/>
          <a:p>
            <a:pPr algn="ctr" indent="0" marL="0">
              <a:buNone/>
            </a:pPr>
            <a:r>
              <a:rPr lang="en-US" sz="1100" dirty="0">
                <a:solidFill>
                  <a:schemeClr val="accent6"/>
                </a:solidFill>
              </a:rPr>
              <a:t>Architecture, database, REST API and screens</a:t>
            </a:r>
            <a:endParaRPr lang="en-US" sz="1100" dirty="0"/>
          </a:p>
        </p:txBody>
      </p:sp>
      <p:sp>
        <p:nvSpPr>
          <p:cNvPr id="20" name="Step 4 circle"/>
          <p:cNvSpPr/>
          <p:nvPr/>
        </p:nvSpPr>
        <p:spPr>
          <a:xfrm>
            <a:off x="4928616" y="1453896"/>
            <a:ext cx="658368" cy="658368"/>
          </a:xfrm>
          <a:prstGeom prst="ellipse">
            <a:avLst/>
          </a:prstGeom>
          <a:solidFill>
            <a:schemeClr val="tx2"/>
          </a:solidFill>
          <a:ln w="38100">
            <a:solidFill>
              <a:schemeClr val="bg1"/>
            </a:solidFill>
            <a:prstDash val="solid"/>
          </a:ln>
        </p:spPr>
      </p:sp>
      <p:pic>
        <p:nvPicPr>
          <p:cNvPr id="21" name="Step 4 icon" descr="preencoded.png">    </p:cNvPr>
          <p:cNvPicPr>
            <a:picLocks noChangeAspect="1"/>
          </p:cNvPicPr>
          <p:nvPr/>
        </p:nvPicPr>
        <p:blipFill>
          <a:blip r:embed="rId4"/>
          <a:stretch>
            <a:fillRect/>
          </a:stretch>
        </p:blipFill>
        <p:spPr>
          <a:xfrm>
            <a:off x="5084064" y="1609344"/>
            <a:ext cx="347472" cy="347472"/>
          </a:xfrm>
          <a:prstGeom prst="rect">
            <a:avLst/>
          </a:prstGeom>
        </p:spPr>
      </p:pic>
      <p:sp>
        <p:nvSpPr>
          <p:cNvPr id="22" name="Step 4 label"/>
          <p:cNvSpPr txBox="1"/>
          <p:nvPr/>
        </p:nvSpPr>
        <p:spPr>
          <a:xfrm>
            <a:off x="4617720" y="2240280"/>
            <a:ext cx="1280160" cy="228600"/>
          </a:xfrm>
          <a:prstGeom prst="rect">
            <a:avLst/>
          </a:prstGeom>
          <a:noFill/>
          <a:ln/>
        </p:spPr>
        <p:txBody>
          <a:bodyPr wrap="square" lIns="0" tIns="0" rIns="0" bIns="0" rtlCol="0" anchor="ctr"/>
          <a:lstStyle/>
          <a:p>
            <a:pPr algn="ctr" indent="0" marL="0">
              <a:buNone/>
            </a:pPr>
            <a:r>
              <a:rPr lang="en-US" sz="1000" b="1" spc="100" kern="0" dirty="0">
                <a:solidFill>
                  <a:schemeClr val="accent2"/>
                </a:solidFill>
              </a:rPr>
              <a:t>STEP 4</a:t>
            </a:r>
            <a:endParaRPr lang="en-US" sz="1000" dirty="0"/>
          </a:p>
        </p:txBody>
      </p:sp>
      <p:sp>
        <p:nvSpPr>
          <p:cNvPr id="23" name="Step 4 title"/>
          <p:cNvSpPr txBox="1"/>
          <p:nvPr/>
        </p:nvSpPr>
        <p:spPr>
          <a:xfrm>
            <a:off x="4617720" y="2468880"/>
            <a:ext cx="1280160" cy="457200"/>
          </a:xfrm>
          <a:prstGeom prst="rect">
            <a:avLst/>
          </a:prstGeom>
          <a:noFill/>
          <a:ln/>
        </p:spPr>
        <p:txBody>
          <a:bodyPr wrap="square" lIns="0" tIns="0" rIns="0" bIns="0" rtlCol="0" anchor="t"/>
          <a:lstStyle/>
          <a:p>
            <a:pPr algn="ctr" indent="0" marL="0">
              <a:buNone/>
            </a:pPr>
            <a:r>
              <a:rPr lang="en-US" sz="1350" b="1" dirty="0">
                <a:solidFill>
                  <a:schemeClr val="tx2"/>
                </a:solidFill>
              </a:rPr>
              <a:t>Build in steps</a:t>
            </a:r>
            <a:endParaRPr lang="en-US" sz="1350" dirty="0"/>
          </a:p>
        </p:txBody>
      </p:sp>
      <p:sp>
        <p:nvSpPr>
          <p:cNvPr id="24" name="Step 4 text"/>
          <p:cNvSpPr txBox="1"/>
          <p:nvPr/>
        </p:nvSpPr>
        <p:spPr>
          <a:xfrm>
            <a:off x="4617720" y="2926080"/>
            <a:ext cx="1280160" cy="777240"/>
          </a:xfrm>
          <a:prstGeom prst="rect">
            <a:avLst/>
          </a:prstGeom>
          <a:noFill/>
          <a:ln/>
        </p:spPr>
        <p:txBody>
          <a:bodyPr wrap="square" lIns="0" tIns="0" rIns="0" bIns="0" rtlCol="0" anchor="t"/>
          <a:lstStyle/>
          <a:p>
            <a:pPr algn="ctr" indent="0" marL="0">
              <a:buNone/>
            </a:pPr>
            <a:r>
              <a:rPr lang="en-US" sz="1100" dirty="0">
                <a:solidFill>
                  <a:schemeClr val="accent6"/>
                </a:solidFill>
              </a:rPr>
              <a:t>Catalogue, stock, purchases, billing, returns, reports, AI</a:t>
            </a:r>
            <a:endParaRPr lang="en-US" sz="1100" dirty="0"/>
          </a:p>
        </p:txBody>
      </p:sp>
      <p:sp>
        <p:nvSpPr>
          <p:cNvPr id="25" name="Step 5 circle"/>
          <p:cNvSpPr/>
          <p:nvPr/>
        </p:nvSpPr>
        <p:spPr>
          <a:xfrm>
            <a:off x="6300216" y="1453896"/>
            <a:ext cx="658368" cy="658368"/>
          </a:xfrm>
          <a:prstGeom prst="ellipse">
            <a:avLst/>
          </a:prstGeom>
          <a:solidFill>
            <a:schemeClr val="accent1"/>
          </a:solidFill>
          <a:ln w="38100">
            <a:solidFill>
              <a:schemeClr val="bg1"/>
            </a:solidFill>
            <a:prstDash val="solid"/>
          </a:ln>
        </p:spPr>
      </p:sp>
      <p:pic>
        <p:nvPicPr>
          <p:cNvPr id="26" name="Step 5 icon" descr="preencoded.png">    </p:cNvPr>
          <p:cNvPicPr>
            <a:picLocks noChangeAspect="1"/>
          </p:cNvPicPr>
          <p:nvPr/>
        </p:nvPicPr>
        <p:blipFill>
          <a:blip r:embed="rId5"/>
          <a:stretch>
            <a:fillRect/>
          </a:stretch>
        </p:blipFill>
        <p:spPr>
          <a:xfrm>
            <a:off x="6455664" y="1609344"/>
            <a:ext cx="347472" cy="347472"/>
          </a:xfrm>
          <a:prstGeom prst="rect">
            <a:avLst/>
          </a:prstGeom>
        </p:spPr>
      </p:pic>
      <p:sp>
        <p:nvSpPr>
          <p:cNvPr id="27" name="Step 5 label"/>
          <p:cNvSpPr txBox="1"/>
          <p:nvPr/>
        </p:nvSpPr>
        <p:spPr>
          <a:xfrm>
            <a:off x="5989320" y="2240280"/>
            <a:ext cx="1280160" cy="228600"/>
          </a:xfrm>
          <a:prstGeom prst="rect">
            <a:avLst/>
          </a:prstGeom>
          <a:noFill/>
          <a:ln/>
        </p:spPr>
        <p:txBody>
          <a:bodyPr wrap="square" lIns="0" tIns="0" rIns="0" bIns="0" rtlCol="0" anchor="ctr"/>
          <a:lstStyle/>
          <a:p>
            <a:pPr algn="ctr" indent="0" marL="0">
              <a:buNone/>
            </a:pPr>
            <a:r>
              <a:rPr lang="en-US" sz="1000" b="1" spc="100" kern="0" dirty="0">
                <a:solidFill>
                  <a:schemeClr val="accent2"/>
                </a:solidFill>
              </a:rPr>
              <a:t>STEP 5</a:t>
            </a:r>
            <a:endParaRPr lang="en-US" sz="1000" dirty="0"/>
          </a:p>
        </p:txBody>
      </p:sp>
      <p:sp>
        <p:nvSpPr>
          <p:cNvPr id="28" name="Step 5 title"/>
          <p:cNvSpPr txBox="1"/>
          <p:nvPr/>
        </p:nvSpPr>
        <p:spPr>
          <a:xfrm>
            <a:off x="5989320" y="2468880"/>
            <a:ext cx="1280160" cy="457200"/>
          </a:xfrm>
          <a:prstGeom prst="rect">
            <a:avLst/>
          </a:prstGeom>
          <a:noFill/>
          <a:ln/>
        </p:spPr>
        <p:txBody>
          <a:bodyPr wrap="square" lIns="0" tIns="0" rIns="0" bIns="0" rtlCol="0" anchor="t"/>
          <a:lstStyle/>
          <a:p>
            <a:pPr algn="ctr" indent="0" marL="0">
              <a:buNone/>
            </a:pPr>
            <a:r>
              <a:rPr lang="en-US" sz="1350" b="1" dirty="0">
                <a:solidFill>
                  <a:schemeClr val="tx2"/>
                </a:solidFill>
              </a:rPr>
              <a:t>Test</a:t>
            </a:r>
            <a:endParaRPr lang="en-US" sz="1350" dirty="0"/>
          </a:p>
        </p:txBody>
      </p:sp>
      <p:sp>
        <p:nvSpPr>
          <p:cNvPr id="29" name="Step 5 text"/>
          <p:cNvSpPr txBox="1"/>
          <p:nvPr/>
        </p:nvSpPr>
        <p:spPr>
          <a:xfrm>
            <a:off x="5989320" y="2926080"/>
            <a:ext cx="1280160" cy="777240"/>
          </a:xfrm>
          <a:prstGeom prst="rect">
            <a:avLst/>
          </a:prstGeom>
          <a:noFill/>
          <a:ln/>
        </p:spPr>
        <p:txBody>
          <a:bodyPr wrap="square" lIns="0" tIns="0" rIns="0" bIns="0" rtlCol="0" anchor="t"/>
          <a:lstStyle/>
          <a:p>
            <a:pPr algn="ctr" indent="0" marL="0">
              <a:buNone/>
            </a:pPr>
            <a:r>
              <a:rPr lang="en-US" sz="1100" dirty="0">
                <a:solidFill>
                  <a:schemeClr val="accent6"/>
                </a:solidFill>
              </a:rPr>
              <a:t>Automated tests and checks on every change</a:t>
            </a:r>
            <a:endParaRPr lang="en-US" sz="1100" dirty="0"/>
          </a:p>
        </p:txBody>
      </p:sp>
      <p:sp>
        <p:nvSpPr>
          <p:cNvPr id="30" name="Step 6 circle"/>
          <p:cNvSpPr/>
          <p:nvPr/>
        </p:nvSpPr>
        <p:spPr>
          <a:xfrm>
            <a:off x="7671816" y="1453896"/>
            <a:ext cx="658368" cy="658368"/>
          </a:xfrm>
          <a:prstGeom prst="ellipse">
            <a:avLst/>
          </a:prstGeom>
          <a:solidFill>
            <a:schemeClr val="tx2"/>
          </a:solidFill>
          <a:ln w="38100">
            <a:solidFill>
              <a:schemeClr val="bg1"/>
            </a:solidFill>
            <a:prstDash val="solid"/>
          </a:ln>
        </p:spPr>
      </p:sp>
      <p:pic>
        <p:nvPicPr>
          <p:cNvPr id="31" name="Step 6 icon" descr="preencoded.png">    </p:cNvPr>
          <p:cNvPicPr>
            <a:picLocks noChangeAspect="1"/>
          </p:cNvPicPr>
          <p:nvPr/>
        </p:nvPicPr>
        <p:blipFill>
          <a:blip r:embed="rId6"/>
          <a:stretch>
            <a:fillRect/>
          </a:stretch>
        </p:blipFill>
        <p:spPr>
          <a:xfrm>
            <a:off x="7827264" y="1609344"/>
            <a:ext cx="347472" cy="347472"/>
          </a:xfrm>
          <a:prstGeom prst="rect">
            <a:avLst/>
          </a:prstGeom>
        </p:spPr>
      </p:pic>
      <p:sp>
        <p:nvSpPr>
          <p:cNvPr id="32" name="Step 6 label"/>
          <p:cNvSpPr txBox="1"/>
          <p:nvPr/>
        </p:nvSpPr>
        <p:spPr>
          <a:xfrm>
            <a:off x="7360920" y="2240280"/>
            <a:ext cx="1280160" cy="228600"/>
          </a:xfrm>
          <a:prstGeom prst="rect">
            <a:avLst/>
          </a:prstGeom>
          <a:noFill/>
          <a:ln/>
        </p:spPr>
        <p:txBody>
          <a:bodyPr wrap="square" lIns="0" tIns="0" rIns="0" bIns="0" rtlCol="0" anchor="ctr"/>
          <a:lstStyle/>
          <a:p>
            <a:pPr algn="ctr" indent="0" marL="0">
              <a:buNone/>
            </a:pPr>
            <a:r>
              <a:rPr lang="en-US" sz="1000" b="1" spc="100" kern="0" dirty="0">
                <a:solidFill>
                  <a:schemeClr val="accent2"/>
                </a:solidFill>
              </a:rPr>
              <a:t>STEP 6</a:t>
            </a:r>
            <a:endParaRPr lang="en-US" sz="1000" dirty="0"/>
          </a:p>
        </p:txBody>
      </p:sp>
      <p:sp>
        <p:nvSpPr>
          <p:cNvPr id="33" name="Step 6 title"/>
          <p:cNvSpPr txBox="1"/>
          <p:nvPr/>
        </p:nvSpPr>
        <p:spPr>
          <a:xfrm>
            <a:off x="7360920" y="2468880"/>
            <a:ext cx="1280160" cy="457200"/>
          </a:xfrm>
          <a:prstGeom prst="rect">
            <a:avLst/>
          </a:prstGeom>
          <a:noFill/>
          <a:ln/>
        </p:spPr>
        <p:txBody>
          <a:bodyPr wrap="square" lIns="0" tIns="0" rIns="0" bIns="0" rtlCol="0" anchor="t"/>
          <a:lstStyle/>
          <a:p>
            <a:pPr algn="ctr" indent="0" marL="0">
              <a:buNone/>
            </a:pPr>
            <a:r>
              <a:rPr lang="en-US" sz="1350" b="1" dirty="0">
                <a:solidFill>
                  <a:schemeClr val="tx2"/>
                </a:solidFill>
              </a:rPr>
              <a:t>Evaluate</a:t>
            </a:r>
            <a:endParaRPr lang="en-US" sz="1350" dirty="0"/>
          </a:p>
        </p:txBody>
      </p:sp>
      <p:sp>
        <p:nvSpPr>
          <p:cNvPr id="34" name="Step 6 text"/>
          <p:cNvSpPr txBox="1"/>
          <p:nvPr/>
        </p:nvSpPr>
        <p:spPr>
          <a:xfrm>
            <a:off x="7360920" y="2926080"/>
            <a:ext cx="1280160" cy="777240"/>
          </a:xfrm>
          <a:prstGeom prst="rect">
            <a:avLst/>
          </a:prstGeom>
          <a:noFill/>
          <a:ln/>
        </p:spPr>
        <p:txBody>
          <a:bodyPr wrap="square" lIns="0" tIns="0" rIns="0" bIns="0" rtlCol="0" anchor="t"/>
          <a:lstStyle/>
          <a:p>
            <a:pPr algn="ctr" indent="0" marL="0">
              <a:buNone/>
            </a:pPr>
            <a:r>
              <a:rPr lang="en-US" sz="1100" dirty="0">
                <a:solidFill>
                  <a:schemeClr val="accent6"/>
                </a:solidFill>
              </a:rPr>
              <a:t>Demo year of sales, forecast accuracy, feedback</a:t>
            </a:r>
            <a:endParaRPr lang="en-US" sz="1100" dirty="0"/>
          </a:p>
        </p:txBody>
      </p:sp>
      <p:sp>
        <p:nvSpPr>
          <p:cNvPr id="35" name="Stack panel"/>
          <p:cNvSpPr/>
          <p:nvPr/>
        </p:nvSpPr>
        <p:spPr>
          <a:xfrm>
            <a:off x="457200" y="3886200"/>
            <a:ext cx="8229600" cy="621792"/>
          </a:xfrm>
          <a:prstGeom prst="roundRect">
            <a:avLst>
              <a:gd name="adj" fmla="val 14706"/>
            </a:avLst>
          </a:prstGeom>
          <a:solidFill>
            <a:schemeClr val="bg2"/>
          </a:solidFill>
          <a:ln/>
        </p:spPr>
      </p:sp>
      <p:sp>
        <p:nvSpPr>
          <p:cNvPr id="36" name="Tools label"/>
          <p:cNvSpPr txBox="1"/>
          <p:nvPr/>
        </p:nvSpPr>
        <p:spPr>
          <a:xfrm>
            <a:off x="685800" y="3886200"/>
            <a:ext cx="731520" cy="621792"/>
          </a:xfrm>
          <a:prstGeom prst="rect">
            <a:avLst/>
          </a:prstGeom>
          <a:noFill/>
          <a:ln/>
        </p:spPr>
        <p:txBody>
          <a:bodyPr wrap="square" lIns="0" tIns="0" rIns="0" bIns="0" rtlCol="0" anchor="ctr"/>
          <a:lstStyle/>
          <a:p>
            <a:pPr indent="0" marL="0">
              <a:buNone/>
            </a:pPr>
            <a:r>
              <a:rPr lang="en-US" sz="1100" b="1" spc="200" kern="0" dirty="0">
                <a:solidFill>
                  <a:schemeClr val="accent1"/>
                </a:solidFill>
              </a:rPr>
              <a:t>TOOLS</a:t>
            </a:r>
            <a:endParaRPr lang="en-US" sz="1100" dirty="0"/>
          </a:p>
        </p:txBody>
      </p:sp>
      <p:sp>
        <p:nvSpPr>
          <p:cNvPr id="37" name="React chip"/>
          <p:cNvSpPr/>
          <p:nvPr/>
        </p:nvSpPr>
        <p:spPr>
          <a:xfrm>
            <a:off x="1463040" y="4041648"/>
            <a:ext cx="777240" cy="310896"/>
          </a:xfrm>
          <a:prstGeom prst="roundRect">
            <a:avLst>
              <a:gd name="adj" fmla="val 50000"/>
            </a:avLst>
          </a:prstGeom>
          <a:solidFill>
            <a:schemeClr val="bg1"/>
          </a:solidFill>
          <a:ln w="9525">
            <a:solidFill>
              <a:schemeClr val="accent3"/>
            </a:solidFill>
            <a:prstDash val="solid"/>
          </a:ln>
        </p:spPr>
      </p:sp>
      <p:sp>
        <p:nvSpPr>
          <p:cNvPr id="38" name="React chip text"/>
          <p:cNvSpPr txBox="1"/>
          <p:nvPr/>
        </p:nvSpPr>
        <p:spPr>
          <a:xfrm>
            <a:off x="1463040" y="4041648"/>
            <a:ext cx="777240" cy="310896"/>
          </a:xfrm>
          <a:prstGeom prst="rect">
            <a:avLst/>
          </a:prstGeom>
          <a:noFill/>
          <a:ln/>
        </p:spPr>
        <p:txBody>
          <a:bodyPr wrap="square" lIns="0" tIns="0" rIns="0" bIns="0" rtlCol="0" anchor="ctr"/>
          <a:lstStyle/>
          <a:p>
            <a:pPr algn="ctr" indent="0" marL="0">
              <a:buNone/>
            </a:pPr>
            <a:r>
              <a:rPr lang="en-US" sz="1100" dirty="0">
                <a:solidFill>
                  <a:schemeClr val="tx2"/>
                </a:solidFill>
              </a:rPr>
              <a:t>React</a:t>
            </a:r>
            <a:endParaRPr lang="en-US" sz="1100" dirty="0"/>
          </a:p>
        </p:txBody>
      </p:sp>
      <p:sp>
        <p:nvSpPr>
          <p:cNvPr id="39" name="Node.js + Express chip"/>
          <p:cNvSpPr/>
          <p:nvPr/>
        </p:nvSpPr>
        <p:spPr>
          <a:xfrm>
            <a:off x="2350008" y="4041648"/>
            <a:ext cx="1417320" cy="310896"/>
          </a:xfrm>
          <a:prstGeom prst="roundRect">
            <a:avLst>
              <a:gd name="adj" fmla="val 50000"/>
            </a:avLst>
          </a:prstGeom>
          <a:solidFill>
            <a:schemeClr val="bg1"/>
          </a:solidFill>
          <a:ln w="9525">
            <a:solidFill>
              <a:schemeClr val="accent3"/>
            </a:solidFill>
            <a:prstDash val="solid"/>
          </a:ln>
        </p:spPr>
      </p:sp>
      <p:sp>
        <p:nvSpPr>
          <p:cNvPr id="40" name="Node.js + Express chip text"/>
          <p:cNvSpPr txBox="1"/>
          <p:nvPr/>
        </p:nvSpPr>
        <p:spPr>
          <a:xfrm>
            <a:off x="2350008" y="4041648"/>
            <a:ext cx="1417320" cy="310896"/>
          </a:xfrm>
          <a:prstGeom prst="rect">
            <a:avLst/>
          </a:prstGeom>
          <a:noFill/>
          <a:ln/>
        </p:spPr>
        <p:txBody>
          <a:bodyPr wrap="square" lIns="0" tIns="0" rIns="0" bIns="0" rtlCol="0" anchor="ctr"/>
          <a:lstStyle/>
          <a:p>
            <a:pPr algn="ctr" indent="0" marL="0">
              <a:buNone/>
            </a:pPr>
            <a:r>
              <a:rPr lang="en-US" sz="1100" dirty="0">
                <a:solidFill>
                  <a:schemeClr val="tx2"/>
                </a:solidFill>
              </a:rPr>
              <a:t>Node.js + Express</a:t>
            </a:r>
            <a:endParaRPr lang="en-US" sz="1100" dirty="0"/>
          </a:p>
        </p:txBody>
      </p:sp>
      <p:sp>
        <p:nvSpPr>
          <p:cNvPr id="41" name="MongoDB chip"/>
          <p:cNvSpPr/>
          <p:nvPr/>
        </p:nvSpPr>
        <p:spPr>
          <a:xfrm>
            <a:off x="3877056" y="4041648"/>
            <a:ext cx="960120" cy="310896"/>
          </a:xfrm>
          <a:prstGeom prst="roundRect">
            <a:avLst>
              <a:gd name="adj" fmla="val 50000"/>
            </a:avLst>
          </a:prstGeom>
          <a:solidFill>
            <a:schemeClr val="bg1"/>
          </a:solidFill>
          <a:ln w="9525">
            <a:solidFill>
              <a:schemeClr val="accent3"/>
            </a:solidFill>
            <a:prstDash val="solid"/>
          </a:ln>
        </p:spPr>
      </p:sp>
      <p:sp>
        <p:nvSpPr>
          <p:cNvPr id="42" name="MongoDB chip text"/>
          <p:cNvSpPr txBox="1"/>
          <p:nvPr/>
        </p:nvSpPr>
        <p:spPr>
          <a:xfrm>
            <a:off x="3877056" y="4041648"/>
            <a:ext cx="960120" cy="310896"/>
          </a:xfrm>
          <a:prstGeom prst="rect">
            <a:avLst/>
          </a:prstGeom>
          <a:noFill/>
          <a:ln/>
        </p:spPr>
        <p:txBody>
          <a:bodyPr wrap="square" lIns="0" tIns="0" rIns="0" bIns="0" rtlCol="0" anchor="ctr"/>
          <a:lstStyle/>
          <a:p>
            <a:pPr algn="ctr" indent="0" marL="0">
              <a:buNone/>
            </a:pPr>
            <a:r>
              <a:rPr lang="en-US" sz="1100" dirty="0">
                <a:solidFill>
                  <a:schemeClr val="tx2"/>
                </a:solidFill>
              </a:rPr>
              <a:t>MongoDB</a:t>
            </a:r>
            <a:endParaRPr lang="en-US" sz="1100" dirty="0"/>
          </a:p>
        </p:txBody>
      </p:sp>
      <p:sp>
        <p:nvSpPr>
          <p:cNvPr id="43" name="TypeScript chip"/>
          <p:cNvSpPr/>
          <p:nvPr/>
        </p:nvSpPr>
        <p:spPr>
          <a:xfrm>
            <a:off x="4946904" y="4041648"/>
            <a:ext cx="1005840" cy="310896"/>
          </a:xfrm>
          <a:prstGeom prst="roundRect">
            <a:avLst>
              <a:gd name="adj" fmla="val 50000"/>
            </a:avLst>
          </a:prstGeom>
          <a:solidFill>
            <a:schemeClr val="bg1"/>
          </a:solidFill>
          <a:ln w="9525">
            <a:solidFill>
              <a:schemeClr val="accent3"/>
            </a:solidFill>
            <a:prstDash val="solid"/>
          </a:ln>
        </p:spPr>
      </p:sp>
      <p:sp>
        <p:nvSpPr>
          <p:cNvPr id="44" name="TypeScript chip text"/>
          <p:cNvSpPr txBox="1"/>
          <p:nvPr/>
        </p:nvSpPr>
        <p:spPr>
          <a:xfrm>
            <a:off x="4946904" y="4041648"/>
            <a:ext cx="1005840" cy="310896"/>
          </a:xfrm>
          <a:prstGeom prst="rect">
            <a:avLst/>
          </a:prstGeom>
          <a:noFill/>
          <a:ln/>
        </p:spPr>
        <p:txBody>
          <a:bodyPr wrap="square" lIns="0" tIns="0" rIns="0" bIns="0" rtlCol="0" anchor="ctr"/>
          <a:lstStyle/>
          <a:p>
            <a:pPr algn="ctr" indent="0" marL="0">
              <a:buNone/>
            </a:pPr>
            <a:r>
              <a:rPr lang="en-US" sz="1100" dirty="0">
                <a:solidFill>
                  <a:schemeClr val="tx2"/>
                </a:solidFill>
              </a:rPr>
              <a:t>TypeScript</a:t>
            </a:r>
            <a:endParaRPr lang="en-US" sz="1100" dirty="0"/>
          </a:p>
        </p:txBody>
      </p:sp>
      <p:sp>
        <p:nvSpPr>
          <p:cNvPr id="45" name="Google Gemini chip"/>
          <p:cNvSpPr/>
          <p:nvPr/>
        </p:nvSpPr>
        <p:spPr>
          <a:xfrm>
            <a:off x="6062472" y="4041648"/>
            <a:ext cx="1234440" cy="310896"/>
          </a:xfrm>
          <a:prstGeom prst="roundRect">
            <a:avLst>
              <a:gd name="adj" fmla="val 50000"/>
            </a:avLst>
          </a:prstGeom>
          <a:solidFill>
            <a:schemeClr val="bg1"/>
          </a:solidFill>
          <a:ln w="9525">
            <a:solidFill>
              <a:schemeClr val="accent3"/>
            </a:solidFill>
            <a:prstDash val="solid"/>
          </a:ln>
        </p:spPr>
      </p:sp>
      <p:sp>
        <p:nvSpPr>
          <p:cNvPr id="46" name="Google Gemini chip text"/>
          <p:cNvSpPr txBox="1"/>
          <p:nvPr/>
        </p:nvSpPr>
        <p:spPr>
          <a:xfrm>
            <a:off x="6062472" y="4041648"/>
            <a:ext cx="1234440" cy="310896"/>
          </a:xfrm>
          <a:prstGeom prst="rect">
            <a:avLst/>
          </a:prstGeom>
          <a:noFill/>
          <a:ln/>
        </p:spPr>
        <p:txBody>
          <a:bodyPr wrap="square" lIns="0" tIns="0" rIns="0" bIns="0" rtlCol="0" anchor="ctr"/>
          <a:lstStyle/>
          <a:p>
            <a:pPr algn="ctr" indent="0" marL="0">
              <a:buNone/>
            </a:pPr>
            <a:r>
              <a:rPr lang="en-US" sz="1100" dirty="0">
                <a:solidFill>
                  <a:schemeClr val="tx2"/>
                </a:solidFill>
              </a:rPr>
              <a:t>Google Gemini</a:t>
            </a:r>
            <a:endParaRPr lang="en-US" sz="1100" dirty="0"/>
          </a:p>
        </p:txBody>
      </p:sp>
      <p:sp>
        <p:nvSpPr>
          <p:cNvPr id="47" name="GitHub Actions chip"/>
          <p:cNvSpPr/>
          <p:nvPr/>
        </p:nvSpPr>
        <p:spPr>
          <a:xfrm>
            <a:off x="7406640" y="4041648"/>
            <a:ext cx="1280160" cy="310896"/>
          </a:xfrm>
          <a:prstGeom prst="roundRect">
            <a:avLst>
              <a:gd name="adj" fmla="val 50000"/>
            </a:avLst>
          </a:prstGeom>
          <a:solidFill>
            <a:schemeClr val="bg1"/>
          </a:solidFill>
          <a:ln w="9525">
            <a:solidFill>
              <a:schemeClr val="accent3"/>
            </a:solidFill>
            <a:prstDash val="solid"/>
          </a:ln>
        </p:spPr>
      </p:sp>
      <p:sp>
        <p:nvSpPr>
          <p:cNvPr id="48" name="GitHub Actions chip text"/>
          <p:cNvSpPr txBox="1"/>
          <p:nvPr/>
        </p:nvSpPr>
        <p:spPr>
          <a:xfrm>
            <a:off x="7406640" y="4041648"/>
            <a:ext cx="1280160" cy="310896"/>
          </a:xfrm>
          <a:prstGeom prst="rect">
            <a:avLst/>
          </a:prstGeom>
          <a:noFill/>
          <a:ln/>
        </p:spPr>
        <p:txBody>
          <a:bodyPr wrap="square" lIns="0" tIns="0" rIns="0" bIns="0" rtlCol="0" anchor="ctr"/>
          <a:lstStyle/>
          <a:p>
            <a:pPr algn="ctr" indent="0" marL="0">
              <a:buNone/>
            </a:pPr>
            <a:r>
              <a:rPr lang="en-US" sz="1100" dirty="0">
                <a:solidFill>
                  <a:schemeClr val="tx2"/>
                </a:solidFill>
              </a:rPr>
              <a:t>GitHub Actions</a:t>
            </a:r>
            <a:endParaRPr lang="en-US" sz="11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Eyebrow"/>
          <p:cNvSpPr txBox="1"/>
          <p:nvPr/>
        </p:nvSpPr>
        <p:spPr>
          <a:xfrm>
            <a:off x="457200" y="274320"/>
            <a:ext cx="5486400" cy="256032"/>
          </a:xfrm>
          <a:prstGeom prst="rect">
            <a:avLst/>
          </a:prstGeom>
          <a:noFill/>
          <a:ln/>
        </p:spPr>
        <p:txBody>
          <a:bodyPr wrap="square" lIns="0" tIns="0" rIns="0" bIns="0" rtlCol="0" anchor="ctr"/>
          <a:lstStyle/>
          <a:p>
            <a:pPr indent="0" marL="0">
              <a:buNone/>
            </a:pPr>
            <a:r>
              <a:rPr lang="en-US" sz="1100" b="1" spc="200" kern="0" dirty="0">
                <a:solidFill>
                  <a:schemeClr val="accent1"/>
                </a:solidFill>
              </a:rPr>
              <a:t>10 · METHODOLOGY</a:t>
            </a:r>
            <a:endParaRPr lang="en-US" sz="1100" dirty="0"/>
          </a:p>
        </p:txBody>
      </p:sp>
      <p:sp>
        <p:nvSpPr>
          <p:cNvPr id="3" name="Text 0"/>
          <p:cNvSpPr/>
          <p:nvPr>
            <p:ph idx="100" type="title" hasCustomPrompt="1"/>
          </p:nvPr>
        </p:nvSpPr>
        <p:spPr>
          <a:xfrm>
            <a:off x="457200" y="502920"/>
            <a:ext cx="6400800" cy="640080"/>
          </a:xfrm>
          <a:prstGeom prst="rect">
            <a:avLst/>
          </a:prstGeom>
          <a:noFill/>
          <a:ln/>
        </p:spPr>
        <p:txBody>
          <a:bodyPr wrap="square" lIns="0" tIns="0" rIns="0" bIns="0" rtlCol="0" anchor="ctr"/>
          <a:lstStyle/>
          <a:p>
            <a:pPr algn="l" indent="0" marL="0">
              <a:buNone/>
            </a:pPr>
            <a:r>
              <a:rPr lang="en-US" sz="3400" b="1" dirty="0">
                <a:solidFill>
                  <a:schemeClr val="tx2"/>
                </a:solidFill>
                <a:latin typeface="Cambria" pitchFamily="34" charset="0"/>
                <a:ea typeface="Cambria" pitchFamily="34" charset="-122"/>
                <a:cs typeface="Cambria" pitchFamily="34" charset="-120"/>
              </a:rPr>
              <a:t>Development Approach</a:t>
            </a:r>
            <a:endParaRPr lang="en-US" sz="3400" dirty="0"/>
          </a:p>
        </p:txBody>
      </p:sp>
      <p:pic>
        <p:nvPicPr>
          <p:cNvPr id="4" name="Development methodology diagram" descr="Requirement analysis, planning and design, iterative development of one module per step with tests and checks, integration testing, deployment">    </p:cNvPr>
          <p:cNvPicPr>
            <a:picLocks noChangeAspect="1"/>
          </p:cNvPicPr>
          <p:nvPr/>
        </p:nvPicPr>
        <p:blipFill>
          <a:blip r:embed="rId1"/>
          <a:stretch>
            <a:fillRect/>
          </a:stretch>
        </p:blipFill>
        <p:spPr>
          <a:xfrm>
            <a:off x="1097280" y="1188720"/>
            <a:ext cx="6949440" cy="2174146"/>
          </a:xfrm>
          <a:prstGeom prst="rect">
            <a:avLst/>
          </a:prstGeom>
        </p:spPr>
      </p:pic>
      <p:sp>
        <p:nvSpPr>
          <p:cNvPr id="5" name="Build order label"/>
          <p:cNvSpPr txBox="1"/>
          <p:nvPr/>
        </p:nvSpPr>
        <p:spPr>
          <a:xfrm>
            <a:off x="457200" y="3493008"/>
            <a:ext cx="2743200" cy="237744"/>
          </a:xfrm>
          <a:prstGeom prst="rect">
            <a:avLst/>
          </a:prstGeom>
          <a:noFill/>
          <a:ln/>
        </p:spPr>
        <p:txBody>
          <a:bodyPr wrap="square" lIns="0" tIns="0" rIns="0" bIns="0" rtlCol="0" anchor="ctr"/>
          <a:lstStyle/>
          <a:p>
            <a:pPr indent="0" marL="0">
              <a:buNone/>
            </a:pPr>
            <a:r>
              <a:rPr lang="en-US" sz="1100" b="1" spc="200" kern="0" dirty="0">
                <a:solidFill>
                  <a:schemeClr val="accent1"/>
                </a:solidFill>
              </a:rPr>
              <a:t>BUILD ORDER</a:t>
            </a:r>
            <a:endParaRPr lang="en-US" sz="1100" dirty="0"/>
          </a:p>
        </p:txBody>
      </p:sp>
      <p:sp>
        <p:nvSpPr>
          <p:cNvPr id="6" name="Done key"/>
          <p:cNvSpPr/>
          <p:nvPr/>
        </p:nvSpPr>
        <p:spPr>
          <a:xfrm>
            <a:off x="7223760" y="3520440"/>
            <a:ext cx="201168" cy="182880"/>
          </a:xfrm>
          <a:prstGeom prst="roundRect">
            <a:avLst>
              <a:gd name="adj" fmla="val 25000"/>
            </a:avLst>
          </a:prstGeom>
          <a:solidFill>
            <a:schemeClr val="accent1"/>
          </a:solidFill>
          <a:ln w="15875">
            <a:solidFill>
              <a:schemeClr val="accent1"/>
            </a:solidFill>
            <a:prstDash val="solid"/>
          </a:ln>
        </p:spPr>
      </p:sp>
      <p:sp>
        <p:nvSpPr>
          <p:cNvPr id="7" name="Done key text"/>
          <p:cNvSpPr txBox="1"/>
          <p:nvPr/>
        </p:nvSpPr>
        <p:spPr>
          <a:xfrm>
            <a:off x="7479792" y="3493008"/>
            <a:ext cx="502920" cy="237744"/>
          </a:xfrm>
          <a:prstGeom prst="rect">
            <a:avLst/>
          </a:prstGeom>
          <a:noFill/>
          <a:ln/>
        </p:spPr>
        <p:txBody>
          <a:bodyPr wrap="square" lIns="0" tIns="0" rIns="0" bIns="0" rtlCol="0" anchor="ctr"/>
          <a:lstStyle/>
          <a:p>
            <a:pPr indent="0" marL="0">
              <a:buNone/>
            </a:pPr>
            <a:r>
              <a:rPr lang="en-US" sz="1100" dirty="0">
                <a:solidFill>
                  <a:schemeClr val="tx1"/>
                </a:solidFill>
              </a:rPr>
              <a:t>Done</a:t>
            </a:r>
            <a:endParaRPr lang="en-US" sz="1100" dirty="0"/>
          </a:p>
        </p:txBody>
      </p:sp>
      <p:sp>
        <p:nvSpPr>
          <p:cNvPr id="8" name="Next key"/>
          <p:cNvSpPr/>
          <p:nvPr/>
        </p:nvSpPr>
        <p:spPr>
          <a:xfrm>
            <a:off x="8001000" y="3520440"/>
            <a:ext cx="201168" cy="182880"/>
          </a:xfrm>
          <a:prstGeom prst="roundRect">
            <a:avLst>
              <a:gd name="adj" fmla="val 25000"/>
            </a:avLst>
          </a:prstGeom>
          <a:solidFill>
            <a:schemeClr val="bg1"/>
          </a:solidFill>
          <a:ln w="15875">
            <a:solidFill>
              <a:schemeClr val="accent2"/>
            </a:solidFill>
            <a:prstDash val="solid"/>
          </a:ln>
        </p:spPr>
      </p:sp>
      <p:sp>
        <p:nvSpPr>
          <p:cNvPr id="9" name="Next key text"/>
          <p:cNvSpPr txBox="1"/>
          <p:nvPr/>
        </p:nvSpPr>
        <p:spPr>
          <a:xfrm>
            <a:off x="8257032" y="3493008"/>
            <a:ext cx="502920" cy="237744"/>
          </a:xfrm>
          <a:prstGeom prst="rect">
            <a:avLst/>
          </a:prstGeom>
          <a:noFill/>
          <a:ln/>
        </p:spPr>
        <p:txBody>
          <a:bodyPr wrap="square" lIns="0" tIns="0" rIns="0" bIns="0" rtlCol="0" anchor="ctr"/>
          <a:lstStyle/>
          <a:p>
            <a:pPr indent="0" marL="0">
              <a:buNone/>
            </a:pPr>
            <a:r>
              <a:rPr lang="en-US" sz="1100" dirty="0">
                <a:solidFill>
                  <a:schemeClr val="tx1"/>
                </a:solidFill>
              </a:rPr>
              <a:t>Next</a:t>
            </a:r>
            <a:endParaRPr lang="en-US" sz="1100" dirty="0"/>
          </a:p>
        </p:txBody>
      </p:sp>
      <p:sp>
        <p:nvSpPr>
          <p:cNvPr id="10" name="Step 1 chip"/>
          <p:cNvSpPr/>
          <p:nvPr/>
        </p:nvSpPr>
        <p:spPr>
          <a:xfrm>
            <a:off x="457200" y="3794760"/>
            <a:ext cx="1284732" cy="347472"/>
          </a:xfrm>
          <a:prstGeom prst="roundRect">
            <a:avLst>
              <a:gd name="adj" fmla="val 21053"/>
            </a:avLst>
          </a:prstGeom>
          <a:solidFill>
            <a:schemeClr val="accent1"/>
          </a:solidFill>
          <a:ln w="15875">
            <a:solidFill>
              <a:schemeClr val="accent1"/>
            </a:solidFill>
            <a:prstDash val="solid"/>
          </a:ln>
        </p:spPr>
      </p:sp>
      <p:sp>
        <p:nvSpPr>
          <p:cNvPr id="11" name="Step 1 text"/>
          <p:cNvSpPr txBox="1"/>
          <p:nvPr/>
        </p:nvSpPr>
        <p:spPr>
          <a:xfrm>
            <a:off x="530352" y="3794760"/>
            <a:ext cx="1175004" cy="347472"/>
          </a:xfrm>
          <a:prstGeom prst="rect">
            <a:avLst/>
          </a:prstGeom>
          <a:noFill/>
          <a:ln/>
        </p:spPr>
        <p:txBody>
          <a:bodyPr wrap="square" lIns="0" tIns="0" rIns="0" bIns="0" rtlCol="0" anchor="ctr"/>
          <a:lstStyle/>
          <a:p>
            <a:pPr indent="0" marL="0">
              <a:buNone/>
            </a:pPr>
            <a:r>
              <a:rPr lang="en-US" sz="1050" b="1" dirty="0">
                <a:solidFill>
                  <a:schemeClr val="accent3"/>
                </a:solidFill>
              </a:rPr>
              <a:t>1  </a:t>
            </a:r>
            <a:pPr indent="0" marL="0">
              <a:buNone/>
            </a:pPr>
            <a:r>
              <a:rPr lang="en-US" sz="1050" dirty="0">
                <a:solidFill>
                  <a:schemeClr val="bg1"/>
                </a:solidFill>
              </a:rPr>
              <a:t>Project setup</a:t>
            </a:r>
            <a:endParaRPr lang="en-US" sz="1050" dirty="0"/>
          </a:p>
        </p:txBody>
      </p:sp>
      <p:sp>
        <p:nvSpPr>
          <p:cNvPr id="12" name="Step 2 chip"/>
          <p:cNvSpPr/>
          <p:nvPr/>
        </p:nvSpPr>
        <p:spPr>
          <a:xfrm>
            <a:off x="1846174" y="3794760"/>
            <a:ext cx="1284732" cy="347472"/>
          </a:xfrm>
          <a:prstGeom prst="roundRect">
            <a:avLst>
              <a:gd name="adj" fmla="val 21053"/>
            </a:avLst>
          </a:prstGeom>
          <a:solidFill>
            <a:schemeClr val="accent1"/>
          </a:solidFill>
          <a:ln w="15875">
            <a:solidFill>
              <a:schemeClr val="accent1"/>
            </a:solidFill>
            <a:prstDash val="solid"/>
          </a:ln>
        </p:spPr>
      </p:sp>
      <p:sp>
        <p:nvSpPr>
          <p:cNvPr id="13" name="Step 2 text"/>
          <p:cNvSpPr txBox="1"/>
          <p:nvPr/>
        </p:nvSpPr>
        <p:spPr>
          <a:xfrm>
            <a:off x="1919326" y="3794760"/>
            <a:ext cx="1175004" cy="347472"/>
          </a:xfrm>
          <a:prstGeom prst="rect">
            <a:avLst/>
          </a:prstGeom>
          <a:noFill/>
          <a:ln/>
        </p:spPr>
        <p:txBody>
          <a:bodyPr wrap="square" lIns="0" tIns="0" rIns="0" bIns="0" rtlCol="0" anchor="ctr"/>
          <a:lstStyle/>
          <a:p>
            <a:pPr indent="0" marL="0">
              <a:buNone/>
            </a:pPr>
            <a:r>
              <a:rPr lang="en-US" sz="1050" b="1" dirty="0">
                <a:solidFill>
                  <a:schemeClr val="accent3"/>
                </a:solidFill>
              </a:rPr>
              <a:t>2  </a:t>
            </a:r>
            <a:pPr indent="0" marL="0">
              <a:buNone/>
            </a:pPr>
            <a:r>
              <a:rPr lang="en-US" sz="1050" dirty="0">
                <a:solidFill>
                  <a:schemeClr val="bg1"/>
                </a:solidFill>
              </a:rPr>
              <a:t>Database</a:t>
            </a:r>
            <a:endParaRPr lang="en-US" sz="1050" dirty="0"/>
          </a:p>
        </p:txBody>
      </p:sp>
      <p:sp>
        <p:nvSpPr>
          <p:cNvPr id="14" name="Step 3 chip"/>
          <p:cNvSpPr/>
          <p:nvPr/>
        </p:nvSpPr>
        <p:spPr>
          <a:xfrm>
            <a:off x="3235147" y="3794760"/>
            <a:ext cx="1284732" cy="347472"/>
          </a:xfrm>
          <a:prstGeom prst="roundRect">
            <a:avLst>
              <a:gd name="adj" fmla="val 21053"/>
            </a:avLst>
          </a:prstGeom>
          <a:solidFill>
            <a:schemeClr val="accent1"/>
          </a:solidFill>
          <a:ln w="15875">
            <a:solidFill>
              <a:schemeClr val="accent1"/>
            </a:solidFill>
            <a:prstDash val="solid"/>
          </a:ln>
        </p:spPr>
      </p:sp>
      <p:sp>
        <p:nvSpPr>
          <p:cNvPr id="15" name="Step 3 text"/>
          <p:cNvSpPr txBox="1"/>
          <p:nvPr/>
        </p:nvSpPr>
        <p:spPr>
          <a:xfrm>
            <a:off x="3308299" y="3794760"/>
            <a:ext cx="1175004" cy="347472"/>
          </a:xfrm>
          <a:prstGeom prst="rect">
            <a:avLst/>
          </a:prstGeom>
          <a:noFill/>
          <a:ln/>
        </p:spPr>
        <p:txBody>
          <a:bodyPr wrap="square" lIns="0" tIns="0" rIns="0" bIns="0" rtlCol="0" anchor="ctr"/>
          <a:lstStyle/>
          <a:p>
            <a:pPr indent="0" marL="0">
              <a:buNone/>
            </a:pPr>
            <a:r>
              <a:rPr lang="en-US" sz="1050" b="1" dirty="0">
                <a:solidFill>
                  <a:schemeClr val="accent3"/>
                </a:solidFill>
              </a:rPr>
              <a:t>3  </a:t>
            </a:r>
            <a:pPr indent="0" marL="0">
              <a:buNone/>
            </a:pPr>
            <a:r>
              <a:rPr lang="en-US" sz="1050" dirty="0">
                <a:solidFill>
                  <a:schemeClr val="bg1"/>
                </a:solidFill>
              </a:rPr>
              <a:t>Sign-in and roles</a:t>
            </a:r>
            <a:endParaRPr lang="en-US" sz="1050" dirty="0"/>
          </a:p>
        </p:txBody>
      </p:sp>
      <p:sp>
        <p:nvSpPr>
          <p:cNvPr id="16" name="Step 4 chip"/>
          <p:cNvSpPr/>
          <p:nvPr/>
        </p:nvSpPr>
        <p:spPr>
          <a:xfrm>
            <a:off x="4624121" y="3794760"/>
            <a:ext cx="1284732" cy="347472"/>
          </a:xfrm>
          <a:prstGeom prst="roundRect">
            <a:avLst>
              <a:gd name="adj" fmla="val 21053"/>
            </a:avLst>
          </a:prstGeom>
          <a:solidFill>
            <a:schemeClr val="accent1"/>
          </a:solidFill>
          <a:ln w="15875">
            <a:solidFill>
              <a:schemeClr val="accent1"/>
            </a:solidFill>
            <a:prstDash val="solid"/>
          </a:ln>
        </p:spPr>
      </p:sp>
      <p:sp>
        <p:nvSpPr>
          <p:cNvPr id="17" name="Step 4 text"/>
          <p:cNvSpPr txBox="1"/>
          <p:nvPr/>
        </p:nvSpPr>
        <p:spPr>
          <a:xfrm>
            <a:off x="4697273" y="3794760"/>
            <a:ext cx="1175004" cy="347472"/>
          </a:xfrm>
          <a:prstGeom prst="rect">
            <a:avLst/>
          </a:prstGeom>
          <a:noFill/>
          <a:ln/>
        </p:spPr>
        <p:txBody>
          <a:bodyPr wrap="square" lIns="0" tIns="0" rIns="0" bIns="0" rtlCol="0" anchor="ctr"/>
          <a:lstStyle/>
          <a:p>
            <a:pPr indent="0" marL="0">
              <a:buNone/>
            </a:pPr>
            <a:r>
              <a:rPr lang="en-US" sz="1050" b="1" dirty="0">
                <a:solidFill>
                  <a:schemeClr val="accent3"/>
                </a:solidFill>
              </a:rPr>
              <a:t>4  </a:t>
            </a:r>
            <a:pPr indent="0" marL="0">
              <a:buNone/>
            </a:pPr>
            <a:r>
              <a:rPr lang="en-US" sz="1050" dirty="0">
                <a:solidFill>
                  <a:schemeClr val="bg1"/>
                </a:solidFill>
              </a:rPr>
              <a:t>Catalogue</a:t>
            </a:r>
            <a:endParaRPr lang="en-US" sz="1050" dirty="0"/>
          </a:p>
        </p:txBody>
      </p:sp>
      <p:sp>
        <p:nvSpPr>
          <p:cNvPr id="18" name="Step 5 chip"/>
          <p:cNvSpPr/>
          <p:nvPr/>
        </p:nvSpPr>
        <p:spPr>
          <a:xfrm>
            <a:off x="6013094" y="3794760"/>
            <a:ext cx="1284732" cy="347472"/>
          </a:xfrm>
          <a:prstGeom prst="roundRect">
            <a:avLst>
              <a:gd name="adj" fmla="val 21053"/>
            </a:avLst>
          </a:prstGeom>
          <a:solidFill>
            <a:schemeClr val="accent1"/>
          </a:solidFill>
          <a:ln w="15875">
            <a:solidFill>
              <a:schemeClr val="accent1"/>
            </a:solidFill>
            <a:prstDash val="solid"/>
          </a:ln>
        </p:spPr>
      </p:sp>
      <p:sp>
        <p:nvSpPr>
          <p:cNvPr id="19" name="Step 5 text"/>
          <p:cNvSpPr txBox="1"/>
          <p:nvPr/>
        </p:nvSpPr>
        <p:spPr>
          <a:xfrm>
            <a:off x="6086246" y="3794760"/>
            <a:ext cx="1175004" cy="347472"/>
          </a:xfrm>
          <a:prstGeom prst="rect">
            <a:avLst/>
          </a:prstGeom>
          <a:noFill/>
          <a:ln/>
        </p:spPr>
        <p:txBody>
          <a:bodyPr wrap="square" lIns="0" tIns="0" rIns="0" bIns="0" rtlCol="0" anchor="ctr"/>
          <a:lstStyle/>
          <a:p>
            <a:pPr indent="0" marL="0">
              <a:buNone/>
            </a:pPr>
            <a:r>
              <a:rPr lang="en-US" sz="1050" b="1" dirty="0">
                <a:solidFill>
                  <a:schemeClr val="accent3"/>
                </a:solidFill>
              </a:rPr>
              <a:t>5  </a:t>
            </a:r>
            <a:pPr indent="0" marL="0">
              <a:buNone/>
            </a:pPr>
            <a:r>
              <a:rPr lang="en-US" sz="1050" dirty="0">
                <a:solidFill>
                  <a:schemeClr val="bg1"/>
                </a:solidFill>
              </a:rPr>
              <a:t>Stock ledger</a:t>
            </a:r>
            <a:endParaRPr lang="en-US" sz="1050" dirty="0"/>
          </a:p>
        </p:txBody>
      </p:sp>
      <p:sp>
        <p:nvSpPr>
          <p:cNvPr id="20" name="Step 6 chip"/>
          <p:cNvSpPr/>
          <p:nvPr/>
        </p:nvSpPr>
        <p:spPr>
          <a:xfrm>
            <a:off x="7402068" y="3794760"/>
            <a:ext cx="1284732" cy="347472"/>
          </a:xfrm>
          <a:prstGeom prst="roundRect">
            <a:avLst>
              <a:gd name="adj" fmla="val 21053"/>
            </a:avLst>
          </a:prstGeom>
          <a:solidFill>
            <a:schemeClr val="accent1"/>
          </a:solidFill>
          <a:ln w="15875">
            <a:solidFill>
              <a:schemeClr val="accent1"/>
            </a:solidFill>
            <a:prstDash val="solid"/>
          </a:ln>
        </p:spPr>
      </p:sp>
      <p:sp>
        <p:nvSpPr>
          <p:cNvPr id="21" name="Step 6 text"/>
          <p:cNvSpPr txBox="1"/>
          <p:nvPr/>
        </p:nvSpPr>
        <p:spPr>
          <a:xfrm>
            <a:off x="7475220" y="3794760"/>
            <a:ext cx="1175004" cy="347472"/>
          </a:xfrm>
          <a:prstGeom prst="rect">
            <a:avLst/>
          </a:prstGeom>
          <a:noFill/>
          <a:ln/>
        </p:spPr>
        <p:txBody>
          <a:bodyPr wrap="square" lIns="0" tIns="0" rIns="0" bIns="0" rtlCol="0" anchor="ctr"/>
          <a:lstStyle/>
          <a:p>
            <a:pPr indent="0" marL="0">
              <a:buNone/>
            </a:pPr>
            <a:r>
              <a:rPr lang="en-US" sz="1050" b="1" dirty="0">
                <a:solidFill>
                  <a:schemeClr val="accent3"/>
                </a:solidFill>
              </a:rPr>
              <a:t>6  </a:t>
            </a:r>
            <a:pPr indent="0" marL="0">
              <a:buNone/>
            </a:pPr>
            <a:r>
              <a:rPr lang="en-US" sz="1050" dirty="0">
                <a:solidFill>
                  <a:schemeClr val="bg1"/>
                </a:solidFill>
              </a:rPr>
              <a:t>Purchase orders</a:t>
            </a:r>
            <a:endParaRPr lang="en-US" sz="1050" dirty="0"/>
          </a:p>
        </p:txBody>
      </p:sp>
      <p:sp>
        <p:nvSpPr>
          <p:cNvPr id="22" name="Step 7 chip"/>
          <p:cNvSpPr/>
          <p:nvPr/>
        </p:nvSpPr>
        <p:spPr>
          <a:xfrm>
            <a:off x="457200" y="4224528"/>
            <a:ext cx="1284732" cy="347472"/>
          </a:xfrm>
          <a:prstGeom prst="roundRect">
            <a:avLst>
              <a:gd name="adj" fmla="val 21053"/>
            </a:avLst>
          </a:prstGeom>
          <a:solidFill>
            <a:schemeClr val="accent1"/>
          </a:solidFill>
          <a:ln w="15875">
            <a:solidFill>
              <a:schemeClr val="accent1"/>
            </a:solidFill>
            <a:prstDash val="solid"/>
          </a:ln>
        </p:spPr>
      </p:sp>
      <p:sp>
        <p:nvSpPr>
          <p:cNvPr id="23" name="Step 7 text"/>
          <p:cNvSpPr txBox="1"/>
          <p:nvPr/>
        </p:nvSpPr>
        <p:spPr>
          <a:xfrm>
            <a:off x="530352" y="4224528"/>
            <a:ext cx="1175004" cy="347472"/>
          </a:xfrm>
          <a:prstGeom prst="rect">
            <a:avLst/>
          </a:prstGeom>
          <a:noFill/>
          <a:ln/>
        </p:spPr>
        <p:txBody>
          <a:bodyPr wrap="square" lIns="0" tIns="0" rIns="0" bIns="0" rtlCol="0" anchor="ctr"/>
          <a:lstStyle/>
          <a:p>
            <a:pPr indent="0" marL="0">
              <a:buNone/>
            </a:pPr>
            <a:r>
              <a:rPr lang="en-US" sz="1050" b="1" dirty="0">
                <a:solidFill>
                  <a:schemeClr val="accent3"/>
                </a:solidFill>
              </a:rPr>
              <a:t>7  </a:t>
            </a:r>
            <a:pPr indent="0" marL="0">
              <a:buNone/>
            </a:pPr>
            <a:r>
              <a:rPr lang="en-US" sz="1050" dirty="0">
                <a:solidFill>
                  <a:schemeClr val="bg1"/>
                </a:solidFill>
              </a:rPr>
              <a:t>Billing, GST invoice</a:t>
            </a:r>
            <a:endParaRPr lang="en-US" sz="1050" dirty="0"/>
          </a:p>
        </p:txBody>
      </p:sp>
      <p:sp>
        <p:nvSpPr>
          <p:cNvPr id="24" name="Step 8 chip"/>
          <p:cNvSpPr/>
          <p:nvPr/>
        </p:nvSpPr>
        <p:spPr>
          <a:xfrm>
            <a:off x="1846174" y="4224528"/>
            <a:ext cx="1284732" cy="347472"/>
          </a:xfrm>
          <a:prstGeom prst="roundRect">
            <a:avLst>
              <a:gd name="adj" fmla="val 21053"/>
            </a:avLst>
          </a:prstGeom>
          <a:solidFill>
            <a:schemeClr val="accent1"/>
          </a:solidFill>
          <a:ln w="15875">
            <a:solidFill>
              <a:schemeClr val="accent1"/>
            </a:solidFill>
            <a:prstDash val="solid"/>
          </a:ln>
        </p:spPr>
      </p:sp>
      <p:sp>
        <p:nvSpPr>
          <p:cNvPr id="25" name="Step 8 text"/>
          <p:cNvSpPr txBox="1"/>
          <p:nvPr/>
        </p:nvSpPr>
        <p:spPr>
          <a:xfrm>
            <a:off x="1919326" y="4224528"/>
            <a:ext cx="1175004" cy="347472"/>
          </a:xfrm>
          <a:prstGeom prst="rect">
            <a:avLst/>
          </a:prstGeom>
          <a:noFill/>
          <a:ln/>
        </p:spPr>
        <p:txBody>
          <a:bodyPr wrap="square" lIns="0" tIns="0" rIns="0" bIns="0" rtlCol="0" anchor="ctr"/>
          <a:lstStyle/>
          <a:p>
            <a:pPr indent="0" marL="0">
              <a:buNone/>
            </a:pPr>
            <a:r>
              <a:rPr lang="en-US" sz="1050" b="1" dirty="0">
                <a:solidFill>
                  <a:schemeClr val="accent3"/>
                </a:solidFill>
              </a:rPr>
              <a:t>8  </a:t>
            </a:r>
            <a:pPr indent="0" marL="0">
              <a:buNone/>
            </a:pPr>
            <a:r>
              <a:rPr lang="en-US" sz="1050" dirty="0">
                <a:solidFill>
                  <a:schemeClr val="bg1"/>
                </a:solidFill>
              </a:rPr>
              <a:t>Returns, customers</a:t>
            </a:r>
            <a:endParaRPr lang="en-US" sz="1050" dirty="0"/>
          </a:p>
        </p:txBody>
      </p:sp>
      <p:sp>
        <p:nvSpPr>
          <p:cNvPr id="26" name="Step 9 chip"/>
          <p:cNvSpPr/>
          <p:nvPr/>
        </p:nvSpPr>
        <p:spPr>
          <a:xfrm>
            <a:off x="3235147" y="4224528"/>
            <a:ext cx="1284732" cy="347472"/>
          </a:xfrm>
          <a:prstGeom prst="roundRect">
            <a:avLst>
              <a:gd name="adj" fmla="val 21053"/>
            </a:avLst>
          </a:prstGeom>
          <a:solidFill>
            <a:schemeClr val="accent1"/>
          </a:solidFill>
          <a:ln w="15875">
            <a:solidFill>
              <a:schemeClr val="accent1"/>
            </a:solidFill>
            <a:prstDash val="solid"/>
          </a:ln>
        </p:spPr>
      </p:sp>
      <p:sp>
        <p:nvSpPr>
          <p:cNvPr id="27" name="Step 9 text"/>
          <p:cNvSpPr txBox="1"/>
          <p:nvPr/>
        </p:nvSpPr>
        <p:spPr>
          <a:xfrm>
            <a:off x="3308299" y="4224528"/>
            <a:ext cx="1175004" cy="347472"/>
          </a:xfrm>
          <a:prstGeom prst="rect">
            <a:avLst/>
          </a:prstGeom>
          <a:noFill/>
          <a:ln/>
        </p:spPr>
        <p:txBody>
          <a:bodyPr wrap="square" lIns="0" tIns="0" rIns="0" bIns="0" rtlCol="0" anchor="ctr"/>
          <a:lstStyle/>
          <a:p>
            <a:pPr indent="0" marL="0">
              <a:buNone/>
            </a:pPr>
            <a:r>
              <a:rPr lang="en-US" sz="1050" b="1" dirty="0">
                <a:solidFill>
                  <a:schemeClr val="accent3"/>
                </a:solidFill>
              </a:rPr>
              <a:t>9  </a:t>
            </a:r>
            <a:pPr indent="0" marL="0">
              <a:buNone/>
            </a:pPr>
            <a:r>
              <a:rPr lang="en-US" sz="1050" dirty="0">
                <a:solidFill>
                  <a:schemeClr val="bg1"/>
                </a:solidFill>
              </a:rPr>
              <a:t>Dashboard, reports</a:t>
            </a:r>
            <a:endParaRPr lang="en-US" sz="1050" dirty="0"/>
          </a:p>
        </p:txBody>
      </p:sp>
      <p:sp>
        <p:nvSpPr>
          <p:cNvPr id="28" name="Step 9.5 chip"/>
          <p:cNvSpPr/>
          <p:nvPr/>
        </p:nvSpPr>
        <p:spPr>
          <a:xfrm>
            <a:off x="4624121" y="4224528"/>
            <a:ext cx="1284732" cy="347472"/>
          </a:xfrm>
          <a:prstGeom prst="roundRect">
            <a:avLst>
              <a:gd name="adj" fmla="val 21053"/>
            </a:avLst>
          </a:prstGeom>
          <a:solidFill>
            <a:schemeClr val="bg1"/>
          </a:solidFill>
          <a:ln w="15875">
            <a:solidFill>
              <a:schemeClr val="accent2"/>
            </a:solidFill>
            <a:prstDash val="solid"/>
          </a:ln>
        </p:spPr>
      </p:sp>
      <p:sp>
        <p:nvSpPr>
          <p:cNvPr id="29" name="Step 9.5 text"/>
          <p:cNvSpPr txBox="1"/>
          <p:nvPr/>
        </p:nvSpPr>
        <p:spPr>
          <a:xfrm>
            <a:off x="4697273" y="4224528"/>
            <a:ext cx="1175004" cy="347472"/>
          </a:xfrm>
          <a:prstGeom prst="rect">
            <a:avLst/>
          </a:prstGeom>
          <a:noFill/>
          <a:ln/>
        </p:spPr>
        <p:txBody>
          <a:bodyPr wrap="square" lIns="0" tIns="0" rIns="0" bIns="0" rtlCol="0" anchor="ctr"/>
          <a:lstStyle/>
          <a:p>
            <a:pPr indent="0" marL="0">
              <a:buNone/>
            </a:pPr>
            <a:r>
              <a:rPr lang="en-US" sz="1050" b="1" dirty="0">
                <a:solidFill>
                  <a:srgbClr val="B57600"/>
                </a:solidFill>
              </a:rPr>
              <a:t>9.5  </a:t>
            </a:r>
            <a:pPr indent="0" marL="0">
              <a:buNone/>
            </a:pPr>
            <a:r>
              <a:rPr lang="en-US" sz="1050" dirty="0">
                <a:solidFill>
                  <a:schemeClr val="tx1"/>
                </a:solidFill>
              </a:rPr>
              <a:t>AI forecasting</a:t>
            </a:r>
            <a:endParaRPr lang="en-US" sz="1050" dirty="0"/>
          </a:p>
        </p:txBody>
      </p:sp>
      <p:sp>
        <p:nvSpPr>
          <p:cNvPr id="30" name="Step 9.6 chip"/>
          <p:cNvSpPr/>
          <p:nvPr/>
        </p:nvSpPr>
        <p:spPr>
          <a:xfrm>
            <a:off x="6013094" y="4224528"/>
            <a:ext cx="1284732" cy="347472"/>
          </a:xfrm>
          <a:prstGeom prst="roundRect">
            <a:avLst>
              <a:gd name="adj" fmla="val 21053"/>
            </a:avLst>
          </a:prstGeom>
          <a:solidFill>
            <a:schemeClr val="bg1"/>
          </a:solidFill>
          <a:ln w="15875">
            <a:solidFill>
              <a:schemeClr val="accent2"/>
            </a:solidFill>
            <a:prstDash val="solid"/>
          </a:ln>
        </p:spPr>
      </p:sp>
      <p:sp>
        <p:nvSpPr>
          <p:cNvPr id="31" name="Step 9.6 text"/>
          <p:cNvSpPr txBox="1"/>
          <p:nvPr/>
        </p:nvSpPr>
        <p:spPr>
          <a:xfrm>
            <a:off x="6086246" y="4224528"/>
            <a:ext cx="1175004" cy="347472"/>
          </a:xfrm>
          <a:prstGeom prst="rect">
            <a:avLst/>
          </a:prstGeom>
          <a:noFill/>
          <a:ln/>
        </p:spPr>
        <p:txBody>
          <a:bodyPr wrap="square" lIns="0" tIns="0" rIns="0" bIns="0" rtlCol="0" anchor="ctr"/>
          <a:lstStyle/>
          <a:p>
            <a:pPr indent="0" marL="0">
              <a:buNone/>
            </a:pPr>
            <a:r>
              <a:rPr lang="en-US" sz="1050" b="1" dirty="0">
                <a:solidFill>
                  <a:srgbClr val="B57600"/>
                </a:solidFill>
              </a:rPr>
              <a:t>9.6  </a:t>
            </a:r>
            <a:pPr indent="0" marL="0">
              <a:buNone/>
            </a:pPr>
            <a:r>
              <a:rPr lang="en-US" sz="1050" dirty="0">
                <a:solidFill>
                  <a:schemeClr val="tx1"/>
                </a:solidFill>
              </a:rPr>
              <a:t>AI assistant</a:t>
            </a:r>
            <a:endParaRPr lang="en-US" sz="1050" dirty="0"/>
          </a:p>
        </p:txBody>
      </p:sp>
      <p:sp>
        <p:nvSpPr>
          <p:cNvPr id="32" name="Step 10 chip"/>
          <p:cNvSpPr/>
          <p:nvPr/>
        </p:nvSpPr>
        <p:spPr>
          <a:xfrm>
            <a:off x="7402068" y="4224528"/>
            <a:ext cx="1284732" cy="347472"/>
          </a:xfrm>
          <a:prstGeom prst="roundRect">
            <a:avLst>
              <a:gd name="adj" fmla="val 21053"/>
            </a:avLst>
          </a:prstGeom>
          <a:solidFill>
            <a:schemeClr val="bg1"/>
          </a:solidFill>
          <a:ln w="15875">
            <a:solidFill>
              <a:schemeClr val="accent2"/>
            </a:solidFill>
            <a:prstDash val="solid"/>
          </a:ln>
        </p:spPr>
      </p:sp>
      <p:sp>
        <p:nvSpPr>
          <p:cNvPr id="33" name="Step 10 text"/>
          <p:cNvSpPr txBox="1"/>
          <p:nvPr/>
        </p:nvSpPr>
        <p:spPr>
          <a:xfrm>
            <a:off x="7475220" y="4224528"/>
            <a:ext cx="1175004" cy="347472"/>
          </a:xfrm>
          <a:prstGeom prst="rect">
            <a:avLst/>
          </a:prstGeom>
          <a:noFill/>
          <a:ln/>
        </p:spPr>
        <p:txBody>
          <a:bodyPr wrap="square" lIns="0" tIns="0" rIns="0" bIns="0" rtlCol="0" anchor="ctr"/>
          <a:lstStyle/>
          <a:p>
            <a:pPr indent="0" marL="0">
              <a:buNone/>
            </a:pPr>
            <a:r>
              <a:rPr lang="en-US" sz="1050" b="1" dirty="0">
                <a:solidFill>
                  <a:srgbClr val="B57600"/>
                </a:solidFill>
              </a:rPr>
              <a:t>10  </a:t>
            </a:r>
            <a:pPr indent="0" marL="0">
              <a:buNone/>
            </a:pPr>
            <a:r>
              <a:rPr lang="en-US" sz="1050" dirty="0">
                <a:solidFill>
                  <a:schemeClr val="tx1"/>
                </a:solidFill>
              </a:rPr>
              <a:t>Test and deploy</a:t>
            </a:r>
            <a:endParaRPr lang="en-US" sz="105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Eyebrow"/>
          <p:cNvSpPr txBox="1"/>
          <p:nvPr/>
        </p:nvSpPr>
        <p:spPr>
          <a:xfrm>
            <a:off x="457200" y="274320"/>
            <a:ext cx="5486400" cy="256032"/>
          </a:xfrm>
          <a:prstGeom prst="rect">
            <a:avLst/>
          </a:prstGeom>
          <a:noFill/>
          <a:ln/>
        </p:spPr>
        <p:txBody>
          <a:bodyPr wrap="square" lIns="0" tIns="0" rIns="0" bIns="0" rtlCol="0" anchor="ctr"/>
          <a:lstStyle/>
          <a:p>
            <a:pPr indent="0" marL="0">
              <a:buNone/>
            </a:pPr>
            <a:r>
              <a:rPr lang="en-US" sz="1100" b="1" spc="200" kern="0" dirty="0">
                <a:solidFill>
                  <a:schemeClr val="accent1"/>
                </a:solidFill>
              </a:rPr>
              <a:t>11 · AI RESTOCKING</a:t>
            </a:r>
            <a:endParaRPr lang="en-US" sz="1100" dirty="0"/>
          </a:p>
        </p:txBody>
      </p:sp>
      <p:sp>
        <p:nvSpPr>
          <p:cNvPr id="3" name="Text 0"/>
          <p:cNvSpPr/>
          <p:nvPr>
            <p:ph idx="100" type="title" hasCustomPrompt="1"/>
          </p:nvPr>
        </p:nvSpPr>
        <p:spPr>
          <a:xfrm>
            <a:off x="457200" y="502920"/>
            <a:ext cx="6400800" cy="640080"/>
          </a:xfrm>
          <a:prstGeom prst="rect">
            <a:avLst/>
          </a:prstGeom>
          <a:noFill/>
          <a:ln/>
        </p:spPr>
        <p:txBody>
          <a:bodyPr wrap="square" lIns="0" tIns="0" rIns="0" bIns="0" rtlCol="0" anchor="ctr"/>
          <a:lstStyle/>
          <a:p>
            <a:pPr algn="l" indent="0" marL="0">
              <a:buNone/>
            </a:pPr>
            <a:r>
              <a:rPr lang="en-US" sz="3400" b="1" dirty="0">
                <a:solidFill>
                  <a:schemeClr val="tx2"/>
                </a:solidFill>
                <a:latin typeface="Cambria" pitchFamily="34" charset="0"/>
                <a:ea typeface="Cambria" pitchFamily="34" charset="-122"/>
                <a:cs typeface="Cambria" pitchFamily="34" charset="-120"/>
              </a:rPr>
              <a:t>AI Restocking Method</a:t>
            </a:r>
            <a:endParaRPr lang="en-US" sz="3400" dirty="0"/>
          </a:p>
        </p:txBody>
      </p:sp>
      <p:sp>
        <p:nvSpPr>
          <p:cNvPr id="4" name="Stage A card"/>
          <p:cNvSpPr/>
          <p:nvPr/>
        </p:nvSpPr>
        <p:spPr>
          <a:xfrm>
            <a:off x="457200" y="1280160"/>
            <a:ext cx="2560320" cy="3337560"/>
          </a:xfrm>
          <a:prstGeom prst="roundRect">
            <a:avLst>
              <a:gd name="adj" fmla="val 4286"/>
            </a:avLst>
          </a:prstGeom>
          <a:solidFill>
            <a:schemeClr val="bg2"/>
          </a:solidFill>
          <a:ln/>
        </p:spPr>
      </p:sp>
      <p:sp>
        <p:nvSpPr>
          <p:cNvPr id="5" name="LuTrendingUp tile"/>
          <p:cNvSpPr/>
          <p:nvPr/>
        </p:nvSpPr>
        <p:spPr>
          <a:xfrm>
            <a:off x="658368" y="1463040"/>
            <a:ext cx="457200" cy="457200"/>
          </a:xfrm>
          <a:prstGeom prst="roundRect">
            <a:avLst>
              <a:gd name="adj" fmla="val 22000"/>
            </a:avLst>
          </a:prstGeom>
          <a:solidFill>
            <a:schemeClr val="accent1"/>
          </a:solidFill>
          <a:ln/>
        </p:spPr>
      </p:sp>
      <p:pic>
        <p:nvPicPr>
          <p:cNvPr id="6" name="LuTrendingUp icon" descr="preencoded.png">    </p:cNvPr>
          <p:cNvPicPr>
            <a:picLocks noChangeAspect="1"/>
          </p:cNvPicPr>
          <p:nvPr/>
        </p:nvPicPr>
        <p:blipFill>
          <a:blip r:embed="rId1"/>
          <a:stretch>
            <a:fillRect/>
          </a:stretch>
        </p:blipFill>
        <p:spPr>
          <a:xfrm>
            <a:off x="768096" y="1572768"/>
            <a:ext cx="237744" cy="237744"/>
          </a:xfrm>
          <a:prstGeom prst="rect">
            <a:avLst/>
          </a:prstGeom>
        </p:spPr>
      </p:pic>
      <p:sp>
        <p:nvSpPr>
          <p:cNvPr id="7" name="Stage A title"/>
          <p:cNvSpPr txBox="1"/>
          <p:nvPr/>
        </p:nvSpPr>
        <p:spPr>
          <a:xfrm>
            <a:off x="1234440" y="1426464"/>
            <a:ext cx="1691640" cy="566928"/>
          </a:xfrm>
          <a:prstGeom prst="rect">
            <a:avLst/>
          </a:prstGeom>
          <a:noFill/>
          <a:ln/>
        </p:spPr>
        <p:txBody>
          <a:bodyPr wrap="square" lIns="0" tIns="0" rIns="0" bIns="0" rtlCol="0" anchor="ctr"/>
          <a:lstStyle/>
          <a:p>
            <a:pPr indent="0" marL="0">
              <a:buNone/>
            </a:pPr>
            <a:r>
              <a:rPr lang="en-US" sz="1000" b="1" spc="100" kern="0" dirty="0">
                <a:solidFill>
                  <a:schemeClr val="accent1"/>
                </a:solidFill>
              </a:rPr>
              <a:t>STAGE A</a:t>
            </a:r>
            <a:endParaRPr lang="en-US" sz="1000" dirty="0"/>
          </a:p>
          <a:p>
            <a:pPr indent="0" marL="0">
              <a:buNone/>
            </a:pPr>
            <a:r>
              <a:rPr lang="en-US" sz="1500" b="1" dirty="0">
                <a:solidFill>
                  <a:schemeClr val="tx2"/>
                </a:solidFill>
              </a:rPr>
              <a:t>Forecast demand</a:t>
            </a:r>
            <a:endParaRPr lang="en-US" sz="1000" dirty="0"/>
          </a:p>
        </p:txBody>
      </p:sp>
      <p:sp>
        <p:nvSpPr>
          <p:cNvPr id="8" name="Stage A points"/>
          <p:cNvSpPr txBox="1"/>
          <p:nvPr/>
        </p:nvSpPr>
        <p:spPr>
          <a:xfrm>
            <a:off x="658368" y="2148840"/>
            <a:ext cx="2194560" cy="1691640"/>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1"/>
                </a:solidFill>
              </a:rPr>
              <a:t>Daily sales of each product</a:t>
            </a:r>
            <a:endParaRPr lang="en-US" sz="1200" dirty="0"/>
          </a:p>
          <a:p>
            <a:pPr marL="342900" indent="-342900">
              <a:spcAft>
                <a:spcPts val="400"/>
              </a:spcAft>
              <a:buSzPct val="100000"/>
              <a:buChar char="•"/>
            </a:pPr>
            <a:r>
              <a:rPr lang="en-US" sz="1200" dirty="0">
                <a:solidFill>
                  <a:schemeClr val="tx1"/>
                </a:solidFill>
              </a:rPr>
              <a:t>Learns each product’s trend and weekly pattern</a:t>
            </a:r>
            <a:endParaRPr lang="en-US" sz="1200" dirty="0"/>
          </a:p>
          <a:p>
            <a:pPr marL="342900" indent="-342900">
              <a:spcAft>
                <a:spcPts val="400"/>
              </a:spcAft>
              <a:buSzPct val="100000"/>
              <a:buChar char="•"/>
            </a:pPr>
            <a:r>
              <a:rPr lang="en-US" sz="1200" dirty="0">
                <a:solidFill>
                  <a:schemeClr val="tx1"/>
                </a:solidFill>
              </a:rPr>
              <a:t>Plans for festivals like Diwali and Eid</a:t>
            </a:r>
            <a:endParaRPr lang="en-US" sz="1200" dirty="0"/>
          </a:p>
          <a:p>
            <a:pPr marL="342900" indent="-342900">
              <a:spcAft>
                <a:spcPts val="400"/>
              </a:spcAft>
              <a:buSzPct val="100000"/>
              <a:buChar char="•"/>
            </a:pPr>
            <a:r>
              <a:rPr lang="en-US" sz="1200" dirty="0">
                <a:solidFill>
                  <a:schemeClr val="tx1"/>
                </a:solidFill>
              </a:rPr>
              <a:t>Checks its accuracy against real sales</a:t>
            </a:r>
            <a:endParaRPr lang="en-US" sz="1200" dirty="0"/>
          </a:p>
        </p:txBody>
      </p:sp>
      <p:sp>
        <p:nvSpPr>
          <p:cNvPr id="9" name="Stage A formula box"/>
          <p:cNvSpPr/>
          <p:nvPr/>
        </p:nvSpPr>
        <p:spPr>
          <a:xfrm>
            <a:off x="594360" y="3931920"/>
            <a:ext cx="2286000" cy="548640"/>
          </a:xfrm>
          <a:prstGeom prst="roundRect">
            <a:avLst>
              <a:gd name="adj" fmla="val 13333"/>
            </a:avLst>
          </a:prstGeom>
          <a:solidFill>
            <a:schemeClr val="bg1"/>
          </a:solidFill>
          <a:ln/>
        </p:spPr>
      </p:sp>
      <p:sp>
        <p:nvSpPr>
          <p:cNvPr id="10" name="Stage A formula"/>
          <p:cNvSpPr txBox="1"/>
          <p:nvPr/>
        </p:nvSpPr>
        <p:spPr>
          <a:xfrm>
            <a:off x="658368" y="3931920"/>
            <a:ext cx="2157984" cy="548640"/>
          </a:xfrm>
          <a:prstGeom prst="rect">
            <a:avLst/>
          </a:prstGeom>
          <a:noFill/>
          <a:ln/>
        </p:spPr>
        <p:txBody>
          <a:bodyPr wrap="square" lIns="0" tIns="0" rIns="0" bIns="0" rtlCol="0" anchor="ctr"/>
          <a:lstStyle/>
          <a:p>
            <a:pPr algn="ctr" indent="0" marL="0">
              <a:buNone/>
            </a:pPr>
            <a:r>
              <a:rPr lang="en-US" sz="1200" i="1" dirty="0">
                <a:solidFill>
                  <a:schemeClr val="tx2"/>
                </a:solidFill>
                <a:latin typeface="Cambria" pitchFamily="34" charset="0"/>
                <a:ea typeface="Cambria" pitchFamily="34" charset="-122"/>
                <a:cs typeface="Cambria" pitchFamily="34" charset="-120"/>
              </a:rPr>
              <a:t>Predicts what each item will sell</a:t>
            </a:r>
            <a:endParaRPr lang="en-US" sz="1200" dirty="0"/>
          </a:p>
        </p:txBody>
      </p:sp>
      <p:sp>
        <p:nvSpPr>
          <p:cNvPr id="11" name="Arrow A backing"/>
          <p:cNvSpPr/>
          <p:nvPr/>
        </p:nvSpPr>
        <p:spPr>
          <a:xfrm>
            <a:off x="3035808" y="2724912"/>
            <a:ext cx="237744" cy="237744"/>
          </a:xfrm>
          <a:prstGeom prst="ellipse">
            <a:avLst/>
          </a:prstGeom>
          <a:solidFill>
            <a:schemeClr val="accent2"/>
          </a:solidFill>
          <a:ln/>
        </p:spPr>
      </p:sp>
      <p:pic>
        <p:nvPicPr>
          <p:cNvPr id="12" name="Arrow A" descr="preencoded.png">    </p:cNvPr>
          <p:cNvPicPr>
            <a:picLocks noChangeAspect="1"/>
          </p:cNvPicPr>
          <p:nvPr/>
        </p:nvPicPr>
        <p:blipFill>
          <a:blip r:embed="rId2"/>
          <a:stretch>
            <a:fillRect/>
          </a:stretch>
        </p:blipFill>
        <p:spPr>
          <a:xfrm>
            <a:off x="3076956" y="2766060"/>
            <a:ext cx="155448" cy="155448"/>
          </a:xfrm>
          <a:prstGeom prst="rect">
            <a:avLst/>
          </a:prstGeom>
        </p:spPr>
      </p:pic>
      <p:sp>
        <p:nvSpPr>
          <p:cNvPr id="13" name="Stage B card"/>
          <p:cNvSpPr/>
          <p:nvPr/>
        </p:nvSpPr>
        <p:spPr>
          <a:xfrm>
            <a:off x="3291840" y="1280160"/>
            <a:ext cx="2560320" cy="3337560"/>
          </a:xfrm>
          <a:prstGeom prst="roundRect">
            <a:avLst>
              <a:gd name="adj" fmla="val 4286"/>
            </a:avLst>
          </a:prstGeom>
          <a:solidFill>
            <a:schemeClr val="bg2"/>
          </a:solidFill>
          <a:ln/>
        </p:spPr>
      </p:sp>
      <p:sp>
        <p:nvSpPr>
          <p:cNvPr id="14" name="LuScale tile"/>
          <p:cNvSpPr/>
          <p:nvPr/>
        </p:nvSpPr>
        <p:spPr>
          <a:xfrm>
            <a:off x="3493008" y="1463040"/>
            <a:ext cx="457200" cy="457200"/>
          </a:xfrm>
          <a:prstGeom prst="roundRect">
            <a:avLst>
              <a:gd name="adj" fmla="val 22000"/>
            </a:avLst>
          </a:prstGeom>
          <a:solidFill>
            <a:schemeClr val="accent1"/>
          </a:solidFill>
          <a:ln/>
        </p:spPr>
      </p:sp>
      <p:pic>
        <p:nvPicPr>
          <p:cNvPr id="15" name="LuScale icon" descr="preencoded.png">    </p:cNvPr>
          <p:cNvPicPr>
            <a:picLocks noChangeAspect="1"/>
          </p:cNvPicPr>
          <p:nvPr/>
        </p:nvPicPr>
        <p:blipFill>
          <a:blip r:embed="rId3"/>
          <a:stretch>
            <a:fillRect/>
          </a:stretch>
        </p:blipFill>
        <p:spPr>
          <a:xfrm>
            <a:off x="3602736" y="1572768"/>
            <a:ext cx="237744" cy="237744"/>
          </a:xfrm>
          <a:prstGeom prst="rect">
            <a:avLst/>
          </a:prstGeom>
        </p:spPr>
      </p:pic>
      <p:sp>
        <p:nvSpPr>
          <p:cNvPr id="16" name="Stage B title"/>
          <p:cNvSpPr txBox="1"/>
          <p:nvPr/>
        </p:nvSpPr>
        <p:spPr>
          <a:xfrm>
            <a:off x="4069080" y="1426464"/>
            <a:ext cx="1691640" cy="566928"/>
          </a:xfrm>
          <a:prstGeom prst="rect">
            <a:avLst/>
          </a:prstGeom>
          <a:noFill/>
          <a:ln/>
        </p:spPr>
        <p:txBody>
          <a:bodyPr wrap="square" lIns="0" tIns="0" rIns="0" bIns="0" rtlCol="0" anchor="ctr"/>
          <a:lstStyle/>
          <a:p>
            <a:pPr indent="0" marL="0">
              <a:buNone/>
            </a:pPr>
            <a:r>
              <a:rPr lang="en-US" sz="1000" b="1" spc="100" kern="0" dirty="0">
                <a:solidFill>
                  <a:schemeClr val="accent1"/>
                </a:solidFill>
              </a:rPr>
              <a:t>STAGE B</a:t>
            </a:r>
            <a:endParaRPr lang="en-US" sz="1000" dirty="0"/>
          </a:p>
          <a:p>
            <a:pPr indent="0" marL="0">
              <a:buNone/>
            </a:pPr>
            <a:r>
              <a:rPr lang="en-US" sz="1500" b="1" dirty="0">
                <a:solidFill>
                  <a:schemeClr val="tx2"/>
                </a:solidFill>
              </a:rPr>
              <a:t>Decide what to reorder</a:t>
            </a:r>
            <a:endParaRPr lang="en-US" sz="1000" dirty="0"/>
          </a:p>
        </p:txBody>
      </p:sp>
      <p:sp>
        <p:nvSpPr>
          <p:cNvPr id="17" name="Stage B points"/>
          <p:cNvSpPr txBox="1"/>
          <p:nvPr/>
        </p:nvSpPr>
        <p:spPr>
          <a:xfrm>
            <a:off x="3493008" y="2148840"/>
            <a:ext cx="2194560" cy="1691640"/>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1"/>
                </a:solidFill>
              </a:rPr>
              <a:t>Expected sales until the supplier delivers</a:t>
            </a:r>
            <a:endParaRPr lang="en-US" sz="1200" dirty="0"/>
          </a:p>
          <a:p>
            <a:pPr marL="342900" indent="-342900">
              <a:spcAft>
                <a:spcPts val="400"/>
              </a:spcAft>
              <a:buSzPct val="100000"/>
              <a:buChar char="•"/>
            </a:pPr>
            <a:r>
              <a:rPr lang="en-US" sz="1200" dirty="0">
                <a:solidFill>
                  <a:schemeClr val="tx1"/>
                </a:solidFill>
              </a:rPr>
              <a:t>Keeps a safety buffer for busy days</a:t>
            </a:r>
            <a:endParaRPr lang="en-US" sz="1200" dirty="0"/>
          </a:p>
          <a:p>
            <a:pPr marL="342900" indent="-342900">
              <a:spcAft>
                <a:spcPts val="400"/>
              </a:spcAft>
              <a:buSzPct val="100000"/>
              <a:buChar char="•"/>
            </a:pPr>
            <a:r>
              <a:rPr lang="en-US" sz="1200" dirty="0">
                <a:solidFill>
                  <a:schemeClr val="tx1"/>
                </a:solidFill>
              </a:rPr>
              <a:t>Flags items that will run short</a:t>
            </a:r>
            <a:endParaRPr lang="en-US" sz="1200" dirty="0"/>
          </a:p>
          <a:p>
            <a:pPr marL="342900" indent="-342900">
              <a:spcAft>
                <a:spcPts val="400"/>
              </a:spcAft>
              <a:buSzPct val="100000"/>
              <a:buChar char="•"/>
            </a:pPr>
            <a:r>
              <a:rPr lang="en-US" sz="1200" dirty="0">
                <a:solidFill>
                  <a:schemeClr val="tx1"/>
                </a:solidFill>
              </a:rPr>
              <a:t>Suggests a quantity, with a reason</a:t>
            </a:r>
            <a:endParaRPr lang="en-US" sz="1200" dirty="0"/>
          </a:p>
        </p:txBody>
      </p:sp>
      <p:sp>
        <p:nvSpPr>
          <p:cNvPr id="18" name="Stage B formula box"/>
          <p:cNvSpPr/>
          <p:nvPr/>
        </p:nvSpPr>
        <p:spPr>
          <a:xfrm>
            <a:off x="3429000" y="3931920"/>
            <a:ext cx="2286000" cy="548640"/>
          </a:xfrm>
          <a:prstGeom prst="roundRect">
            <a:avLst>
              <a:gd name="adj" fmla="val 13333"/>
            </a:avLst>
          </a:prstGeom>
          <a:solidFill>
            <a:schemeClr val="bg1"/>
          </a:solidFill>
          <a:ln/>
        </p:spPr>
      </p:sp>
      <p:sp>
        <p:nvSpPr>
          <p:cNvPr id="19" name="Stage B formula"/>
          <p:cNvSpPr txBox="1"/>
          <p:nvPr/>
        </p:nvSpPr>
        <p:spPr>
          <a:xfrm>
            <a:off x="3493008" y="3931920"/>
            <a:ext cx="2157984" cy="548640"/>
          </a:xfrm>
          <a:prstGeom prst="rect">
            <a:avLst/>
          </a:prstGeom>
          <a:noFill/>
          <a:ln/>
        </p:spPr>
        <p:txBody>
          <a:bodyPr wrap="square" lIns="0" tIns="0" rIns="0" bIns="0" rtlCol="0" anchor="ctr"/>
          <a:lstStyle/>
          <a:p>
            <a:pPr algn="ctr" indent="0" marL="0">
              <a:buNone/>
            </a:pPr>
            <a:r>
              <a:rPr lang="en-US" sz="1200" i="1" dirty="0">
                <a:solidFill>
                  <a:schemeClr val="tx2"/>
                </a:solidFill>
                <a:latin typeface="Cambria" pitchFamily="34" charset="0"/>
                <a:ea typeface="Cambria" pitchFamily="34" charset="-122"/>
                <a:cs typeface="Cambria" pitchFamily="34" charset="-120"/>
              </a:rPr>
              <a:t>Order before it runs out, not after</a:t>
            </a:r>
            <a:endParaRPr lang="en-US" sz="1200" dirty="0"/>
          </a:p>
        </p:txBody>
      </p:sp>
      <p:sp>
        <p:nvSpPr>
          <p:cNvPr id="20" name="Arrow B backing"/>
          <p:cNvSpPr/>
          <p:nvPr/>
        </p:nvSpPr>
        <p:spPr>
          <a:xfrm>
            <a:off x="5870448" y="2724912"/>
            <a:ext cx="237744" cy="237744"/>
          </a:xfrm>
          <a:prstGeom prst="ellipse">
            <a:avLst/>
          </a:prstGeom>
          <a:solidFill>
            <a:schemeClr val="accent2"/>
          </a:solidFill>
          <a:ln/>
        </p:spPr>
      </p:sp>
      <p:pic>
        <p:nvPicPr>
          <p:cNvPr id="21" name="Arrow B" descr="preencoded.png">    </p:cNvPr>
          <p:cNvPicPr>
            <a:picLocks noChangeAspect="1"/>
          </p:cNvPicPr>
          <p:nvPr/>
        </p:nvPicPr>
        <p:blipFill>
          <a:blip r:embed="rId4"/>
          <a:stretch>
            <a:fillRect/>
          </a:stretch>
        </p:blipFill>
        <p:spPr>
          <a:xfrm>
            <a:off x="5911596" y="2766060"/>
            <a:ext cx="155448" cy="155448"/>
          </a:xfrm>
          <a:prstGeom prst="rect">
            <a:avLst/>
          </a:prstGeom>
        </p:spPr>
      </p:pic>
      <p:sp>
        <p:nvSpPr>
          <p:cNvPr id="22" name="Stage C card"/>
          <p:cNvSpPr/>
          <p:nvPr/>
        </p:nvSpPr>
        <p:spPr>
          <a:xfrm>
            <a:off x="6126480" y="1280160"/>
            <a:ext cx="2560320" cy="3337560"/>
          </a:xfrm>
          <a:prstGeom prst="roundRect">
            <a:avLst>
              <a:gd name="adj" fmla="val 4286"/>
            </a:avLst>
          </a:prstGeom>
          <a:solidFill>
            <a:srgbClr val="FDF3DC"/>
          </a:solidFill>
          <a:ln/>
        </p:spPr>
      </p:sp>
      <p:sp>
        <p:nvSpPr>
          <p:cNvPr id="23" name="LuHand tile"/>
          <p:cNvSpPr/>
          <p:nvPr/>
        </p:nvSpPr>
        <p:spPr>
          <a:xfrm>
            <a:off x="6327648" y="1463040"/>
            <a:ext cx="457200" cy="457200"/>
          </a:xfrm>
          <a:prstGeom prst="roundRect">
            <a:avLst>
              <a:gd name="adj" fmla="val 22000"/>
            </a:avLst>
          </a:prstGeom>
          <a:solidFill>
            <a:schemeClr val="accent2"/>
          </a:solidFill>
          <a:ln/>
        </p:spPr>
      </p:sp>
      <p:pic>
        <p:nvPicPr>
          <p:cNvPr id="24" name="LuHand icon" descr="preencoded.png">    </p:cNvPr>
          <p:cNvPicPr>
            <a:picLocks noChangeAspect="1"/>
          </p:cNvPicPr>
          <p:nvPr/>
        </p:nvPicPr>
        <p:blipFill>
          <a:blip r:embed="rId5"/>
          <a:stretch>
            <a:fillRect/>
          </a:stretch>
        </p:blipFill>
        <p:spPr>
          <a:xfrm>
            <a:off x="6437376" y="1572768"/>
            <a:ext cx="237744" cy="237744"/>
          </a:xfrm>
          <a:prstGeom prst="rect">
            <a:avLst/>
          </a:prstGeom>
        </p:spPr>
      </p:pic>
      <p:sp>
        <p:nvSpPr>
          <p:cNvPr id="25" name="Stage C title"/>
          <p:cNvSpPr txBox="1"/>
          <p:nvPr/>
        </p:nvSpPr>
        <p:spPr>
          <a:xfrm>
            <a:off x="6903720" y="1426464"/>
            <a:ext cx="1691640" cy="566928"/>
          </a:xfrm>
          <a:prstGeom prst="rect">
            <a:avLst/>
          </a:prstGeom>
          <a:noFill/>
          <a:ln/>
        </p:spPr>
        <p:txBody>
          <a:bodyPr wrap="square" lIns="0" tIns="0" rIns="0" bIns="0" rtlCol="0" anchor="ctr"/>
          <a:lstStyle/>
          <a:p>
            <a:pPr indent="0" marL="0">
              <a:buNone/>
            </a:pPr>
            <a:r>
              <a:rPr lang="en-US" sz="1000" b="1" spc="100" kern="0" dirty="0">
                <a:solidFill>
                  <a:srgbClr val="B57600"/>
                </a:solidFill>
              </a:rPr>
              <a:t>STAGE C</a:t>
            </a:r>
            <a:endParaRPr lang="en-US" sz="1000" dirty="0"/>
          </a:p>
          <a:p>
            <a:pPr indent="0" marL="0">
              <a:buNone/>
            </a:pPr>
            <a:r>
              <a:rPr lang="en-US" sz="1500" b="1" dirty="0">
                <a:solidFill>
                  <a:schemeClr val="tx2"/>
                </a:solidFill>
              </a:rPr>
              <a:t>The owner decides</a:t>
            </a:r>
            <a:endParaRPr lang="en-US" sz="1000" dirty="0"/>
          </a:p>
        </p:txBody>
      </p:sp>
      <p:sp>
        <p:nvSpPr>
          <p:cNvPr id="26" name="Stage C points"/>
          <p:cNvSpPr txBox="1"/>
          <p:nvPr/>
        </p:nvSpPr>
        <p:spPr>
          <a:xfrm>
            <a:off x="6327648" y="2148840"/>
            <a:ext cx="2194560" cy="1691640"/>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1"/>
                </a:solidFill>
              </a:rPr>
              <a:t>Items grouped by supplier into a draft plan</a:t>
            </a:r>
            <a:endParaRPr lang="en-US" sz="1200" dirty="0"/>
          </a:p>
          <a:p>
            <a:pPr marL="342900" indent="-342900">
              <a:spcAft>
                <a:spcPts val="400"/>
              </a:spcAft>
              <a:buSzPct val="100000"/>
              <a:buChar char="•"/>
            </a:pPr>
            <a:r>
              <a:rPr lang="en-US" sz="1200" dirty="0">
                <a:solidFill>
                  <a:schemeClr val="tx1"/>
                </a:solidFill>
              </a:rPr>
              <a:t>Owner edits quantities or removes items</a:t>
            </a:r>
            <a:endParaRPr lang="en-US" sz="1200" dirty="0"/>
          </a:p>
          <a:p>
            <a:pPr marL="342900" indent="-342900">
              <a:spcAft>
                <a:spcPts val="400"/>
              </a:spcAft>
              <a:buSzPct val="100000"/>
              <a:buChar char="•"/>
            </a:pPr>
            <a:r>
              <a:rPr lang="en-US" sz="1200" dirty="0">
                <a:solidFill>
                  <a:schemeClr val="tx1"/>
                </a:solidFill>
              </a:rPr>
              <a:t>Confirm creates one purchase order per supplier</a:t>
            </a:r>
            <a:endParaRPr lang="en-US" sz="1200" dirty="0"/>
          </a:p>
          <a:p>
            <a:pPr marL="342900" indent="-342900">
              <a:spcAft>
                <a:spcPts val="400"/>
              </a:spcAft>
              <a:buSzPct val="100000"/>
              <a:buChar char="•"/>
            </a:pPr>
            <a:r>
              <a:rPr lang="en-US" sz="1200" dirty="0">
                <a:solidFill>
                  <a:schemeClr val="tx1"/>
                </a:solidFill>
              </a:rPr>
              <a:t>Unconfirmed plans expire after 24 hours</a:t>
            </a:r>
            <a:endParaRPr lang="en-US" sz="1200" dirty="0"/>
          </a:p>
        </p:txBody>
      </p:sp>
      <p:sp>
        <p:nvSpPr>
          <p:cNvPr id="27" name="Stage C formula box"/>
          <p:cNvSpPr/>
          <p:nvPr/>
        </p:nvSpPr>
        <p:spPr>
          <a:xfrm>
            <a:off x="6263640" y="3931920"/>
            <a:ext cx="2286000" cy="548640"/>
          </a:xfrm>
          <a:prstGeom prst="roundRect">
            <a:avLst>
              <a:gd name="adj" fmla="val 13333"/>
            </a:avLst>
          </a:prstGeom>
          <a:solidFill>
            <a:schemeClr val="bg1"/>
          </a:solidFill>
          <a:ln/>
        </p:spPr>
      </p:sp>
      <p:sp>
        <p:nvSpPr>
          <p:cNvPr id="28" name="Stage C formula"/>
          <p:cNvSpPr txBox="1"/>
          <p:nvPr/>
        </p:nvSpPr>
        <p:spPr>
          <a:xfrm>
            <a:off x="6327648" y="3931920"/>
            <a:ext cx="2157984" cy="548640"/>
          </a:xfrm>
          <a:prstGeom prst="rect">
            <a:avLst/>
          </a:prstGeom>
          <a:noFill/>
          <a:ln/>
        </p:spPr>
        <p:txBody>
          <a:bodyPr wrap="square" lIns="0" tIns="0" rIns="0" bIns="0" rtlCol="0" anchor="ctr"/>
          <a:lstStyle/>
          <a:p>
            <a:pPr algn="ctr" indent="0" marL="0">
              <a:buNone/>
            </a:pPr>
            <a:r>
              <a:rPr lang="en-US" sz="1200" i="1" dirty="0">
                <a:solidFill>
                  <a:schemeClr val="tx2"/>
                </a:solidFill>
                <a:latin typeface="Cambria" pitchFamily="34" charset="0"/>
                <a:ea typeface="Cambria" pitchFamily="34" charset="-122"/>
                <a:cs typeface="Cambria" pitchFamily="34" charset="-120"/>
              </a:rPr>
              <a:t>AI can prepare a plan, never confirm it</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Eyebrow"/>
          <p:cNvSpPr txBox="1"/>
          <p:nvPr/>
        </p:nvSpPr>
        <p:spPr>
          <a:xfrm>
            <a:off x="457200" y="274320"/>
            <a:ext cx="5486400" cy="256032"/>
          </a:xfrm>
          <a:prstGeom prst="rect">
            <a:avLst/>
          </a:prstGeom>
          <a:noFill/>
          <a:ln/>
        </p:spPr>
        <p:txBody>
          <a:bodyPr wrap="square" lIns="0" tIns="0" rIns="0" bIns="0" rtlCol="0" anchor="ctr"/>
          <a:lstStyle/>
          <a:p>
            <a:pPr indent="0" marL="0">
              <a:buNone/>
            </a:pPr>
            <a:r>
              <a:rPr lang="en-US" sz="1100" b="1" spc="200" kern="0" dirty="0">
                <a:solidFill>
                  <a:schemeClr val="accent1"/>
                </a:solidFill>
              </a:rPr>
              <a:t>12 · REFERENCES</a:t>
            </a:r>
            <a:endParaRPr lang="en-US" sz="1100" dirty="0"/>
          </a:p>
        </p:txBody>
      </p:sp>
      <p:sp>
        <p:nvSpPr>
          <p:cNvPr id="3" name="Text 0"/>
          <p:cNvSpPr/>
          <p:nvPr>
            <p:ph idx="100" type="title" hasCustomPrompt="1"/>
          </p:nvPr>
        </p:nvSpPr>
        <p:spPr>
          <a:xfrm>
            <a:off x="457200" y="502920"/>
            <a:ext cx="6400800" cy="640080"/>
          </a:xfrm>
          <a:prstGeom prst="rect">
            <a:avLst/>
          </a:prstGeom>
          <a:noFill/>
          <a:ln/>
        </p:spPr>
        <p:txBody>
          <a:bodyPr wrap="square" lIns="0" tIns="0" rIns="0" bIns="0" rtlCol="0" anchor="ctr"/>
          <a:lstStyle/>
          <a:p>
            <a:pPr algn="l" indent="0" marL="0">
              <a:buNone/>
            </a:pPr>
            <a:r>
              <a:rPr lang="en-US" sz="3400" b="1" dirty="0">
                <a:solidFill>
                  <a:schemeClr val="tx2"/>
                </a:solidFill>
                <a:latin typeface="Cambria" pitchFamily="34" charset="0"/>
                <a:ea typeface="Cambria" pitchFamily="34" charset="-122"/>
                <a:cs typeface="Cambria" pitchFamily="34" charset="-120"/>
              </a:rPr>
              <a:t>References</a:t>
            </a:r>
            <a:endParaRPr lang="en-US" sz="3400" dirty="0"/>
          </a:p>
        </p:txBody>
      </p:sp>
      <p:sp>
        <p:nvSpPr>
          <p:cNvPr id="4" name="Reference 1 number"/>
          <p:cNvSpPr txBox="1"/>
          <p:nvPr/>
        </p:nvSpPr>
        <p:spPr>
          <a:xfrm>
            <a:off x="457200" y="1280160"/>
            <a:ext cx="384048" cy="603504"/>
          </a:xfrm>
          <a:prstGeom prst="rect">
            <a:avLst/>
          </a:prstGeom>
          <a:noFill/>
          <a:ln/>
        </p:spPr>
        <p:txBody>
          <a:bodyPr wrap="square" lIns="0" tIns="0" rIns="0" bIns="0" rtlCol="0" anchor="t"/>
          <a:lstStyle/>
          <a:p>
            <a:pPr indent="0" marL="0">
              <a:buNone/>
            </a:pPr>
            <a:r>
              <a:rPr lang="en-US" sz="1100" b="1" dirty="0">
                <a:solidFill>
                  <a:schemeClr val="accent1"/>
                </a:solidFill>
              </a:rPr>
              <a:t>[1]</a:t>
            </a:r>
            <a:endParaRPr lang="en-US" sz="1100" dirty="0"/>
          </a:p>
        </p:txBody>
      </p:sp>
      <p:sp>
        <p:nvSpPr>
          <p:cNvPr id="5" name="Reference 1"/>
          <p:cNvSpPr txBox="1"/>
          <p:nvPr/>
        </p:nvSpPr>
        <p:spPr>
          <a:xfrm>
            <a:off x="868680" y="1280160"/>
            <a:ext cx="3566160" cy="621792"/>
          </a:xfrm>
          <a:prstGeom prst="rect">
            <a:avLst/>
          </a:prstGeom>
          <a:noFill/>
          <a:ln/>
        </p:spPr>
        <p:txBody>
          <a:bodyPr wrap="square" lIns="0" tIns="0" rIns="0" bIns="0" rtlCol="0" anchor="t"/>
          <a:lstStyle/>
          <a:p>
            <a:pPr indent="0" marL="0">
              <a:buNone/>
            </a:pPr>
            <a:r>
              <a:rPr lang="en-US" sz="1050" dirty="0">
                <a:solidFill>
                  <a:schemeClr val="tx1"/>
                </a:solidFill>
              </a:rPr>
              <a:t>F. F. Agboola et al., “Development of a web-based platform for automating an inventory management of a small and medium enterprise,” FUDMA J. Sci., vol. 6, no. 5, 2022.</a:t>
            </a:r>
            <a:endParaRPr lang="en-US" sz="1050" dirty="0"/>
          </a:p>
        </p:txBody>
      </p:sp>
      <p:sp>
        <p:nvSpPr>
          <p:cNvPr id="6" name="Reference 2 number"/>
          <p:cNvSpPr txBox="1"/>
          <p:nvPr/>
        </p:nvSpPr>
        <p:spPr>
          <a:xfrm>
            <a:off x="457200" y="1956816"/>
            <a:ext cx="384048" cy="603504"/>
          </a:xfrm>
          <a:prstGeom prst="rect">
            <a:avLst/>
          </a:prstGeom>
          <a:noFill/>
          <a:ln/>
        </p:spPr>
        <p:txBody>
          <a:bodyPr wrap="square" lIns="0" tIns="0" rIns="0" bIns="0" rtlCol="0" anchor="t"/>
          <a:lstStyle/>
          <a:p>
            <a:pPr indent="0" marL="0">
              <a:buNone/>
            </a:pPr>
            <a:r>
              <a:rPr lang="en-US" sz="1100" b="1" dirty="0">
                <a:solidFill>
                  <a:schemeClr val="accent1"/>
                </a:solidFill>
              </a:rPr>
              <a:t>[2]</a:t>
            </a:r>
            <a:endParaRPr lang="en-US" sz="1100" dirty="0"/>
          </a:p>
        </p:txBody>
      </p:sp>
      <p:sp>
        <p:nvSpPr>
          <p:cNvPr id="7" name="Reference 2"/>
          <p:cNvSpPr txBox="1"/>
          <p:nvPr/>
        </p:nvSpPr>
        <p:spPr>
          <a:xfrm>
            <a:off x="868680" y="1956816"/>
            <a:ext cx="3566160" cy="621792"/>
          </a:xfrm>
          <a:prstGeom prst="rect">
            <a:avLst/>
          </a:prstGeom>
          <a:noFill/>
          <a:ln/>
        </p:spPr>
        <p:txBody>
          <a:bodyPr wrap="square" lIns="0" tIns="0" rIns="0" bIns="0" rtlCol="0" anchor="t"/>
          <a:lstStyle/>
          <a:p>
            <a:pPr indent="0" marL="0">
              <a:buNone/>
            </a:pPr>
            <a:r>
              <a:rPr lang="en-US" sz="1050" dirty="0">
                <a:solidFill>
                  <a:schemeClr val="tx1"/>
                </a:solidFill>
              </a:rPr>
              <a:t>H. Q. Lim, A. R. Rahmat and S. Suban@Ani, “An inventory management system for small businesses,” J. Digital System Development, vol. 3, no. 1, 2025.</a:t>
            </a:r>
            <a:endParaRPr lang="en-US" sz="1050" dirty="0"/>
          </a:p>
        </p:txBody>
      </p:sp>
      <p:sp>
        <p:nvSpPr>
          <p:cNvPr id="8" name="Reference 3 number"/>
          <p:cNvSpPr txBox="1"/>
          <p:nvPr/>
        </p:nvSpPr>
        <p:spPr>
          <a:xfrm>
            <a:off x="457200" y="2633472"/>
            <a:ext cx="384048" cy="603504"/>
          </a:xfrm>
          <a:prstGeom prst="rect">
            <a:avLst/>
          </a:prstGeom>
          <a:noFill/>
          <a:ln/>
        </p:spPr>
        <p:txBody>
          <a:bodyPr wrap="square" lIns="0" tIns="0" rIns="0" bIns="0" rtlCol="0" anchor="t"/>
          <a:lstStyle/>
          <a:p>
            <a:pPr indent="0" marL="0">
              <a:buNone/>
            </a:pPr>
            <a:r>
              <a:rPr lang="en-US" sz="1100" b="1" dirty="0">
                <a:solidFill>
                  <a:schemeClr val="accent1"/>
                </a:solidFill>
              </a:rPr>
              <a:t>[3]</a:t>
            </a:r>
            <a:endParaRPr lang="en-US" sz="1100" dirty="0"/>
          </a:p>
        </p:txBody>
      </p:sp>
      <p:sp>
        <p:nvSpPr>
          <p:cNvPr id="9" name="Reference 3"/>
          <p:cNvSpPr txBox="1"/>
          <p:nvPr/>
        </p:nvSpPr>
        <p:spPr>
          <a:xfrm>
            <a:off x="868680" y="2633472"/>
            <a:ext cx="3566160" cy="621792"/>
          </a:xfrm>
          <a:prstGeom prst="rect">
            <a:avLst/>
          </a:prstGeom>
          <a:noFill/>
          <a:ln/>
        </p:spPr>
        <p:txBody>
          <a:bodyPr wrap="square" lIns="0" tIns="0" rIns="0" bIns="0" rtlCol="0" anchor="t"/>
          <a:lstStyle/>
          <a:p>
            <a:pPr indent="0" marL="0">
              <a:buNone/>
            </a:pPr>
            <a:r>
              <a:rPr lang="en-US" sz="1050" dirty="0">
                <a:solidFill>
                  <a:schemeClr val="tx1"/>
                </a:solidFill>
              </a:rPr>
              <a:t>P. Phuthaikampanatpinya and C. Dechsupa, “A point-of-sale platform for the retail small and medium enterprises,” Academic J. Sci. Technol., vol. 1, no. 1, 2023.</a:t>
            </a:r>
            <a:endParaRPr lang="en-US" sz="1050" dirty="0"/>
          </a:p>
        </p:txBody>
      </p:sp>
      <p:sp>
        <p:nvSpPr>
          <p:cNvPr id="10" name="Reference 4 number"/>
          <p:cNvSpPr txBox="1"/>
          <p:nvPr/>
        </p:nvSpPr>
        <p:spPr>
          <a:xfrm>
            <a:off x="457200" y="3310128"/>
            <a:ext cx="384048" cy="603504"/>
          </a:xfrm>
          <a:prstGeom prst="rect">
            <a:avLst/>
          </a:prstGeom>
          <a:noFill/>
          <a:ln/>
        </p:spPr>
        <p:txBody>
          <a:bodyPr wrap="square" lIns="0" tIns="0" rIns="0" bIns="0" rtlCol="0" anchor="t"/>
          <a:lstStyle/>
          <a:p>
            <a:pPr indent="0" marL="0">
              <a:buNone/>
            </a:pPr>
            <a:r>
              <a:rPr lang="en-US" sz="1100" b="1" dirty="0">
                <a:solidFill>
                  <a:schemeClr val="accent1"/>
                </a:solidFill>
              </a:rPr>
              <a:t>[4]</a:t>
            </a:r>
            <a:endParaRPr lang="en-US" sz="1100" dirty="0"/>
          </a:p>
        </p:txBody>
      </p:sp>
      <p:sp>
        <p:nvSpPr>
          <p:cNvPr id="11" name="Reference 4"/>
          <p:cNvSpPr txBox="1"/>
          <p:nvPr/>
        </p:nvSpPr>
        <p:spPr>
          <a:xfrm>
            <a:off x="868680" y="3310128"/>
            <a:ext cx="3566160" cy="621792"/>
          </a:xfrm>
          <a:prstGeom prst="rect">
            <a:avLst/>
          </a:prstGeom>
          <a:noFill/>
          <a:ln/>
        </p:spPr>
        <p:txBody>
          <a:bodyPr wrap="square" lIns="0" tIns="0" rIns="0" bIns="0" rtlCol="0" anchor="t"/>
          <a:lstStyle/>
          <a:p>
            <a:pPr indent="0" marL="0">
              <a:buNone/>
            </a:pPr>
            <a:r>
              <a:rPr lang="en-US" sz="1050" dirty="0">
                <a:solidFill>
                  <a:schemeClr val="tx1"/>
                </a:solidFill>
              </a:rPr>
              <a:t>H. R. Patil et al., “Account + GST inventory management ERP system (using cloud storage),” IJRASET, vol. 10, no. 4, 2022.</a:t>
            </a:r>
            <a:endParaRPr lang="en-US" sz="1050" dirty="0"/>
          </a:p>
        </p:txBody>
      </p:sp>
      <p:sp>
        <p:nvSpPr>
          <p:cNvPr id="12" name="Reference 5 number"/>
          <p:cNvSpPr txBox="1"/>
          <p:nvPr/>
        </p:nvSpPr>
        <p:spPr>
          <a:xfrm>
            <a:off x="457200" y="3986784"/>
            <a:ext cx="384048" cy="603504"/>
          </a:xfrm>
          <a:prstGeom prst="rect">
            <a:avLst/>
          </a:prstGeom>
          <a:noFill/>
          <a:ln/>
        </p:spPr>
        <p:txBody>
          <a:bodyPr wrap="square" lIns="0" tIns="0" rIns="0" bIns="0" rtlCol="0" anchor="t"/>
          <a:lstStyle/>
          <a:p>
            <a:pPr indent="0" marL="0">
              <a:buNone/>
            </a:pPr>
            <a:r>
              <a:rPr lang="en-US" sz="1100" b="1" dirty="0">
                <a:solidFill>
                  <a:schemeClr val="accent1"/>
                </a:solidFill>
              </a:rPr>
              <a:t>[5]</a:t>
            </a:r>
            <a:endParaRPr lang="en-US" sz="1100" dirty="0"/>
          </a:p>
        </p:txBody>
      </p:sp>
      <p:sp>
        <p:nvSpPr>
          <p:cNvPr id="13" name="Reference 5"/>
          <p:cNvSpPr txBox="1"/>
          <p:nvPr/>
        </p:nvSpPr>
        <p:spPr>
          <a:xfrm>
            <a:off x="868680" y="3986784"/>
            <a:ext cx="3566160" cy="621792"/>
          </a:xfrm>
          <a:prstGeom prst="rect">
            <a:avLst/>
          </a:prstGeom>
          <a:noFill/>
          <a:ln/>
        </p:spPr>
        <p:txBody>
          <a:bodyPr wrap="square" lIns="0" tIns="0" rIns="0" bIns="0" rtlCol="0" anchor="t"/>
          <a:lstStyle/>
          <a:p>
            <a:pPr indent="0" marL="0">
              <a:buNone/>
            </a:pPr>
            <a:r>
              <a:rPr lang="en-US" sz="1050" dirty="0">
                <a:solidFill>
                  <a:schemeClr val="tx1"/>
                </a:solidFill>
              </a:rPr>
              <a:t>M. Nasseri et al., “Applying machine learning in retail demand prediction,” Applied Sciences, vol. 13, no. 19, 2023.</a:t>
            </a:r>
            <a:endParaRPr lang="en-US" sz="1050" dirty="0"/>
          </a:p>
        </p:txBody>
      </p:sp>
      <p:sp>
        <p:nvSpPr>
          <p:cNvPr id="14" name="Reference 6 number"/>
          <p:cNvSpPr txBox="1"/>
          <p:nvPr/>
        </p:nvSpPr>
        <p:spPr>
          <a:xfrm>
            <a:off x="4663440" y="1280160"/>
            <a:ext cx="384048" cy="603504"/>
          </a:xfrm>
          <a:prstGeom prst="rect">
            <a:avLst/>
          </a:prstGeom>
          <a:noFill/>
          <a:ln/>
        </p:spPr>
        <p:txBody>
          <a:bodyPr wrap="square" lIns="0" tIns="0" rIns="0" bIns="0" rtlCol="0" anchor="t"/>
          <a:lstStyle/>
          <a:p>
            <a:pPr indent="0" marL="0">
              <a:buNone/>
            </a:pPr>
            <a:r>
              <a:rPr lang="en-US" sz="1100" b="1" dirty="0">
                <a:solidFill>
                  <a:schemeClr val="accent1"/>
                </a:solidFill>
              </a:rPr>
              <a:t>[6]</a:t>
            </a:r>
            <a:endParaRPr lang="en-US" sz="1100" dirty="0"/>
          </a:p>
        </p:txBody>
      </p:sp>
      <p:sp>
        <p:nvSpPr>
          <p:cNvPr id="15" name="Reference 6"/>
          <p:cNvSpPr txBox="1"/>
          <p:nvPr/>
        </p:nvSpPr>
        <p:spPr>
          <a:xfrm>
            <a:off x="5074920" y="1280160"/>
            <a:ext cx="3566160" cy="621792"/>
          </a:xfrm>
          <a:prstGeom prst="rect">
            <a:avLst/>
          </a:prstGeom>
          <a:noFill/>
          <a:ln/>
        </p:spPr>
        <p:txBody>
          <a:bodyPr wrap="square" lIns="0" tIns="0" rIns="0" bIns="0" rtlCol="0" anchor="t"/>
          <a:lstStyle/>
          <a:p>
            <a:pPr indent="0" marL="0">
              <a:buNone/>
            </a:pPr>
            <a:r>
              <a:rPr lang="en-US" sz="1050" dirty="0">
                <a:solidFill>
                  <a:schemeClr val="tx1"/>
                </a:solidFill>
              </a:rPr>
              <a:t>V. Pasupuleti et al., “Enhancing supply chain agility and sustainability through machine learning,” Logistics, vol. 8, no. 3, 2024.</a:t>
            </a:r>
            <a:endParaRPr lang="en-US" sz="1050" dirty="0"/>
          </a:p>
        </p:txBody>
      </p:sp>
      <p:sp>
        <p:nvSpPr>
          <p:cNvPr id="16" name="Reference 7 number"/>
          <p:cNvSpPr txBox="1"/>
          <p:nvPr/>
        </p:nvSpPr>
        <p:spPr>
          <a:xfrm>
            <a:off x="4663440" y="1956816"/>
            <a:ext cx="384048" cy="603504"/>
          </a:xfrm>
          <a:prstGeom prst="rect">
            <a:avLst/>
          </a:prstGeom>
          <a:noFill/>
          <a:ln/>
        </p:spPr>
        <p:txBody>
          <a:bodyPr wrap="square" lIns="0" tIns="0" rIns="0" bIns="0" rtlCol="0" anchor="t"/>
          <a:lstStyle/>
          <a:p>
            <a:pPr indent="0" marL="0">
              <a:buNone/>
            </a:pPr>
            <a:r>
              <a:rPr lang="en-US" sz="1100" b="1" dirty="0">
                <a:solidFill>
                  <a:schemeClr val="accent1"/>
                </a:solidFill>
              </a:rPr>
              <a:t>[7]</a:t>
            </a:r>
            <a:endParaRPr lang="en-US" sz="1100" dirty="0"/>
          </a:p>
        </p:txBody>
      </p:sp>
      <p:sp>
        <p:nvSpPr>
          <p:cNvPr id="17" name="Reference 7"/>
          <p:cNvSpPr txBox="1"/>
          <p:nvPr/>
        </p:nvSpPr>
        <p:spPr>
          <a:xfrm>
            <a:off x="5074920" y="1956816"/>
            <a:ext cx="3566160" cy="621792"/>
          </a:xfrm>
          <a:prstGeom prst="rect">
            <a:avLst/>
          </a:prstGeom>
          <a:noFill/>
          <a:ln/>
        </p:spPr>
        <p:txBody>
          <a:bodyPr wrap="square" lIns="0" tIns="0" rIns="0" bIns="0" rtlCol="0" anchor="t"/>
          <a:lstStyle/>
          <a:p>
            <a:pPr indent="0" marL="0">
              <a:buNone/>
            </a:pPr>
            <a:r>
              <a:rPr lang="en-US" sz="1050" dirty="0">
                <a:solidFill>
                  <a:schemeClr val="tx1"/>
                </a:solidFill>
              </a:rPr>
              <a:t>R. N. Boute et al., “Deep reinforcement learning for inventory control: A roadmap,” Eur. J. Oper. Res., vol. 298, no. 2, 2022.</a:t>
            </a:r>
            <a:endParaRPr lang="en-US" sz="1050" dirty="0"/>
          </a:p>
        </p:txBody>
      </p:sp>
      <p:sp>
        <p:nvSpPr>
          <p:cNvPr id="18" name="Reference 8 number"/>
          <p:cNvSpPr txBox="1"/>
          <p:nvPr/>
        </p:nvSpPr>
        <p:spPr>
          <a:xfrm>
            <a:off x="4663440" y="2633472"/>
            <a:ext cx="384048" cy="603504"/>
          </a:xfrm>
          <a:prstGeom prst="rect">
            <a:avLst/>
          </a:prstGeom>
          <a:noFill/>
          <a:ln/>
        </p:spPr>
        <p:txBody>
          <a:bodyPr wrap="square" lIns="0" tIns="0" rIns="0" bIns="0" rtlCol="0" anchor="t"/>
          <a:lstStyle/>
          <a:p>
            <a:pPr indent="0" marL="0">
              <a:buNone/>
            </a:pPr>
            <a:r>
              <a:rPr lang="en-US" sz="1100" b="1" dirty="0">
                <a:solidFill>
                  <a:schemeClr val="accent1"/>
                </a:solidFill>
              </a:rPr>
              <a:t>[8]</a:t>
            </a:r>
            <a:endParaRPr lang="en-US" sz="1100" dirty="0"/>
          </a:p>
        </p:txBody>
      </p:sp>
      <p:sp>
        <p:nvSpPr>
          <p:cNvPr id="19" name="Reference 8"/>
          <p:cNvSpPr txBox="1"/>
          <p:nvPr/>
        </p:nvSpPr>
        <p:spPr>
          <a:xfrm>
            <a:off x="5074920" y="2633472"/>
            <a:ext cx="3566160" cy="621792"/>
          </a:xfrm>
          <a:prstGeom prst="rect">
            <a:avLst/>
          </a:prstGeom>
          <a:noFill/>
          <a:ln/>
        </p:spPr>
        <p:txBody>
          <a:bodyPr wrap="square" lIns="0" tIns="0" rIns="0" bIns="0" rtlCol="0" anchor="t"/>
          <a:lstStyle/>
          <a:p>
            <a:pPr indent="0" marL="0">
              <a:buNone/>
            </a:pPr>
            <a:r>
              <a:rPr lang="en-US" sz="1050" dirty="0">
                <a:solidFill>
                  <a:schemeClr val="tx1"/>
                </a:solidFill>
              </a:rPr>
              <a:t>L. Shi et al., “A survey on employing large language models for text-to-SQL tasks,” ACM Computing Surveys, vol. 58, no. 2, 2025.</a:t>
            </a:r>
            <a:endParaRPr lang="en-US" sz="1050" dirty="0"/>
          </a:p>
        </p:txBody>
      </p:sp>
      <p:sp>
        <p:nvSpPr>
          <p:cNvPr id="20" name="Reference 9 number"/>
          <p:cNvSpPr txBox="1"/>
          <p:nvPr/>
        </p:nvSpPr>
        <p:spPr>
          <a:xfrm>
            <a:off x="4663440" y="3310128"/>
            <a:ext cx="384048" cy="603504"/>
          </a:xfrm>
          <a:prstGeom prst="rect">
            <a:avLst/>
          </a:prstGeom>
          <a:noFill/>
          <a:ln/>
        </p:spPr>
        <p:txBody>
          <a:bodyPr wrap="square" lIns="0" tIns="0" rIns="0" bIns="0" rtlCol="0" anchor="t"/>
          <a:lstStyle/>
          <a:p>
            <a:pPr indent="0" marL="0">
              <a:buNone/>
            </a:pPr>
            <a:r>
              <a:rPr lang="en-US" sz="1100" b="1" dirty="0">
                <a:solidFill>
                  <a:schemeClr val="accent1"/>
                </a:solidFill>
              </a:rPr>
              <a:t>[9]</a:t>
            </a:r>
            <a:endParaRPr lang="en-US" sz="1100" dirty="0"/>
          </a:p>
        </p:txBody>
      </p:sp>
      <p:sp>
        <p:nvSpPr>
          <p:cNvPr id="21" name="Reference 9"/>
          <p:cNvSpPr txBox="1"/>
          <p:nvPr/>
        </p:nvSpPr>
        <p:spPr>
          <a:xfrm>
            <a:off x="5074920" y="3310128"/>
            <a:ext cx="3566160" cy="621792"/>
          </a:xfrm>
          <a:prstGeom prst="rect">
            <a:avLst/>
          </a:prstGeom>
          <a:noFill/>
          <a:ln/>
        </p:spPr>
        <p:txBody>
          <a:bodyPr wrap="square" lIns="0" tIns="0" rIns="0" bIns="0" rtlCol="0" anchor="t"/>
          <a:lstStyle/>
          <a:p>
            <a:pPr indent="0" marL="0">
              <a:buNone/>
            </a:pPr>
            <a:r>
              <a:rPr lang="en-US" sz="1050" dirty="0">
                <a:solidFill>
                  <a:schemeClr val="tx1"/>
                </a:solidFill>
              </a:rPr>
              <a:t>J. Jiang et al., “SiriusBI: A comprehensive LLM-powered solution for data analytics in business intelligence,” Proc. VLDB Endow., vol. 18, no. 12, 2025.</a:t>
            </a:r>
            <a:endParaRPr lang="en-US" sz="1050" dirty="0"/>
          </a:p>
        </p:txBody>
      </p:sp>
      <p:sp>
        <p:nvSpPr>
          <p:cNvPr id="22" name="Reference 10 number"/>
          <p:cNvSpPr txBox="1"/>
          <p:nvPr/>
        </p:nvSpPr>
        <p:spPr>
          <a:xfrm>
            <a:off x="4663440" y="3986784"/>
            <a:ext cx="384048" cy="603504"/>
          </a:xfrm>
          <a:prstGeom prst="rect">
            <a:avLst/>
          </a:prstGeom>
          <a:noFill/>
          <a:ln/>
        </p:spPr>
        <p:txBody>
          <a:bodyPr wrap="square" lIns="0" tIns="0" rIns="0" bIns="0" rtlCol="0" anchor="t"/>
          <a:lstStyle/>
          <a:p>
            <a:pPr indent="0" marL="0">
              <a:buNone/>
            </a:pPr>
            <a:r>
              <a:rPr lang="en-US" sz="1100" b="1" dirty="0">
                <a:solidFill>
                  <a:schemeClr val="accent1"/>
                </a:solidFill>
              </a:rPr>
              <a:t>[10]</a:t>
            </a:r>
            <a:endParaRPr lang="en-US" sz="1100" dirty="0"/>
          </a:p>
        </p:txBody>
      </p:sp>
      <p:sp>
        <p:nvSpPr>
          <p:cNvPr id="23" name="Reference 10"/>
          <p:cNvSpPr txBox="1"/>
          <p:nvPr/>
        </p:nvSpPr>
        <p:spPr>
          <a:xfrm>
            <a:off x="5074920" y="3986784"/>
            <a:ext cx="3566160" cy="621792"/>
          </a:xfrm>
          <a:prstGeom prst="rect">
            <a:avLst/>
          </a:prstGeom>
          <a:noFill/>
          <a:ln/>
        </p:spPr>
        <p:txBody>
          <a:bodyPr wrap="square" lIns="0" tIns="0" rIns="0" bIns="0" rtlCol="0" anchor="t"/>
          <a:lstStyle/>
          <a:p>
            <a:pPr indent="0" marL="0">
              <a:buNone/>
            </a:pPr>
            <a:r>
              <a:rPr lang="en-US" sz="1050" dirty="0">
                <a:solidFill>
                  <a:schemeClr val="tx1"/>
                </a:solidFill>
              </a:rPr>
              <a:t>C. Heins, “Artificial intelligence in retail – a systematic literature review,” Foresight, vol. 25, no. 2, 2023.</a:t>
            </a:r>
            <a:endParaRPr lang="en-US" sz="105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hank you"/>
          <p:cNvSpPr txBox="1"/>
          <p:nvPr/>
        </p:nvSpPr>
        <p:spPr>
          <a:xfrm>
            <a:off x="640080" y="1417320"/>
            <a:ext cx="5120640" cy="1005840"/>
          </a:xfrm>
          <a:prstGeom prst="rect">
            <a:avLst/>
          </a:prstGeom>
          <a:noFill/>
          <a:ln/>
        </p:spPr>
        <p:txBody>
          <a:bodyPr wrap="square" lIns="0" tIns="0" rIns="0" bIns="0" rtlCol="0" anchor="ctr"/>
          <a:lstStyle/>
          <a:p>
            <a:pPr indent="0" marL="0">
              <a:buNone/>
            </a:pPr>
            <a:r>
              <a:rPr lang="en-US" sz="5400" b="1" dirty="0">
                <a:solidFill>
                  <a:schemeClr val="bg1"/>
                </a:solidFill>
                <a:latin typeface="Cambria" pitchFamily="34" charset="0"/>
                <a:ea typeface="Cambria" pitchFamily="34" charset="-122"/>
                <a:cs typeface="Cambria" pitchFamily="34" charset="-120"/>
              </a:rPr>
              <a:t>Thank You</a:t>
            </a:r>
            <a:endParaRPr lang="en-US" sz="5400" dirty="0"/>
          </a:p>
        </p:txBody>
      </p:sp>
      <p:sp>
        <p:nvSpPr>
          <p:cNvPr id="3" name="Questions"/>
          <p:cNvSpPr txBox="1"/>
          <p:nvPr/>
        </p:nvSpPr>
        <p:spPr>
          <a:xfrm>
            <a:off x="640080" y="2423160"/>
            <a:ext cx="5120640" cy="411480"/>
          </a:xfrm>
          <a:prstGeom prst="rect">
            <a:avLst/>
          </a:prstGeom>
          <a:noFill/>
          <a:ln/>
        </p:spPr>
        <p:txBody>
          <a:bodyPr wrap="square" lIns="0" tIns="0" rIns="0" bIns="0" rtlCol="0" anchor="ctr"/>
          <a:lstStyle/>
          <a:p>
            <a:pPr indent="0" marL="0">
              <a:buNone/>
            </a:pPr>
            <a:r>
              <a:rPr lang="en-US" sz="1800" i="1" dirty="0">
                <a:solidFill>
                  <a:schemeClr val="accent3"/>
                </a:solidFill>
              </a:rPr>
              <a:t>Questions and suggestions are welcome</a:t>
            </a:r>
            <a:endParaRPr lang="en-US" sz="1800" dirty="0"/>
          </a:p>
        </p:txBody>
      </p:sp>
      <p:sp>
        <p:nvSpPr>
          <p:cNvPr id="4" name="Team"/>
          <p:cNvSpPr txBox="1"/>
          <p:nvPr/>
        </p:nvSpPr>
        <p:spPr>
          <a:xfrm>
            <a:off x="640080" y="3246120"/>
            <a:ext cx="5303520" cy="320040"/>
          </a:xfrm>
          <a:prstGeom prst="rect">
            <a:avLst/>
          </a:prstGeom>
          <a:noFill/>
          <a:ln/>
        </p:spPr>
        <p:txBody>
          <a:bodyPr wrap="square" lIns="0" tIns="0" rIns="0" bIns="0" rtlCol="0" anchor="ctr"/>
          <a:lstStyle/>
          <a:p>
            <a:pPr indent="0" marL="0">
              <a:buNone/>
            </a:pPr>
            <a:r>
              <a:rPr lang="en-US" sz="1300" dirty="0">
                <a:solidFill>
                  <a:schemeClr val="bg1"/>
                </a:solidFill>
              </a:rPr>
              <a:t>Keerthana P  ·  L Mohammed Fahad  ·  Mehfuza Khanum  ·  Mohammed Saad</a:t>
            </a:r>
            <a:endParaRPr lang="en-US" sz="1300" dirty="0"/>
          </a:p>
        </p:txBody>
      </p:sp>
      <p:sp>
        <p:nvSpPr>
          <p:cNvPr id="5" name="Guide and department"/>
          <p:cNvSpPr txBox="1"/>
          <p:nvPr/>
        </p:nvSpPr>
        <p:spPr>
          <a:xfrm>
            <a:off x="640080" y="3566160"/>
            <a:ext cx="5303520" cy="320040"/>
          </a:xfrm>
          <a:prstGeom prst="rect">
            <a:avLst/>
          </a:prstGeom>
          <a:noFill/>
          <a:ln/>
        </p:spPr>
        <p:txBody>
          <a:bodyPr wrap="square" lIns="0" tIns="0" rIns="0" bIns="0" rtlCol="0" anchor="ctr"/>
          <a:lstStyle/>
          <a:p>
            <a:pPr indent="0" marL="0">
              <a:buNone/>
            </a:pPr>
            <a:r>
              <a:rPr lang="en-US" sz="1200" dirty="0">
                <a:solidFill>
                  <a:schemeClr val="accent3"/>
                </a:solidFill>
              </a:rPr>
              <a:t>Guide: Prof. APOORVA D  ·  Dept. of CSE (AI &amp; ML), Dr. TTIT, KGF</a:t>
            </a:r>
            <a:endParaRPr lang="en-US" sz="1200" dirty="0"/>
          </a:p>
        </p:txBody>
      </p:sp>
      <p:sp>
        <p:nvSpPr>
          <p:cNvPr id="6" name="LuBoxes tile"/>
          <p:cNvSpPr/>
          <p:nvPr/>
        </p:nvSpPr>
        <p:spPr>
          <a:xfrm>
            <a:off x="6400800" y="1188720"/>
            <a:ext cx="868680" cy="868680"/>
          </a:xfrm>
          <a:prstGeom prst="roundRect">
            <a:avLst>
              <a:gd name="adj" fmla="val 22000"/>
            </a:avLst>
          </a:prstGeom>
          <a:solidFill>
            <a:schemeClr val="accent1"/>
          </a:solidFill>
          <a:ln/>
        </p:spPr>
      </p:sp>
      <p:pic>
        <p:nvPicPr>
          <p:cNvPr id="7" name="LuBoxes icon" descr="preencoded.png">    </p:cNvPr>
          <p:cNvPicPr>
            <a:picLocks noChangeAspect="1"/>
          </p:cNvPicPr>
          <p:nvPr/>
        </p:nvPicPr>
        <p:blipFill>
          <a:blip r:embed="rId1"/>
          <a:stretch>
            <a:fillRect/>
          </a:stretch>
        </p:blipFill>
        <p:spPr>
          <a:xfrm>
            <a:off x="6609283" y="1397203"/>
            <a:ext cx="451714" cy="451714"/>
          </a:xfrm>
          <a:prstGeom prst="rect">
            <a:avLst/>
          </a:prstGeom>
        </p:spPr>
      </p:pic>
      <p:sp>
        <p:nvSpPr>
          <p:cNvPr id="8" name="LuScanBarcode tile"/>
          <p:cNvSpPr/>
          <p:nvPr/>
        </p:nvSpPr>
        <p:spPr>
          <a:xfrm>
            <a:off x="7452360" y="1188720"/>
            <a:ext cx="868680" cy="868680"/>
          </a:xfrm>
          <a:prstGeom prst="roundRect">
            <a:avLst>
              <a:gd name="adj" fmla="val 22000"/>
            </a:avLst>
          </a:prstGeom>
          <a:solidFill>
            <a:schemeClr val="accent1"/>
          </a:solidFill>
          <a:ln/>
        </p:spPr>
      </p:sp>
      <p:pic>
        <p:nvPicPr>
          <p:cNvPr id="9" name="LuScanBarcode icon" descr="preencoded.png">    </p:cNvPr>
          <p:cNvPicPr>
            <a:picLocks noChangeAspect="1"/>
          </p:cNvPicPr>
          <p:nvPr/>
        </p:nvPicPr>
        <p:blipFill>
          <a:blip r:embed="rId2"/>
          <a:stretch>
            <a:fillRect/>
          </a:stretch>
        </p:blipFill>
        <p:spPr>
          <a:xfrm>
            <a:off x="7660843" y="1397203"/>
            <a:ext cx="451714" cy="451714"/>
          </a:xfrm>
          <a:prstGeom prst="rect">
            <a:avLst/>
          </a:prstGeom>
        </p:spPr>
      </p:pic>
      <p:sp>
        <p:nvSpPr>
          <p:cNvPr id="10" name="LuChartColumn tile"/>
          <p:cNvSpPr/>
          <p:nvPr/>
        </p:nvSpPr>
        <p:spPr>
          <a:xfrm>
            <a:off x="6400800" y="2240280"/>
            <a:ext cx="868680" cy="868680"/>
          </a:xfrm>
          <a:prstGeom prst="roundRect">
            <a:avLst>
              <a:gd name="adj" fmla="val 22000"/>
            </a:avLst>
          </a:prstGeom>
          <a:solidFill>
            <a:schemeClr val="accent1"/>
          </a:solidFill>
          <a:ln/>
        </p:spPr>
      </p:sp>
      <p:pic>
        <p:nvPicPr>
          <p:cNvPr id="11" name="LuChartColumn icon" descr="preencoded.png">    </p:cNvPr>
          <p:cNvPicPr>
            <a:picLocks noChangeAspect="1"/>
          </p:cNvPicPr>
          <p:nvPr/>
        </p:nvPicPr>
        <p:blipFill>
          <a:blip r:embed="rId3"/>
          <a:stretch>
            <a:fillRect/>
          </a:stretch>
        </p:blipFill>
        <p:spPr>
          <a:xfrm>
            <a:off x="6609283" y="2448763"/>
            <a:ext cx="451714" cy="451714"/>
          </a:xfrm>
          <a:prstGeom prst="rect">
            <a:avLst/>
          </a:prstGeom>
        </p:spPr>
      </p:pic>
      <p:sp>
        <p:nvSpPr>
          <p:cNvPr id="12" name="LuSparkles tile"/>
          <p:cNvSpPr/>
          <p:nvPr/>
        </p:nvSpPr>
        <p:spPr>
          <a:xfrm>
            <a:off x="7452360" y="2240280"/>
            <a:ext cx="868680" cy="868680"/>
          </a:xfrm>
          <a:prstGeom prst="roundRect">
            <a:avLst>
              <a:gd name="adj" fmla="val 22000"/>
            </a:avLst>
          </a:prstGeom>
          <a:solidFill>
            <a:schemeClr val="accent2"/>
          </a:solidFill>
          <a:ln/>
        </p:spPr>
      </p:sp>
      <p:pic>
        <p:nvPicPr>
          <p:cNvPr id="13" name="LuSparkles icon" descr="preencoded.png">    </p:cNvPr>
          <p:cNvPicPr>
            <a:picLocks noChangeAspect="1"/>
          </p:cNvPicPr>
          <p:nvPr/>
        </p:nvPicPr>
        <p:blipFill>
          <a:blip r:embed="rId4"/>
          <a:stretch>
            <a:fillRect/>
          </a:stretch>
        </p:blipFill>
        <p:spPr>
          <a:xfrm>
            <a:off x="7660843" y="2448763"/>
            <a:ext cx="451714" cy="451714"/>
          </a:xfrm>
          <a:prstGeom prst="rect">
            <a:avLst/>
          </a:prstGeom>
        </p:spPr>
      </p:pic>
    </p:spTree>
  </p:cSld>
  <p:clrMapOvr>
    <a:masterClrMapping/>
  </p:clrMapOvr>
</p:sld>
</file>

<file path=ppt/theme/theme1.xml><?xml version="1.0" encoding="utf-8"?>
<a:theme xmlns:a="http://schemas.openxmlformats.org/drawingml/2006/main" name="Ledger Teal">
  <a:themeElements>
    <a:clrScheme name="Ledger Teal">
      <a:dk1>
        <a:srgbClr val="14262B"/>
      </a:dk1>
      <a:lt1>
        <a:srgbClr val="FFFFFF"/>
      </a:lt1>
      <a:dk2>
        <a:srgbClr val="0E3B43"/>
      </a:dk2>
      <a:lt2>
        <a:srgbClr val="EEF5F3"/>
      </a:lt2>
      <a:accent1>
        <a:srgbClr val="0E7C66"/>
      </a:accent1>
      <a:accent2>
        <a:srgbClr val="F2A007"/>
      </a:accent2>
      <a:accent3>
        <a:srgbClr val="8FD3BF"/>
      </a:accent3>
      <a:accent4>
        <a:srgbClr val="D9472B"/>
      </a:accent4>
      <a:accent5>
        <a:srgbClr val="2E5266"/>
      </a:accent5>
      <a:accent6>
        <a:srgbClr val="5E7B78"/>
      </a:accent6>
      <a:hlink>
        <a:srgbClr val="0E7C66"/>
      </a:hlink>
      <a:folHlink>
        <a:srgbClr val="5E7B78"/>
      </a:folHlink>
    </a:clrScheme>
    <a:fontScheme name="Ledger Teal">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Digital Inventory and Sales Management System: First Review</dc:title>
  <dc:subject>Community Project, Dept. of CSE (AI &amp; ML), Dr. TTIT, KGF</dc:subject>
  <dc:creator>Keerthana P, L Mohammed Fahad, Mehfuza Khanum, Mohammed Saad</dc:creator>
  <cp:lastModifiedBy>Keerthana P, L Mohammed Fahad, Mehfuza Khanum, Mohammed Saad</cp:lastModifiedBy>
  <cp:revision>1</cp:revision>
  <dcterms:created xsi:type="dcterms:W3CDTF">2026-10-17T04:20:11Z</dcterms:created>
  <dcterms:modified xsi:type="dcterms:W3CDTF">2026-10-17T04:20:11Z</dcterms:modified>
</cp:coreProperties>
</file>