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" id="{206758e6-1ffe-8f85-795e-bd75c4162dfc}">
          <p14:sldIdLst>
            <p14:sldId id="256"/>
          </p14:sldIdLst>
        </p14:section>
        <p14:section name="Overview" id="{11014bdb-6889-5b4e-ff3b-03cdb6565db6}">
          <p14:sldIdLst>
            <p14:sldId id="257"/>
          </p14:sldIdLst>
        </p14:section>
        <p14:section name="The project" id="{d493dca1-2be3-ca75-1b28-10d69dfec30a}">
          <p14:sldIdLst>
            <p14:sldId id="258"/>
            <p14:sldId id="259"/>
            <p14:sldId id="260"/>
          </p14:sldIdLst>
        </p14:section>
        <p14:section name="Research" id="{5953f7b2-42d4-764c-b069-4e461bad485f}">
          <p14:sldIdLst>
            <p14:sldId id="261"/>
          </p14:sldIdLst>
        </p14:section>
        <p14:section name="Approach" id="{d7584084-146d-054d-b359-d6ddaba279ae}">
          <p14:sldIdLst>
            <p14:sldId id="262"/>
            <p14:sldId id="263"/>
            <p14:sldId id="264"/>
          </p14:sldIdLst>
        </p14:section>
        <p14:section name="Close" id="{ee30dab3-0d2d-7a18-8cad-7698d44bfdf5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team, the guide and the project title: a web application that runs a retail store’s stock, purchases, billing and GST, with AI to help decide what to reorder.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parts for this first review: abstract, introduction, objectives, literature review and methodology.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web app for the whole store. Six parts: catalogue and stock, billing, GST, purchases, reports and 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how many shops work today. Right: what the system changes. The stack is MongoDB, Express, React and Node.js.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Eight objectives: the first five run the shop day to day, the last three add AI and security.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Existing systems cover stock or billing, but not GST billing, purchasing, forecasting and an assistant together. That gap is what this project fills.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steps, from studying how shops work today to evaluating with a year of demo sales. The system is built module by module, each one tested before the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tiers in one repository with a shared package. Google Gemini is optional and only used by the assistant.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Forecast, decide, confirm. The forecasting runs inside the system with no external service; the owner always has the final say.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the panel and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502920"/>
            <a:ext cx="64008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Title</a:t>
            </a: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Digital Inventory &amp; Sales Management System  ·  Dept. of CSE (AI &amp; ML), Dr. TTIT, KGF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TU logo backing"/>
          <p:cNvSpPr/>
          <p:nvPr/>
        </p:nvSpPr>
        <p:spPr>
          <a:xfrm>
            <a:off x="411480" y="256032"/>
            <a:ext cx="868680" cy="868680"/>
          </a:xfrm>
          <a:prstGeom prst="roundRect">
            <a:avLst>
              <a:gd name="adj" fmla="val 18947"/>
            </a:avLst>
          </a:prstGeom>
          <a:solidFill>
            <a:schemeClr val="bg1"/>
          </a:solidFill>
          <a:ln/>
        </p:spPr>
      </p:sp>
      <p:pic>
        <p:nvPicPr>
          <p:cNvPr id="3" name="VTU logo" descr="VTU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329184"/>
            <a:ext cx="722376" cy="722376"/>
          </a:xfrm>
          <a:prstGeom prst="rect">
            <a:avLst/>
          </a:prstGeom>
        </p:spPr>
      </p:pic>
      <p:sp>
        <p:nvSpPr>
          <p:cNvPr id="4" name="Dr. TTIT logo backing"/>
          <p:cNvSpPr/>
          <p:nvPr/>
        </p:nvSpPr>
        <p:spPr>
          <a:xfrm>
            <a:off x="7863840" y="256032"/>
            <a:ext cx="868680" cy="868680"/>
          </a:xfrm>
          <a:prstGeom prst="roundRect">
            <a:avLst>
              <a:gd name="adj" fmla="val 18947"/>
            </a:avLst>
          </a:prstGeom>
          <a:solidFill>
            <a:schemeClr val="bg1"/>
          </a:solidFill>
          <a:ln/>
        </p:spPr>
      </p:sp>
      <p:pic>
        <p:nvPicPr>
          <p:cNvPr id="5" name="Dr. TTIT logo" descr="Dr. TTIT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6992" y="329184"/>
            <a:ext cx="722376" cy="722376"/>
          </a:xfrm>
          <a:prstGeom prst="rect">
            <a:avLst/>
          </a:prstGeom>
        </p:spPr>
      </p:pic>
      <p:sp>
        <p:nvSpPr>
          <p:cNvPr id="6" name="Institution"/>
          <p:cNvSpPr txBox="1"/>
          <p:nvPr/>
        </p:nvSpPr>
        <p:spPr>
          <a:xfrm>
            <a:off x="1417320" y="274320"/>
            <a:ext cx="6309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bg1"/>
                </a:solidFill>
              </a:rPr>
              <a:t>VISVESVARAYA TECHNOLOGICAL UNIVERSITY, BELAGAVI</a:t>
            </a:r>
            <a:endParaRPr lang="en-US" sz="13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chemeClr val="accent2"/>
                </a:solidFill>
              </a:rPr>
              <a:t>Dr. T. THIMMAIAH INSTITUTE OF TECHNOLOGY, KGF</a:t>
            </a:r>
            <a:endParaRPr lang="en-US" sz="13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accent3"/>
                </a:solidFill>
              </a:rPr>
              <a:t>Department of Computer Science &amp; Engineering (AI &amp; ML)</a:t>
            </a:r>
            <a:endParaRPr lang="en-US" sz="1300" dirty="0"/>
          </a:p>
        </p:txBody>
      </p:sp>
      <p:sp>
        <p:nvSpPr>
          <p:cNvPr id="7" name="Review chip"/>
          <p:cNvSpPr/>
          <p:nvPr/>
        </p:nvSpPr>
        <p:spPr>
          <a:xfrm>
            <a:off x="457200" y="1417320"/>
            <a:ext cx="2788920" cy="3108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8" name="Review chip text"/>
          <p:cNvSpPr txBox="1"/>
          <p:nvPr/>
        </p:nvSpPr>
        <p:spPr>
          <a:xfrm>
            <a:off x="457200" y="1417320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tx1"/>
                </a:solidFill>
              </a:rPr>
              <a:t>COMMUNITY PROJECT  ·  FIRST REVIEW</a:t>
            </a:r>
            <a:endParaRPr lang="en-US" sz="1000" dirty="0"/>
          </a:p>
        </p:txBody>
      </p:sp>
      <p:sp>
        <p:nvSpPr>
          <p:cNvPr id="9" name="Project title"/>
          <p:cNvSpPr txBox="1"/>
          <p:nvPr/>
        </p:nvSpPr>
        <p:spPr>
          <a:xfrm>
            <a:off x="457200" y="1810512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Inventory &amp; Sales Management System</a:t>
            </a:r>
            <a:endParaRPr lang="en-US" sz="3000" dirty="0"/>
          </a:p>
        </p:txBody>
      </p:sp>
      <p:sp>
        <p:nvSpPr>
          <p:cNvPr id="10" name="Tagline"/>
          <p:cNvSpPr txBox="1"/>
          <p:nvPr/>
        </p:nvSpPr>
        <p:spPr>
          <a:xfrm>
            <a:off x="457200" y="2907792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3"/>
                </a:solidFill>
              </a:rPr>
              <a:t>Stock  ·  Billing  ·  GST  ·  AI-assisted restocking</a:t>
            </a:r>
            <a:endParaRPr lang="en-US" sz="1400" dirty="0"/>
          </a:p>
        </p:txBody>
      </p:sp>
      <p:sp>
        <p:nvSpPr>
          <p:cNvPr id="11" name="Team card"/>
          <p:cNvSpPr/>
          <p:nvPr/>
        </p:nvSpPr>
        <p:spPr>
          <a:xfrm>
            <a:off x="457200" y="3364992"/>
            <a:ext cx="4663440" cy="1371600"/>
          </a:xfrm>
          <a:prstGeom prst="roundRect">
            <a:avLst>
              <a:gd name="adj" fmla="val 8000"/>
            </a:avLst>
          </a:prstGeom>
          <a:solidFill>
            <a:schemeClr val="bg1">
              <a:alpha val="10000"/>
            </a:schemeClr>
          </a:solidFill>
          <a:ln w="9525">
            <a:solidFill>
              <a:schemeClr val="accent3">
                <a:alpha val="30000"/>
              </a:schemeClr>
            </a:solidFill>
            <a:prstDash val="solid"/>
          </a:ln>
        </p:spPr>
      </p:sp>
      <p:sp>
        <p:nvSpPr>
          <p:cNvPr id="12" name="Team label"/>
          <p:cNvSpPr txBox="1"/>
          <p:nvPr/>
        </p:nvSpPr>
        <p:spPr>
          <a:xfrm>
            <a:off x="658368" y="34747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2"/>
                </a:solidFill>
              </a:rPr>
              <a:t>PRESENTED BY</a:t>
            </a:r>
            <a:endParaRPr lang="en-US" sz="1000" dirty="0"/>
          </a:p>
        </p:txBody>
      </p:sp>
      <p:sp>
        <p:nvSpPr>
          <p:cNvPr id="13" name="Member 1"/>
          <p:cNvSpPr txBox="1"/>
          <p:nvPr/>
        </p:nvSpPr>
        <p:spPr>
          <a:xfrm>
            <a:off x="658368" y="3730752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Keerthana P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1GV25CI021</a:t>
            </a:r>
            <a:endParaRPr lang="en-US" sz="1300" dirty="0"/>
          </a:p>
        </p:txBody>
      </p:sp>
      <p:sp>
        <p:nvSpPr>
          <p:cNvPr id="14" name="Member 2"/>
          <p:cNvSpPr txBox="1"/>
          <p:nvPr/>
        </p:nvSpPr>
        <p:spPr>
          <a:xfrm>
            <a:off x="2898648" y="3730752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L Mohammed Fahad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1GV25CI023</a:t>
            </a:r>
            <a:endParaRPr lang="en-US" sz="1300" dirty="0"/>
          </a:p>
        </p:txBody>
      </p:sp>
      <p:sp>
        <p:nvSpPr>
          <p:cNvPr id="15" name="Member 3"/>
          <p:cNvSpPr txBox="1"/>
          <p:nvPr/>
        </p:nvSpPr>
        <p:spPr>
          <a:xfrm>
            <a:off x="658368" y="4187952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Mehfuza Khanum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1GV25CI026</a:t>
            </a:r>
            <a:endParaRPr lang="en-US" sz="1300" dirty="0"/>
          </a:p>
        </p:txBody>
      </p:sp>
      <p:sp>
        <p:nvSpPr>
          <p:cNvPr id="16" name="Member 4"/>
          <p:cNvSpPr txBox="1"/>
          <p:nvPr/>
        </p:nvSpPr>
        <p:spPr>
          <a:xfrm>
            <a:off x="2898648" y="4187952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Mohammed Saad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1GV25CI028</a:t>
            </a:r>
            <a:endParaRPr lang="en-US" sz="1300" dirty="0"/>
          </a:p>
        </p:txBody>
      </p:sp>
      <p:sp>
        <p:nvSpPr>
          <p:cNvPr id="17" name="Screenshot frame"/>
          <p:cNvSpPr/>
          <p:nvPr/>
        </p:nvSpPr>
        <p:spPr>
          <a:xfrm>
            <a:off x="5349240" y="1417320"/>
            <a:ext cx="3383280" cy="2167128"/>
          </a:xfrm>
          <a:prstGeom prst="roundRect">
            <a:avLst>
              <a:gd name="adj" fmla="val 337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pic>
        <p:nvPicPr>
          <p:cNvPr id="18" name="Dashboard screenshot" descr="The system’s dashboard: net sales, profit, bills and a sales trend char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3248" y="1481328"/>
            <a:ext cx="3255264" cy="2039112"/>
          </a:xfrm>
          <a:prstGeom prst="rect">
            <a:avLst/>
          </a:prstGeom>
        </p:spPr>
      </p:pic>
      <p:sp>
        <p:nvSpPr>
          <p:cNvPr id="19" name="Guide"/>
          <p:cNvSpPr txBox="1"/>
          <p:nvPr/>
        </p:nvSpPr>
        <p:spPr>
          <a:xfrm>
            <a:off x="5349240" y="3840480"/>
            <a:ext cx="3383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b="1" spc="200" kern="0" dirty="0">
                <a:solidFill>
                  <a:schemeClr val="accent2"/>
                </a:solidFill>
              </a:rPr>
              <a:t>UNDER THE GUIDANCE OF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bg1"/>
                </a:solidFill>
              </a:rPr>
              <a:t>Prof. APOORVA D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accent3"/>
                </a:solidFill>
              </a:rPr>
              <a:t>Assistant Professor, Dept. of CSE (AI &amp; ML)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457200" y="274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FIRST REVIEW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5029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Contents</a:t>
            </a:r>
            <a:endParaRPr lang="en-US" sz="3400" dirty="0"/>
          </a:p>
        </p:txBody>
      </p:sp>
      <p:sp>
        <p:nvSpPr>
          <p:cNvPr id="4" name="Abstract card"/>
          <p:cNvSpPr/>
          <p:nvPr/>
        </p:nvSpPr>
        <p:spPr>
          <a:xfrm>
            <a:off x="457200" y="1463040"/>
            <a:ext cx="1517904" cy="2834640"/>
          </a:xfrm>
          <a:prstGeom prst="roundRect">
            <a:avLst>
              <a:gd name="adj" fmla="val 7229"/>
            </a:avLst>
          </a:prstGeom>
          <a:solidFill>
            <a:schemeClr val="bg2"/>
          </a:solidFill>
          <a:ln/>
        </p:spPr>
      </p:sp>
      <p:sp>
        <p:nvSpPr>
          <p:cNvPr id="5" name="LuFileText tile"/>
          <p:cNvSpPr/>
          <p:nvPr/>
        </p:nvSpPr>
        <p:spPr>
          <a:xfrm>
            <a:off x="685800" y="1691640"/>
            <a:ext cx="566928" cy="566928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</p:sp>
      <p:pic>
        <p:nvPicPr>
          <p:cNvPr id="6" name="LuFileText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863" y="1827703"/>
            <a:ext cx="294803" cy="294803"/>
          </a:xfrm>
          <a:prstGeom prst="rect">
            <a:avLst/>
          </a:prstGeom>
        </p:spPr>
      </p:pic>
      <p:sp>
        <p:nvSpPr>
          <p:cNvPr id="7" name="Abstract number"/>
          <p:cNvSpPr txBox="1"/>
          <p:nvPr/>
        </p:nvSpPr>
        <p:spPr>
          <a:xfrm>
            <a:off x="685800" y="2468880"/>
            <a:ext cx="1152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200" dirty="0"/>
          </a:p>
        </p:txBody>
      </p:sp>
      <p:sp>
        <p:nvSpPr>
          <p:cNvPr id="8" name="Abstract label"/>
          <p:cNvSpPr txBox="1"/>
          <p:nvPr/>
        </p:nvSpPr>
        <p:spPr>
          <a:xfrm>
            <a:off x="685800" y="3063240"/>
            <a:ext cx="11978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Abstract</a:t>
            </a:r>
            <a:endParaRPr lang="en-US" sz="1600" dirty="0"/>
          </a:p>
        </p:txBody>
      </p:sp>
      <p:sp>
        <p:nvSpPr>
          <p:cNvPr id="9" name="Abstract note"/>
          <p:cNvSpPr txBox="1"/>
          <p:nvPr/>
        </p:nvSpPr>
        <p:spPr>
          <a:xfrm>
            <a:off x="685800" y="3611880"/>
            <a:ext cx="1197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The project at a glance</a:t>
            </a:r>
            <a:endParaRPr lang="en-US" sz="1200" dirty="0"/>
          </a:p>
        </p:txBody>
      </p:sp>
      <p:sp>
        <p:nvSpPr>
          <p:cNvPr id="10" name="Introduction card"/>
          <p:cNvSpPr/>
          <p:nvPr/>
        </p:nvSpPr>
        <p:spPr>
          <a:xfrm>
            <a:off x="2135124" y="1463040"/>
            <a:ext cx="1517904" cy="2834640"/>
          </a:xfrm>
          <a:prstGeom prst="roundRect">
            <a:avLst>
              <a:gd name="adj" fmla="val 7229"/>
            </a:avLst>
          </a:prstGeom>
          <a:solidFill>
            <a:schemeClr val="bg2"/>
          </a:solidFill>
          <a:ln/>
        </p:spPr>
      </p:sp>
      <p:sp>
        <p:nvSpPr>
          <p:cNvPr id="11" name="LuStore tile"/>
          <p:cNvSpPr/>
          <p:nvPr/>
        </p:nvSpPr>
        <p:spPr>
          <a:xfrm>
            <a:off x="2363724" y="1691640"/>
            <a:ext cx="566928" cy="566928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</p:sp>
      <p:pic>
        <p:nvPicPr>
          <p:cNvPr id="12" name="LuStore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9787" y="1827703"/>
            <a:ext cx="294803" cy="294803"/>
          </a:xfrm>
          <a:prstGeom prst="rect">
            <a:avLst/>
          </a:prstGeom>
        </p:spPr>
      </p:pic>
      <p:sp>
        <p:nvSpPr>
          <p:cNvPr id="13" name="Introduction number"/>
          <p:cNvSpPr txBox="1"/>
          <p:nvPr/>
        </p:nvSpPr>
        <p:spPr>
          <a:xfrm>
            <a:off x="2363724" y="2468880"/>
            <a:ext cx="1152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200" dirty="0"/>
          </a:p>
        </p:txBody>
      </p:sp>
      <p:sp>
        <p:nvSpPr>
          <p:cNvPr id="14" name="Introduction label"/>
          <p:cNvSpPr txBox="1"/>
          <p:nvPr/>
        </p:nvSpPr>
        <p:spPr>
          <a:xfrm>
            <a:off x="2363724" y="3063240"/>
            <a:ext cx="11978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Introduction</a:t>
            </a:r>
            <a:endParaRPr lang="en-US" sz="1600" dirty="0"/>
          </a:p>
        </p:txBody>
      </p:sp>
      <p:sp>
        <p:nvSpPr>
          <p:cNvPr id="15" name="Introduction note"/>
          <p:cNvSpPr txBox="1"/>
          <p:nvPr/>
        </p:nvSpPr>
        <p:spPr>
          <a:xfrm>
            <a:off x="2363724" y="3611880"/>
            <a:ext cx="1197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The problem and our answer</a:t>
            </a:r>
            <a:endParaRPr lang="en-US" sz="1200" dirty="0"/>
          </a:p>
        </p:txBody>
      </p:sp>
      <p:sp>
        <p:nvSpPr>
          <p:cNvPr id="16" name="Objectives card"/>
          <p:cNvSpPr/>
          <p:nvPr/>
        </p:nvSpPr>
        <p:spPr>
          <a:xfrm>
            <a:off x="3813048" y="1463040"/>
            <a:ext cx="1517904" cy="2834640"/>
          </a:xfrm>
          <a:prstGeom prst="roundRect">
            <a:avLst>
              <a:gd name="adj" fmla="val 7229"/>
            </a:avLst>
          </a:prstGeom>
          <a:solidFill>
            <a:schemeClr val="bg2"/>
          </a:solidFill>
          <a:ln/>
        </p:spPr>
      </p:sp>
      <p:sp>
        <p:nvSpPr>
          <p:cNvPr id="17" name="LuTarget tile"/>
          <p:cNvSpPr/>
          <p:nvPr/>
        </p:nvSpPr>
        <p:spPr>
          <a:xfrm>
            <a:off x="4041648" y="1691640"/>
            <a:ext cx="566928" cy="566928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</p:sp>
      <p:pic>
        <p:nvPicPr>
          <p:cNvPr id="18" name="LuTarget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7711" y="1827703"/>
            <a:ext cx="294803" cy="294803"/>
          </a:xfrm>
          <a:prstGeom prst="rect">
            <a:avLst/>
          </a:prstGeom>
        </p:spPr>
      </p:pic>
      <p:sp>
        <p:nvSpPr>
          <p:cNvPr id="19" name="Objectives number"/>
          <p:cNvSpPr txBox="1"/>
          <p:nvPr/>
        </p:nvSpPr>
        <p:spPr>
          <a:xfrm>
            <a:off x="4041648" y="2468880"/>
            <a:ext cx="1152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200" dirty="0"/>
          </a:p>
        </p:txBody>
      </p:sp>
      <p:sp>
        <p:nvSpPr>
          <p:cNvPr id="20" name="Objectives label"/>
          <p:cNvSpPr txBox="1"/>
          <p:nvPr/>
        </p:nvSpPr>
        <p:spPr>
          <a:xfrm>
            <a:off x="4041648" y="3063240"/>
            <a:ext cx="11978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Objectives</a:t>
            </a:r>
            <a:endParaRPr lang="en-US" sz="1600" dirty="0"/>
          </a:p>
        </p:txBody>
      </p:sp>
      <p:sp>
        <p:nvSpPr>
          <p:cNvPr id="21" name="Objectives note"/>
          <p:cNvSpPr txBox="1"/>
          <p:nvPr/>
        </p:nvSpPr>
        <p:spPr>
          <a:xfrm>
            <a:off x="4041648" y="3611880"/>
            <a:ext cx="1197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What the system must do</a:t>
            </a:r>
            <a:endParaRPr lang="en-US" sz="1200" dirty="0"/>
          </a:p>
        </p:txBody>
      </p:sp>
      <p:sp>
        <p:nvSpPr>
          <p:cNvPr id="22" name="Literature Review card"/>
          <p:cNvSpPr/>
          <p:nvPr/>
        </p:nvSpPr>
        <p:spPr>
          <a:xfrm>
            <a:off x="5490972" y="1463040"/>
            <a:ext cx="1517904" cy="2834640"/>
          </a:xfrm>
          <a:prstGeom prst="roundRect">
            <a:avLst>
              <a:gd name="adj" fmla="val 7229"/>
            </a:avLst>
          </a:prstGeom>
          <a:solidFill>
            <a:schemeClr val="bg2"/>
          </a:solidFill>
          <a:ln/>
        </p:spPr>
      </p:sp>
      <p:sp>
        <p:nvSpPr>
          <p:cNvPr id="23" name="LuBookOpen tile"/>
          <p:cNvSpPr/>
          <p:nvPr/>
        </p:nvSpPr>
        <p:spPr>
          <a:xfrm>
            <a:off x="5719572" y="1691640"/>
            <a:ext cx="566928" cy="566928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</p:sp>
      <p:pic>
        <p:nvPicPr>
          <p:cNvPr id="24" name="LuBookOpen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5635" y="1827703"/>
            <a:ext cx="294803" cy="294803"/>
          </a:xfrm>
          <a:prstGeom prst="rect">
            <a:avLst/>
          </a:prstGeom>
        </p:spPr>
      </p:pic>
      <p:sp>
        <p:nvSpPr>
          <p:cNvPr id="25" name="Literature Review number"/>
          <p:cNvSpPr txBox="1"/>
          <p:nvPr/>
        </p:nvSpPr>
        <p:spPr>
          <a:xfrm>
            <a:off x="5719572" y="2468880"/>
            <a:ext cx="1152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200" dirty="0"/>
          </a:p>
        </p:txBody>
      </p:sp>
      <p:sp>
        <p:nvSpPr>
          <p:cNvPr id="26" name="Literature Review label"/>
          <p:cNvSpPr txBox="1"/>
          <p:nvPr/>
        </p:nvSpPr>
        <p:spPr>
          <a:xfrm>
            <a:off x="5719572" y="3063240"/>
            <a:ext cx="11978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Literature Review</a:t>
            </a:r>
            <a:endParaRPr lang="en-US" sz="1600" dirty="0"/>
          </a:p>
        </p:txBody>
      </p:sp>
      <p:sp>
        <p:nvSpPr>
          <p:cNvPr id="27" name="Literature Review note"/>
          <p:cNvSpPr txBox="1"/>
          <p:nvPr/>
        </p:nvSpPr>
        <p:spPr>
          <a:xfrm>
            <a:off x="5719572" y="3611880"/>
            <a:ext cx="1197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What others have built</a:t>
            </a:r>
            <a:endParaRPr lang="en-US" sz="1200" dirty="0"/>
          </a:p>
        </p:txBody>
      </p:sp>
      <p:sp>
        <p:nvSpPr>
          <p:cNvPr id="28" name="Methodology card"/>
          <p:cNvSpPr/>
          <p:nvPr/>
        </p:nvSpPr>
        <p:spPr>
          <a:xfrm>
            <a:off x="7168896" y="1463040"/>
            <a:ext cx="1517904" cy="2834640"/>
          </a:xfrm>
          <a:prstGeom prst="roundRect">
            <a:avLst>
              <a:gd name="adj" fmla="val 7229"/>
            </a:avLst>
          </a:prstGeom>
          <a:solidFill>
            <a:schemeClr val="bg2"/>
          </a:solidFill>
          <a:ln/>
        </p:spPr>
      </p:sp>
      <p:sp>
        <p:nvSpPr>
          <p:cNvPr id="29" name="LuWorkflow tile"/>
          <p:cNvSpPr/>
          <p:nvPr/>
        </p:nvSpPr>
        <p:spPr>
          <a:xfrm>
            <a:off x="7397496" y="1691640"/>
            <a:ext cx="566928" cy="566928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</p:sp>
      <p:pic>
        <p:nvPicPr>
          <p:cNvPr id="30" name="LuWorkflow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3559" y="1827703"/>
            <a:ext cx="294803" cy="294803"/>
          </a:xfrm>
          <a:prstGeom prst="rect">
            <a:avLst/>
          </a:prstGeom>
        </p:spPr>
      </p:pic>
      <p:sp>
        <p:nvSpPr>
          <p:cNvPr id="31" name="Methodology number"/>
          <p:cNvSpPr txBox="1"/>
          <p:nvPr/>
        </p:nvSpPr>
        <p:spPr>
          <a:xfrm>
            <a:off x="7397496" y="2468880"/>
            <a:ext cx="1152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200" dirty="0"/>
          </a:p>
        </p:txBody>
      </p:sp>
      <p:sp>
        <p:nvSpPr>
          <p:cNvPr id="32" name="Methodology label"/>
          <p:cNvSpPr txBox="1"/>
          <p:nvPr/>
        </p:nvSpPr>
        <p:spPr>
          <a:xfrm>
            <a:off x="7397496" y="3063240"/>
            <a:ext cx="11978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Methodology</a:t>
            </a:r>
            <a:endParaRPr lang="en-US" sz="1600" dirty="0"/>
          </a:p>
        </p:txBody>
      </p:sp>
      <p:sp>
        <p:nvSpPr>
          <p:cNvPr id="33" name="Methodology note"/>
          <p:cNvSpPr txBox="1"/>
          <p:nvPr/>
        </p:nvSpPr>
        <p:spPr>
          <a:xfrm>
            <a:off x="7397496" y="3611880"/>
            <a:ext cx="1197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How we are building it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457200" y="274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01 · ABSTRACT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5029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</a:t>
            </a:r>
            <a:endParaRPr lang="en-US" sz="3400" dirty="0"/>
          </a:p>
        </p:txBody>
      </p:sp>
      <p:sp>
        <p:nvSpPr>
          <p:cNvPr id="4" name="Summary"/>
          <p:cNvSpPr txBox="1"/>
          <p:nvPr/>
        </p:nvSpPr>
        <p:spPr>
          <a:xfrm>
            <a:off x="457200" y="1371600"/>
            <a:ext cx="32461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 web application that runs a retail store’s catalogue, stock, purchases, billing and reports in one place, following Indian GST rules, with AI that helps the owner decide what to reorder and when.</a:t>
            </a:r>
            <a:endParaRPr lang="en-US" sz="1500" dirty="0"/>
          </a:p>
        </p:txBody>
      </p:sp>
      <p:sp>
        <p:nvSpPr>
          <p:cNvPr id="5" name="Stat 1"/>
          <p:cNvSpPr txBox="1"/>
          <p:nvPr/>
        </p:nvSpPr>
        <p:spPr>
          <a:xfrm>
            <a:off x="457200" y="301752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6" name="Stat 1 label"/>
          <p:cNvSpPr txBox="1"/>
          <p:nvPr/>
        </p:nvSpPr>
        <p:spPr>
          <a:xfrm>
            <a:off x="1645920" y="301752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user roles: admin, manager, cashier</a:t>
            </a:r>
            <a:endParaRPr lang="en-US" sz="1300" dirty="0"/>
          </a:p>
        </p:txBody>
      </p:sp>
      <p:sp>
        <p:nvSpPr>
          <p:cNvPr id="7" name="Stat 2"/>
          <p:cNvSpPr txBox="1"/>
          <p:nvPr/>
        </p:nvSpPr>
        <p:spPr>
          <a:xfrm>
            <a:off x="457200" y="379476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year</a:t>
            </a:r>
            <a:endParaRPr lang="en-US" sz="3000" dirty="0"/>
          </a:p>
        </p:txBody>
      </p:sp>
      <p:sp>
        <p:nvSpPr>
          <p:cNvPr id="8" name="Stat 2 label"/>
          <p:cNvSpPr txBox="1"/>
          <p:nvPr/>
        </p:nvSpPr>
        <p:spPr>
          <a:xfrm>
            <a:off x="1645920" y="379476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of realistic demo sales to test with</a:t>
            </a:r>
            <a:endParaRPr lang="en-US" sz="1300" dirty="0"/>
          </a:p>
        </p:txBody>
      </p:sp>
      <p:sp>
        <p:nvSpPr>
          <p:cNvPr id="9" name="LuBoxes tile"/>
          <p:cNvSpPr/>
          <p:nvPr/>
        </p:nvSpPr>
        <p:spPr>
          <a:xfrm>
            <a:off x="4069080" y="1408176"/>
            <a:ext cx="457200" cy="457200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</p:sp>
      <p:pic>
        <p:nvPicPr>
          <p:cNvPr id="10" name="LuBoxes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78808" y="1517904"/>
            <a:ext cx="237744" cy="237744"/>
          </a:xfrm>
          <a:prstGeom prst="rect">
            <a:avLst/>
          </a:prstGeom>
        </p:spPr>
      </p:pic>
      <p:sp>
        <p:nvSpPr>
          <p:cNvPr id="11" name="Catalogue &amp; stock point"/>
          <p:cNvSpPr txBox="1"/>
          <p:nvPr/>
        </p:nvSpPr>
        <p:spPr>
          <a:xfrm>
            <a:off x="4636008" y="1371600"/>
            <a:ext cx="171907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Catalogue &amp; stock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accent6"/>
                </a:solidFill>
              </a:rPr>
              <a:t>Products, HSN codes and suppliers; every stock change kept in a ledger.</a:t>
            </a:r>
            <a:endParaRPr lang="en-US" sz="1400" dirty="0"/>
          </a:p>
        </p:txBody>
      </p:sp>
      <p:sp>
        <p:nvSpPr>
          <p:cNvPr id="12" name="LuScanBarcode tile"/>
          <p:cNvSpPr/>
          <p:nvPr/>
        </p:nvSpPr>
        <p:spPr>
          <a:xfrm>
            <a:off x="6446520" y="1408176"/>
            <a:ext cx="457200" cy="457200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</p:sp>
      <p:pic>
        <p:nvPicPr>
          <p:cNvPr id="13" name="LuScanBarcode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6248" y="1517904"/>
            <a:ext cx="237744" cy="237744"/>
          </a:xfrm>
          <a:prstGeom prst="rect">
            <a:avLst/>
          </a:prstGeom>
        </p:spPr>
      </p:pic>
      <p:sp>
        <p:nvSpPr>
          <p:cNvPr id="14" name="Fast billing point"/>
          <p:cNvSpPr txBox="1"/>
          <p:nvPr/>
        </p:nvSpPr>
        <p:spPr>
          <a:xfrm>
            <a:off x="7013448" y="1371600"/>
            <a:ext cx="171907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Fast billing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accent6"/>
                </a:solidFill>
              </a:rPr>
              <a:t>Barcode billing, discounts, cash, UPI or card, and a GST invoice PDF.</a:t>
            </a:r>
            <a:endParaRPr lang="en-US" sz="1400" dirty="0"/>
          </a:p>
        </p:txBody>
      </p:sp>
      <p:sp>
        <p:nvSpPr>
          <p:cNvPr id="15" name="LuReceiptIndianRupee tile"/>
          <p:cNvSpPr/>
          <p:nvPr/>
        </p:nvSpPr>
        <p:spPr>
          <a:xfrm>
            <a:off x="4069080" y="2505456"/>
            <a:ext cx="457200" cy="457200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</p:sp>
      <p:pic>
        <p:nvPicPr>
          <p:cNvPr id="16" name="LuReceiptIndianRupee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8808" y="2615184"/>
            <a:ext cx="237744" cy="237744"/>
          </a:xfrm>
          <a:prstGeom prst="rect">
            <a:avLst/>
          </a:prstGeom>
        </p:spPr>
      </p:pic>
      <p:sp>
        <p:nvSpPr>
          <p:cNvPr id="17" name="GST ready point"/>
          <p:cNvSpPr txBox="1"/>
          <p:nvPr/>
        </p:nvSpPr>
        <p:spPr>
          <a:xfrm>
            <a:off x="4636008" y="2468880"/>
            <a:ext cx="171907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GST ready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accent6"/>
                </a:solidFill>
              </a:rPr>
              <a:t>CGST + SGST or IGST by place of supply; credit notes for returns.</a:t>
            </a:r>
            <a:endParaRPr lang="en-US" sz="1400" dirty="0"/>
          </a:p>
        </p:txBody>
      </p:sp>
      <p:sp>
        <p:nvSpPr>
          <p:cNvPr id="18" name="LuTruck tile"/>
          <p:cNvSpPr/>
          <p:nvPr/>
        </p:nvSpPr>
        <p:spPr>
          <a:xfrm>
            <a:off x="6446520" y="2505456"/>
            <a:ext cx="457200" cy="457200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</p:sp>
      <p:pic>
        <p:nvPicPr>
          <p:cNvPr id="19" name="LuTruck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6248" y="2615184"/>
            <a:ext cx="237744" cy="237744"/>
          </a:xfrm>
          <a:prstGeom prst="rect">
            <a:avLst/>
          </a:prstGeom>
        </p:spPr>
      </p:pic>
      <p:sp>
        <p:nvSpPr>
          <p:cNvPr id="20" name="Purchases point"/>
          <p:cNvSpPr txBox="1"/>
          <p:nvPr/>
        </p:nvSpPr>
        <p:spPr>
          <a:xfrm>
            <a:off x="7013448" y="2468880"/>
            <a:ext cx="171907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Purchases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accent6"/>
                </a:solidFill>
              </a:rPr>
              <a:t>Purchase orders, part deliveries and average cost price.</a:t>
            </a:r>
            <a:endParaRPr lang="en-US" sz="1400" dirty="0"/>
          </a:p>
        </p:txBody>
      </p:sp>
      <p:sp>
        <p:nvSpPr>
          <p:cNvPr id="21" name="LuChartColumn tile"/>
          <p:cNvSpPr/>
          <p:nvPr/>
        </p:nvSpPr>
        <p:spPr>
          <a:xfrm>
            <a:off x="4069080" y="3602736"/>
            <a:ext cx="457200" cy="457200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</p:sp>
      <p:pic>
        <p:nvPicPr>
          <p:cNvPr id="22" name="LuChartColumn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78808" y="3712464"/>
            <a:ext cx="237744" cy="237744"/>
          </a:xfrm>
          <a:prstGeom prst="rect">
            <a:avLst/>
          </a:prstGeom>
        </p:spPr>
      </p:pic>
      <p:sp>
        <p:nvSpPr>
          <p:cNvPr id="23" name="Reports point"/>
          <p:cNvSpPr txBox="1"/>
          <p:nvPr/>
        </p:nvSpPr>
        <p:spPr>
          <a:xfrm>
            <a:off x="4636008" y="3566160"/>
            <a:ext cx="171907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Reports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accent6"/>
                </a:solidFill>
              </a:rPr>
              <a:t>Sales, profit, GST summary and stock value, as CSV or PDF.</a:t>
            </a:r>
            <a:endParaRPr lang="en-US" sz="1400" dirty="0"/>
          </a:p>
        </p:txBody>
      </p:sp>
      <p:sp>
        <p:nvSpPr>
          <p:cNvPr id="24" name="LuSparkles tile"/>
          <p:cNvSpPr/>
          <p:nvPr/>
        </p:nvSpPr>
        <p:spPr>
          <a:xfrm>
            <a:off x="6446520" y="3602736"/>
            <a:ext cx="457200" cy="457200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</p:sp>
      <p:pic>
        <p:nvPicPr>
          <p:cNvPr id="25" name="LuSparkles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6248" y="3712464"/>
            <a:ext cx="237744" cy="237744"/>
          </a:xfrm>
          <a:prstGeom prst="rect">
            <a:avLst/>
          </a:prstGeom>
        </p:spPr>
      </p:pic>
      <p:sp>
        <p:nvSpPr>
          <p:cNvPr id="26" name="AI assistance point"/>
          <p:cNvSpPr txBox="1"/>
          <p:nvPr/>
        </p:nvSpPr>
        <p:spPr>
          <a:xfrm>
            <a:off x="7013448" y="3566160"/>
            <a:ext cx="171907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AI assistance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accent6"/>
                </a:solidFill>
              </a:rPr>
              <a:t>Demand forecasts, restock plans the owner confirms, a Gemini assistant.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457200" y="274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02 · INTRODUCTION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5029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400" dirty="0"/>
          </a:p>
        </p:txBody>
      </p:sp>
      <p:sp>
        <p:nvSpPr>
          <p:cNvPr id="4" name="Problem panel"/>
          <p:cNvSpPr/>
          <p:nvPr/>
        </p:nvSpPr>
        <p:spPr>
          <a:xfrm>
            <a:off x="457200" y="1371600"/>
            <a:ext cx="3703320" cy="2788920"/>
          </a:xfrm>
          <a:prstGeom prst="roundRect">
            <a:avLst>
              <a:gd name="adj" fmla="val 3934"/>
            </a:avLst>
          </a:prstGeom>
          <a:solidFill>
            <a:schemeClr val="bg2"/>
          </a:solidFill>
          <a:ln/>
        </p:spPr>
      </p:sp>
      <p:sp>
        <p:nvSpPr>
          <p:cNvPr id="5" name="LuTriangleAlert tile"/>
          <p:cNvSpPr/>
          <p:nvPr/>
        </p:nvSpPr>
        <p:spPr>
          <a:xfrm>
            <a:off x="713232" y="1572768"/>
            <a:ext cx="457200" cy="457200"/>
          </a:xfrm>
          <a:prstGeom prst="roundRect">
            <a:avLst>
              <a:gd name="adj" fmla="val 22000"/>
            </a:avLst>
          </a:prstGeom>
          <a:solidFill>
            <a:schemeClr val="accent4"/>
          </a:solidFill>
          <a:ln/>
        </p:spPr>
      </p:sp>
      <p:pic>
        <p:nvPicPr>
          <p:cNvPr id="6" name="LuTriangleAlert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82496"/>
            <a:ext cx="237744" cy="237744"/>
          </a:xfrm>
          <a:prstGeom prst="rect">
            <a:avLst/>
          </a:prstGeom>
        </p:spPr>
      </p:pic>
      <p:sp>
        <p:nvSpPr>
          <p:cNvPr id="7" name="Problem heading"/>
          <p:cNvSpPr txBox="1"/>
          <p:nvPr/>
        </p:nvSpPr>
        <p:spPr>
          <a:xfrm>
            <a:off x="1280160" y="157276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In a small store today</a:t>
            </a:r>
            <a:endParaRPr lang="en-US" sz="1800" dirty="0"/>
          </a:p>
        </p:txBody>
      </p:sp>
      <p:sp>
        <p:nvSpPr>
          <p:cNvPr id="8" name="Problem points"/>
          <p:cNvSpPr txBox="1"/>
          <p:nvPr/>
        </p:nvSpPr>
        <p:spPr>
          <a:xfrm>
            <a:off x="713232" y="2194560"/>
            <a:ext cx="3246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Stock kept in paper registers and spreadsheets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Books drift from the shelf; reorders by guesswork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GST invoices and tax summaries made by hand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 quick view of sales or profit</a:t>
            </a:r>
            <a:endParaRPr lang="en-US" sz="1400" dirty="0"/>
          </a:p>
        </p:txBody>
      </p:sp>
      <p:sp>
        <p:nvSpPr>
          <p:cNvPr id="9" name="Solution panel"/>
          <p:cNvSpPr/>
          <p:nvPr/>
        </p:nvSpPr>
        <p:spPr>
          <a:xfrm>
            <a:off x="4983480" y="1371600"/>
            <a:ext cx="3703320" cy="2788920"/>
          </a:xfrm>
          <a:prstGeom prst="roundRect">
            <a:avLst>
              <a:gd name="adj" fmla="val 3934"/>
            </a:avLst>
          </a:prstGeom>
          <a:solidFill>
            <a:srgbClr val="E2F1EC"/>
          </a:solidFill>
          <a:ln/>
        </p:spPr>
      </p:sp>
      <p:sp>
        <p:nvSpPr>
          <p:cNvPr id="10" name="LuCircleCheck tile"/>
          <p:cNvSpPr/>
          <p:nvPr/>
        </p:nvSpPr>
        <p:spPr>
          <a:xfrm>
            <a:off x="5239512" y="1572768"/>
            <a:ext cx="457200" cy="457200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</p:sp>
      <p:pic>
        <p:nvPicPr>
          <p:cNvPr id="11" name="LuCircleCheck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240" y="1682496"/>
            <a:ext cx="237744" cy="237744"/>
          </a:xfrm>
          <a:prstGeom prst="rect">
            <a:avLst/>
          </a:prstGeom>
        </p:spPr>
      </p:pic>
      <p:sp>
        <p:nvSpPr>
          <p:cNvPr id="12" name="Solution heading"/>
          <p:cNvSpPr txBox="1"/>
          <p:nvPr/>
        </p:nvSpPr>
        <p:spPr>
          <a:xfrm>
            <a:off x="5806440" y="157276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With our system</a:t>
            </a:r>
            <a:endParaRPr lang="en-US" sz="1800" dirty="0"/>
          </a:p>
        </p:txBody>
      </p:sp>
      <p:sp>
        <p:nvSpPr>
          <p:cNvPr id="13" name="Solution points"/>
          <p:cNvSpPr txBox="1"/>
          <p:nvPr/>
        </p:nvSpPr>
        <p:spPr>
          <a:xfrm>
            <a:off x="5239512" y="2194560"/>
            <a:ext cx="3246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One app for stock, purchases and billing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Every movement recorded; stock never goes negative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GST invoices, credit notes and GST summary built in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Dashboard, reports and AI restock tips</a:t>
            </a:r>
            <a:endParaRPr lang="en-US" sz="1400" dirty="0"/>
          </a:p>
        </p:txBody>
      </p:sp>
      <p:sp>
        <p:nvSpPr>
          <p:cNvPr id="14" name="Arrow backing"/>
          <p:cNvSpPr/>
          <p:nvPr/>
        </p:nvSpPr>
        <p:spPr>
          <a:xfrm>
            <a:off x="4325112" y="2560320"/>
            <a:ext cx="502920" cy="502920"/>
          </a:xfrm>
          <a:prstGeom prst="ellipse">
            <a:avLst/>
          </a:prstGeom>
          <a:solidFill>
            <a:schemeClr val="accent2"/>
          </a:solidFill>
          <a:ln/>
          <a:effectLst>
            <a:outerShdw sx="100000" sy="100000" kx="0" ky="0" algn="bl" rotWithShape="0" blurRad="101600" dist="25400" dir="5400000">
              <a:srgbClr val="0B2A30">
                <a:alpha val="18000"/>
              </a:srgbClr>
            </a:outerShdw>
          </a:effectLst>
        </p:spPr>
      </p:sp>
      <p:pic>
        <p:nvPicPr>
          <p:cNvPr id="15" name="Arrow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2670048"/>
            <a:ext cx="283464" cy="283464"/>
          </a:xfrm>
          <a:prstGeom prst="rect">
            <a:avLst/>
          </a:prstGeom>
        </p:spPr>
      </p:pic>
      <p:sp>
        <p:nvSpPr>
          <p:cNvPr id="16" name="LuCode tile"/>
          <p:cNvSpPr/>
          <p:nvPr/>
        </p:nvSpPr>
        <p:spPr>
          <a:xfrm>
            <a:off x="457200" y="4297680"/>
            <a:ext cx="310896" cy="310896"/>
          </a:xfrm>
          <a:prstGeom prst="roundRect">
            <a:avLst>
              <a:gd name="adj" fmla="val 22000"/>
            </a:avLst>
          </a:prstGeom>
          <a:solidFill>
            <a:schemeClr val="bg2"/>
          </a:solidFill>
          <a:ln/>
        </p:spPr>
      </p:sp>
      <p:pic>
        <p:nvPicPr>
          <p:cNvPr id="17" name="LuCode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815" y="4372295"/>
            <a:ext cx="161666" cy="161666"/>
          </a:xfrm>
          <a:prstGeom prst="rect">
            <a:avLst/>
          </a:prstGeom>
        </p:spPr>
      </p:pic>
      <p:sp>
        <p:nvSpPr>
          <p:cNvPr id="18" name="Stack note"/>
          <p:cNvSpPr txBox="1"/>
          <p:nvPr/>
        </p:nvSpPr>
        <p:spPr>
          <a:xfrm>
            <a:off x="868680" y="429768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Built on the MERN stack in TypeScript: MongoDB, Express, React and Node.js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457200" y="274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03 · OBJECTIVES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5029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400" dirty="0"/>
          </a:p>
        </p:txBody>
      </p:sp>
      <p:sp>
        <p:nvSpPr>
          <p:cNvPr id="4" name="Objective 1 card"/>
          <p:cNvSpPr/>
          <p:nvPr/>
        </p:nvSpPr>
        <p:spPr>
          <a:xfrm>
            <a:off x="457200" y="1371600"/>
            <a:ext cx="1901952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5" name="LuBoxes tile"/>
          <p:cNvSpPr/>
          <p:nvPr/>
        </p:nvSpPr>
        <p:spPr>
          <a:xfrm>
            <a:off x="640080" y="1554480"/>
            <a:ext cx="402336" cy="402336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</p:sp>
      <p:pic>
        <p:nvPicPr>
          <p:cNvPr id="6" name="LuBoxes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641" y="1651041"/>
            <a:ext cx="209215" cy="209215"/>
          </a:xfrm>
          <a:prstGeom prst="rect">
            <a:avLst/>
          </a:prstGeom>
        </p:spPr>
      </p:pic>
      <p:sp>
        <p:nvSpPr>
          <p:cNvPr id="7" name="Objective 1 number"/>
          <p:cNvSpPr txBox="1"/>
          <p:nvPr/>
        </p:nvSpPr>
        <p:spPr>
          <a:xfrm>
            <a:off x="1673352" y="1554480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Objective 1"/>
          <p:cNvSpPr txBox="1"/>
          <p:nvPr/>
        </p:nvSpPr>
        <p:spPr>
          <a:xfrm>
            <a:off x="640080" y="2048256"/>
            <a:ext cx="1581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Digitise products and suppliers with HSN codes and GST rates</a:t>
            </a:r>
            <a:endParaRPr lang="en-US" sz="1200" dirty="0"/>
          </a:p>
        </p:txBody>
      </p:sp>
      <p:sp>
        <p:nvSpPr>
          <p:cNvPr id="9" name="Objective 2 card"/>
          <p:cNvSpPr/>
          <p:nvPr/>
        </p:nvSpPr>
        <p:spPr>
          <a:xfrm>
            <a:off x="2565806" y="1371600"/>
            <a:ext cx="1901952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10" name="LuLayers tile"/>
          <p:cNvSpPr/>
          <p:nvPr/>
        </p:nvSpPr>
        <p:spPr>
          <a:xfrm>
            <a:off x="2748686" y="1554480"/>
            <a:ext cx="402336" cy="402336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</p:sp>
      <p:pic>
        <p:nvPicPr>
          <p:cNvPr id="11" name="LuLayers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5247" y="1651041"/>
            <a:ext cx="209215" cy="209215"/>
          </a:xfrm>
          <a:prstGeom prst="rect">
            <a:avLst/>
          </a:prstGeom>
        </p:spPr>
      </p:pic>
      <p:sp>
        <p:nvSpPr>
          <p:cNvPr id="12" name="Objective 2 number"/>
          <p:cNvSpPr txBox="1"/>
          <p:nvPr/>
        </p:nvSpPr>
        <p:spPr>
          <a:xfrm>
            <a:off x="3781958" y="1554480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Objective 2"/>
          <p:cNvSpPr txBox="1"/>
          <p:nvPr/>
        </p:nvSpPr>
        <p:spPr>
          <a:xfrm>
            <a:off x="2748686" y="2048256"/>
            <a:ext cx="1581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Keep stock exact with a ledger and all-or-nothing transactions</a:t>
            </a:r>
            <a:endParaRPr lang="en-US" sz="1200" dirty="0"/>
          </a:p>
        </p:txBody>
      </p:sp>
      <p:sp>
        <p:nvSpPr>
          <p:cNvPr id="14" name="Objective 3 card"/>
          <p:cNvSpPr/>
          <p:nvPr/>
        </p:nvSpPr>
        <p:spPr>
          <a:xfrm>
            <a:off x="4674413" y="1371600"/>
            <a:ext cx="1901952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15" name="LuScanBarcode tile"/>
          <p:cNvSpPr/>
          <p:nvPr/>
        </p:nvSpPr>
        <p:spPr>
          <a:xfrm>
            <a:off x="4857293" y="1554480"/>
            <a:ext cx="402336" cy="402336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</p:sp>
      <p:pic>
        <p:nvPicPr>
          <p:cNvPr id="16" name="LuScanBarcode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853" y="1651041"/>
            <a:ext cx="209215" cy="209215"/>
          </a:xfrm>
          <a:prstGeom prst="rect">
            <a:avLst/>
          </a:prstGeom>
        </p:spPr>
      </p:pic>
      <p:sp>
        <p:nvSpPr>
          <p:cNvPr id="17" name="Objective 3 number"/>
          <p:cNvSpPr txBox="1"/>
          <p:nvPr/>
        </p:nvSpPr>
        <p:spPr>
          <a:xfrm>
            <a:off x="5890565" y="1554480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Objective 3"/>
          <p:cNvSpPr txBox="1"/>
          <p:nvPr/>
        </p:nvSpPr>
        <p:spPr>
          <a:xfrm>
            <a:off x="4857293" y="2048256"/>
            <a:ext cx="1581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Bill quickly at the counter and print a GST invoice</a:t>
            </a:r>
            <a:endParaRPr lang="en-US" sz="1200" dirty="0"/>
          </a:p>
        </p:txBody>
      </p:sp>
      <p:sp>
        <p:nvSpPr>
          <p:cNvPr id="19" name="Objective 4 card"/>
          <p:cNvSpPr/>
          <p:nvPr/>
        </p:nvSpPr>
        <p:spPr>
          <a:xfrm>
            <a:off x="6783019" y="1371600"/>
            <a:ext cx="1901952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20" name="LuTruck tile"/>
          <p:cNvSpPr/>
          <p:nvPr/>
        </p:nvSpPr>
        <p:spPr>
          <a:xfrm>
            <a:off x="6965899" y="1554480"/>
            <a:ext cx="402336" cy="402336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</p:sp>
      <p:pic>
        <p:nvPicPr>
          <p:cNvPr id="21" name="LuTruck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2460" y="1651041"/>
            <a:ext cx="209215" cy="209215"/>
          </a:xfrm>
          <a:prstGeom prst="rect">
            <a:avLst/>
          </a:prstGeom>
        </p:spPr>
      </p:pic>
      <p:sp>
        <p:nvSpPr>
          <p:cNvPr id="22" name="Objective 4 number"/>
          <p:cNvSpPr txBox="1"/>
          <p:nvPr/>
        </p:nvSpPr>
        <p:spPr>
          <a:xfrm>
            <a:off x="7999171" y="1554480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Objective 4"/>
          <p:cNvSpPr txBox="1"/>
          <p:nvPr/>
        </p:nvSpPr>
        <p:spPr>
          <a:xfrm>
            <a:off x="6965899" y="2048256"/>
            <a:ext cx="1581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Handle purchase orders, deliveries and customer returns</a:t>
            </a:r>
            <a:endParaRPr lang="en-US" sz="1200" dirty="0"/>
          </a:p>
        </p:txBody>
      </p:sp>
      <p:sp>
        <p:nvSpPr>
          <p:cNvPr id="24" name="Objective 5 card"/>
          <p:cNvSpPr/>
          <p:nvPr/>
        </p:nvSpPr>
        <p:spPr>
          <a:xfrm>
            <a:off x="457200" y="2907792"/>
            <a:ext cx="1901952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25" name="LuChartColumn tile"/>
          <p:cNvSpPr/>
          <p:nvPr/>
        </p:nvSpPr>
        <p:spPr>
          <a:xfrm>
            <a:off x="640080" y="3090672"/>
            <a:ext cx="402336" cy="402336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</p:sp>
      <p:pic>
        <p:nvPicPr>
          <p:cNvPr id="26" name="LuChartColumn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641" y="3187233"/>
            <a:ext cx="209215" cy="209215"/>
          </a:xfrm>
          <a:prstGeom prst="rect">
            <a:avLst/>
          </a:prstGeom>
        </p:spPr>
      </p:pic>
      <p:sp>
        <p:nvSpPr>
          <p:cNvPr id="27" name="Objective 5 number"/>
          <p:cNvSpPr txBox="1"/>
          <p:nvPr/>
        </p:nvSpPr>
        <p:spPr>
          <a:xfrm>
            <a:off x="1673352" y="3090672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800" dirty="0"/>
          </a:p>
        </p:txBody>
      </p:sp>
      <p:sp>
        <p:nvSpPr>
          <p:cNvPr id="28" name="Objective 5"/>
          <p:cNvSpPr txBox="1"/>
          <p:nvPr/>
        </p:nvSpPr>
        <p:spPr>
          <a:xfrm>
            <a:off x="640080" y="3584448"/>
            <a:ext cx="1581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Show sales, profit and GST in a dashboard and reports</a:t>
            </a:r>
            <a:endParaRPr lang="en-US" sz="1200" dirty="0"/>
          </a:p>
        </p:txBody>
      </p:sp>
      <p:sp>
        <p:nvSpPr>
          <p:cNvPr id="29" name="Objective 6 card"/>
          <p:cNvSpPr/>
          <p:nvPr/>
        </p:nvSpPr>
        <p:spPr>
          <a:xfrm>
            <a:off x="2565806" y="2907792"/>
            <a:ext cx="1901952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30" name="LuTrendingUp tile"/>
          <p:cNvSpPr/>
          <p:nvPr/>
        </p:nvSpPr>
        <p:spPr>
          <a:xfrm>
            <a:off x="2748686" y="3090672"/>
            <a:ext cx="402336" cy="402336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</p:sp>
      <p:pic>
        <p:nvPicPr>
          <p:cNvPr id="31" name="LuTrendingUp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45247" y="3187233"/>
            <a:ext cx="209215" cy="209215"/>
          </a:xfrm>
          <a:prstGeom prst="rect">
            <a:avLst/>
          </a:prstGeom>
        </p:spPr>
      </p:pic>
      <p:sp>
        <p:nvSpPr>
          <p:cNvPr id="32" name="Objective 6 number"/>
          <p:cNvSpPr txBox="1"/>
          <p:nvPr/>
        </p:nvSpPr>
        <p:spPr>
          <a:xfrm>
            <a:off x="3781958" y="3090672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800" dirty="0"/>
          </a:p>
        </p:txBody>
      </p:sp>
      <p:sp>
        <p:nvSpPr>
          <p:cNvPr id="33" name="Objective 6"/>
          <p:cNvSpPr txBox="1"/>
          <p:nvPr/>
        </p:nvSpPr>
        <p:spPr>
          <a:xfrm>
            <a:off x="2748686" y="3584448"/>
            <a:ext cx="1581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Forecast demand and prepare restock plans the owner confirms</a:t>
            </a:r>
            <a:endParaRPr lang="en-US" sz="1200" dirty="0"/>
          </a:p>
        </p:txBody>
      </p:sp>
      <p:sp>
        <p:nvSpPr>
          <p:cNvPr id="34" name="Objective 7 card"/>
          <p:cNvSpPr/>
          <p:nvPr/>
        </p:nvSpPr>
        <p:spPr>
          <a:xfrm>
            <a:off x="4674413" y="2907792"/>
            <a:ext cx="1901952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35" name="LuMessageSquareText tile"/>
          <p:cNvSpPr/>
          <p:nvPr/>
        </p:nvSpPr>
        <p:spPr>
          <a:xfrm>
            <a:off x="4857293" y="3090672"/>
            <a:ext cx="402336" cy="402336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</p:sp>
      <p:pic>
        <p:nvPicPr>
          <p:cNvPr id="36" name="LuMessageSquareText icon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53853" y="3187233"/>
            <a:ext cx="209215" cy="209215"/>
          </a:xfrm>
          <a:prstGeom prst="rect">
            <a:avLst/>
          </a:prstGeom>
        </p:spPr>
      </p:pic>
      <p:sp>
        <p:nvSpPr>
          <p:cNvPr id="37" name="Objective 7 number"/>
          <p:cNvSpPr txBox="1"/>
          <p:nvPr/>
        </p:nvSpPr>
        <p:spPr>
          <a:xfrm>
            <a:off x="5890565" y="3090672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800" dirty="0"/>
          </a:p>
        </p:txBody>
      </p:sp>
      <p:sp>
        <p:nvSpPr>
          <p:cNvPr id="38" name="Objective 7"/>
          <p:cNvSpPr txBox="1"/>
          <p:nvPr/>
        </p:nvSpPr>
        <p:spPr>
          <a:xfrm>
            <a:off x="4857293" y="3584448"/>
            <a:ext cx="1581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Answer the owner’s questions in plain English with AI</a:t>
            </a:r>
            <a:endParaRPr lang="en-US" sz="1200" dirty="0"/>
          </a:p>
        </p:txBody>
      </p:sp>
      <p:sp>
        <p:nvSpPr>
          <p:cNvPr id="39" name="Objective 8 card"/>
          <p:cNvSpPr/>
          <p:nvPr/>
        </p:nvSpPr>
        <p:spPr>
          <a:xfrm>
            <a:off x="6783019" y="2907792"/>
            <a:ext cx="1901952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40" name="LuShieldCheck tile"/>
          <p:cNvSpPr/>
          <p:nvPr/>
        </p:nvSpPr>
        <p:spPr>
          <a:xfrm>
            <a:off x="6965899" y="3090672"/>
            <a:ext cx="402336" cy="402336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</p:sp>
      <p:pic>
        <p:nvPicPr>
          <p:cNvPr id="41" name="LuShieldCheck icon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62460" y="3187233"/>
            <a:ext cx="209215" cy="209215"/>
          </a:xfrm>
          <a:prstGeom prst="rect">
            <a:avLst/>
          </a:prstGeom>
        </p:spPr>
      </p:pic>
      <p:sp>
        <p:nvSpPr>
          <p:cNvPr id="42" name="Objective 8 number"/>
          <p:cNvSpPr txBox="1"/>
          <p:nvPr/>
        </p:nvSpPr>
        <p:spPr>
          <a:xfrm>
            <a:off x="7999171" y="3090672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800" dirty="0"/>
          </a:p>
        </p:txBody>
      </p:sp>
      <p:sp>
        <p:nvSpPr>
          <p:cNvPr id="43" name="Objective 8"/>
          <p:cNvSpPr txBox="1"/>
          <p:nvPr/>
        </p:nvSpPr>
        <p:spPr>
          <a:xfrm>
            <a:off x="6965899" y="3584448"/>
            <a:ext cx="1581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Secure access for admin, manager and cashier roles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457200" y="274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04 · LITERATURE REVIEW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5029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Review</a:t>
            </a:r>
            <a:endParaRPr lang="en-US" sz="3400" dirty="0"/>
          </a:p>
        </p:txBody>
      </p:sp>
      <p:sp>
        <p:nvSpPr>
          <p:cNvPr id="4" name="Papers chip"/>
          <p:cNvSpPr/>
          <p:nvPr/>
        </p:nvSpPr>
        <p:spPr>
          <a:xfrm>
            <a:off x="6720840" y="658368"/>
            <a:ext cx="1965960" cy="329184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5" name="Papers chip text"/>
          <p:cNvSpPr txBox="1"/>
          <p:nvPr/>
        </p:nvSpPr>
        <p:spPr>
          <a:xfrm>
            <a:off x="6720840" y="658368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10 papers reviewed · 6 shown</a:t>
            </a:r>
            <a:endParaRPr lang="en-US" sz="1100" dirty="0"/>
          </a:p>
        </p:txBody>
      </p:sp>
      <p:graphicFrame>
        <p:nvGraphicFramePr>
          <p:cNvPr id="7" name="Literature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914400"/>
        </p:xfrm>
        <a:graphic>
          <a:graphicData uri="http://schemas.openxmlformats.org/drawingml/2006/table">
            <a:tbl>
              <a:tblPr/>
              <a:tblGrid>
                <a:gridCol w="2514600"/>
                <a:gridCol w="3246120"/>
                <a:gridCol w="246888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Study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What it offers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What is missing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[1] Agboola et al., 2022</a:t>
                      </a:r>
                      <a:endParaRPr lang="en-US" sz="11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Web inventory system for SMEs on MySQL, replacing spreadsheets</a:t>
                      </a:r>
                      <a:endParaRPr lang="en-US" sz="11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accent4"/>
                          </a:solidFill>
                        </a:rPr>
                        <a:t>No GST billing, purchase orders or forecasting</a:t>
                      </a:r>
                      <a:endParaRPr lang="en-US" sz="11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[2] Lim et al., 2025 (EzStock)</a:t>
                      </a:r>
                      <a:endParaRPr lang="en-US" sz="11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Real-time stock for small businesses; 93.3% user satisfaction</a:t>
                      </a:r>
                      <a:endParaRPr lang="en-US" sz="11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accent4"/>
                          </a:solidFill>
                        </a:rPr>
                        <a:t>No forecasting or AI restocking</a:t>
                      </a:r>
                      <a:endParaRPr lang="en-US" sz="11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[3] Phuthaikampanatpinya &amp; Dechsupa, 2023</a:t>
                      </a:r>
                      <a:endParaRPr lang="en-US" sz="11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Web point of sale for retail SMEs (PHP, MySQL)</a:t>
                      </a:r>
                      <a:endParaRPr lang="en-US" sz="11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accent4"/>
                          </a:solidFill>
                        </a:rPr>
                        <a:t>No GST invoices or supplier orders</a:t>
                      </a:r>
                      <a:endParaRPr lang="en-US" sz="11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[4] Patil et al., 2022</a:t>
                      </a:r>
                      <a:endParaRPr lang="en-US" sz="11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Account, GST and inventory ERP on cloud storage</a:t>
                      </a:r>
                      <a:endParaRPr lang="en-US" sz="11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accent4"/>
                          </a:solidFill>
                        </a:rPr>
                        <a:t>No demand forecasting or assistant</a:t>
                      </a:r>
                      <a:endParaRPr lang="en-US" sz="11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[5] Nasseri et al., 2023</a:t>
                      </a:r>
                      <a:endParaRPr lang="en-US" sz="11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Tree ensembles beat LSTM for retail demand prediction</a:t>
                      </a:r>
                      <a:endParaRPr lang="en-US" sz="11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accent4"/>
                          </a:solidFill>
                        </a:rPr>
                        <a:t>Forecasting only; not linked to ordering</a:t>
                      </a:r>
                      <a:endParaRPr lang="en-US" sz="11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[6] Jiang et al., 2025 (SiriusBI)</a:t>
                      </a:r>
                      <a:endParaRPr lang="en-US" sz="11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LLM-powered business intelligence, 93% SQL accuracy</a:t>
                      </a:r>
                      <a:endParaRPr lang="en-US" sz="11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accent4"/>
                          </a:solidFill>
                        </a:rPr>
                        <a:t>For analysts; not tied to stock or billing</a:t>
                      </a:r>
                      <a:endParaRPr lang="en-US" sz="11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457200" y="274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05 · METHODOLOGY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5029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3400" dirty="0"/>
          </a:p>
        </p:txBody>
      </p:sp>
      <p:sp>
        <p:nvSpPr>
          <p:cNvPr id="4" name="Flow line"/>
          <p:cNvSpPr/>
          <p:nvPr/>
        </p:nvSpPr>
        <p:spPr>
          <a:xfrm>
            <a:off x="1143000" y="1783080"/>
            <a:ext cx="6858000" cy="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</a:ln>
        </p:spPr>
      </p:sp>
      <p:sp>
        <p:nvSpPr>
          <p:cNvPr id="5" name="Step 1 circle"/>
          <p:cNvSpPr/>
          <p:nvPr/>
        </p:nvSpPr>
        <p:spPr>
          <a:xfrm>
            <a:off x="813816" y="1453896"/>
            <a:ext cx="658368" cy="658368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  <a:prstDash val="solid"/>
          </a:ln>
        </p:spPr>
      </p:sp>
      <p:pic>
        <p:nvPicPr>
          <p:cNvPr id="6" name="Step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1609344"/>
            <a:ext cx="347472" cy="347472"/>
          </a:xfrm>
          <a:prstGeom prst="rect">
            <a:avLst/>
          </a:prstGeom>
        </p:spPr>
      </p:pic>
      <p:sp>
        <p:nvSpPr>
          <p:cNvPr id="7" name="Step 1 label"/>
          <p:cNvSpPr txBox="1"/>
          <p:nvPr/>
        </p:nvSpPr>
        <p:spPr>
          <a:xfrm>
            <a:off x="502920" y="22402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STEP 1</a:t>
            </a:r>
            <a:endParaRPr lang="en-US" sz="1000" dirty="0"/>
          </a:p>
        </p:txBody>
      </p:sp>
      <p:sp>
        <p:nvSpPr>
          <p:cNvPr id="8" name="Step 1 title"/>
          <p:cNvSpPr txBox="1"/>
          <p:nvPr/>
        </p:nvSpPr>
        <p:spPr>
          <a:xfrm>
            <a:off x="502920" y="24688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chemeClr val="tx2"/>
                </a:solidFill>
              </a:rPr>
              <a:t>Study the problem</a:t>
            </a:r>
            <a:endParaRPr lang="en-US" sz="1350" dirty="0"/>
          </a:p>
        </p:txBody>
      </p:sp>
      <p:sp>
        <p:nvSpPr>
          <p:cNvPr id="9" name="Step 1 text"/>
          <p:cNvSpPr txBox="1"/>
          <p:nvPr/>
        </p:nvSpPr>
        <p:spPr>
          <a:xfrm>
            <a:off x="502920" y="292608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Observe how small stores keep stock and bill today</a:t>
            </a:r>
            <a:endParaRPr lang="en-US" sz="1100" dirty="0"/>
          </a:p>
        </p:txBody>
      </p:sp>
      <p:sp>
        <p:nvSpPr>
          <p:cNvPr id="10" name="Step 2 circle"/>
          <p:cNvSpPr/>
          <p:nvPr/>
        </p:nvSpPr>
        <p:spPr>
          <a:xfrm>
            <a:off x="2185416" y="1453896"/>
            <a:ext cx="658368" cy="658368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1"/>
            </a:solidFill>
            <a:prstDash val="solid"/>
          </a:ln>
        </p:spPr>
      </p:sp>
      <p:pic>
        <p:nvPicPr>
          <p:cNvPr id="11" name="Step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0864" y="1609344"/>
            <a:ext cx="347472" cy="347472"/>
          </a:xfrm>
          <a:prstGeom prst="rect">
            <a:avLst/>
          </a:prstGeom>
        </p:spPr>
      </p:pic>
      <p:sp>
        <p:nvSpPr>
          <p:cNvPr id="12" name="Step 2 label"/>
          <p:cNvSpPr txBox="1"/>
          <p:nvPr/>
        </p:nvSpPr>
        <p:spPr>
          <a:xfrm>
            <a:off x="1874520" y="22402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STEP 2</a:t>
            </a:r>
            <a:endParaRPr lang="en-US" sz="1000" dirty="0"/>
          </a:p>
        </p:txBody>
      </p:sp>
      <p:sp>
        <p:nvSpPr>
          <p:cNvPr id="13" name="Step 2 title"/>
          <p:cNvSpPr txBox="1"/>
          <p:nvPr/>
        </p:nvSpPr>
        <p:spPr>
          <a:xfrm>
            <a:off x="1874520" y="24688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chemeClr val="tx2"/>
                </a:solidFill>
              </a:rPr>
              <a:t>Gather requirements</a:t>
            </a:r>
            <a:endParaRPr lang="en-US" sz="1350" dirty="0"/>
          </a:p>
        </p:txBody>
      </p:sp>
      <p:sp>
        <p:nvSpPr>
          <p:cNvPr id="14" name="Step 2 text"/>
          <p:cNvSpPr txBox="1"/>
          <p:nvPr/>
        </p:nvSpPr>
        <p:spPr>
          <a:xfrm>
            <a:off x="1874520" y="292608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Roles, GST rules, billing, stock, purchases, reports</a:t>
            </a:r>
            <a:endParaRPr lang="en-US" sz="1100" dirty="0"/>
          </a:p>
        </p:txBody>
      </p:sp>
      <p:sp>
        <p:nvSpPr>
          <p:cNvPr id="15" name="Step 3 circle"/>
          <p:cNvSpPr/>
          <p:nvPr/>
        </p:nvSpPr>
        <p:spPr>
          <a:xfrm>
            <a:off x="3557016" y="1453896"/>
            <a:ext cx="658368" cy="658368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  <a:prstDash val="solid"/>
          </a:ln>
        </p:spPr>
      </p:sp>
      <p:pic>
        <p:nvPicPr>
          <p:cNvPr id="16" name="Step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2464" y="1609344"/>
            <a:ext cx="347472" cy="347472"/>
          </a:xfrm>
          <a:prstGeom prst="rect">
            <a:avLst/>
          </a:prstGeom>
        </p:spPr>
      </p:pic>
      <p:sp>
        <p:nvSpPr>
          <p:cNvPr id="17" name="Step 3 label"/>
          <p:cNvSpPr txBox="1"/>
          <p:nvPr/>
        </p:nvSpPr>
        <p:spPr>
          <a:xfrm>
            <a:off x="3246120" y="22402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STEP 3</a:t>
            </a:r>
            <a:endParaRPr lang="en-US" sz="1000" dirty="0"/>
          </a:p>
        </p:txBody>
      </p:sp>
      <p:sp>
        <p:nvSpPr>
          <p:cNvPr id="18" name="Step 3 title"/>
          <p:cNvSpPr txBox="1"/>
          <p:nvPr/>
        </p:nvSpPr>
        <p:spPr>
          <a:xfrm>
            <a:off x="3246120" y="24688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chemeClr val="tx2"/>
                </a:solidFill>
              </a:rPr>
              <a:t>Design</a:t>
            </a:r>
            <a:endParaRPr lang="en-US" sz="1350" dirty="0"/>
          </a:p>
        </p:txBody>
      </p:sp>
      <p:sp>
        <p:nvSpPr>
          <p:cNvPr id="19" name="Step 3 text"/>
          <p:cNvSpPr txBox="1"/>
          <p:nvPr/>
        </p:nvSpPr>
        <p:spPr>
          <a:xfrm>
            <a:off x="3246120" y="292608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Architecture, database, REST API and screens</a:t>
            </a:r>
            <a:endParaRPr lang="en-US" sz="1100" dirty="0"/>
          </a:p>
        </p:txBody>
      </p:sp>
      <p:sp>
        <p:nvSpPr>
          <p:cNvPr id="20" name="Step 4 circle"/>
          <p:cNvSpPr/>
          <p:nvPr/>
        </p:nvSpPr>
        <p:spPr>
          <a:xfrm>
            <a:off x="4928616" y="1453896"/>
            <a:ext cx="658368" cy="658368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1"/>
            </a:solidFill>
            <a:prstDash val="solid"/>
          </a:ln>
        </p:spPr>
      </p:sp>
      <p:pic>
        <p:nvPicPr>
          <p:cNvPr id="21" name="Step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4064" y="1609344"/>
            <a:ext cx="347472" cy="347472"/>
          </a:xfrm>
          <a:prstGeom prst="rect">
            <a:avLst/>
          </a:prstGeom>
        </p:spPr>
      </p:pic>
      <p:sp>
        <p:nvSpPr>
          <p:cNvPr id="22" name="Step 4 label"/>
          <p:cNvSpPr txBox="1"/>
          <p:nvPr/>
        </p:nvSpPr>
        <p:spPr>
          <a:xfrm>
            <a:off x="4617720" y="22402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STEP 4</a:t>
            </a:r>
            <a:endParaRPr lang="en-US" sz="1000" dirty="0"/>
          </a:p>
        </p:txBody>
      </p:sp>
      <p:sp>
        <p:nvSpPr>
          <p:cNvPr id="23" name="Step 4 title"/>
          <p:cNvSpPr txBox="1"/>
          <p:nvPr/>
        </p:nvSpPr>
        <p:spPr>
          <a:xfrm>
            <a:off x="4617720" y="24688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chemeClr val="tx2"/>
                </a:solidFill>
              </a:rPr>
              <a:t>Build in steps</a:t>
            </a:r>
            <a:endParaRPr lang="en-US" sz="1350" dirty="0"/>
          </a:p>
        </p:txBody>
      </p:sp>
      <p:sp>
        <p:nvSpPr>
          <p:cNvPr id="24" name="Step 4 text"/>
          <p:cNvSpPr txBox="1"/>
          <p:nvPr/>
        </p:nvSpPr>
        <p:spPr>
          <a:xfrm>
            <a:off x="4617720" y="292608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Catalogue, stock, purchases, billing, returns, reports, AI</a:t>
            </a:r>
            <a:endParaRPr lang="en-US" sz="1100" dirty="0"/>
          </a:p>
        </p:txBody>
      </p:sp>
      <p:sp>
        <p:nvSpPr>
          <p:cNvPr id="25" name="Step 5 circle"/>
          <p:cNvSpPr/>
          <p:nvPr/>
        </p:nvSpPr>
        <p:spPr>
          <a:xfrm>
            <a:off x="6300216" y="1453896"/>
            <a:ext cx="658368" cy="658368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  <a:prstDash val="solid"/>
          </a:ln>
        </p:spPr>
      </p:sp>
      <p:pic>
        <p:nvPicPr>
          <p:cNvPr id="26" name="Step 5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5664" y="1609344"/>
            <a:ext cx="347472" cy="347472"/>
          </a:xfrm>
          <a:prstGeom prst="rect">
            <a:avLst/>
          </a:prstGeom>
        </p:spPr>
      </p:pic>
      <p:sp>
        <p:nvSpPr>
          <p:cNvPr id="27" name="Step 5 label"/>
          <p:cNvSpPr txBox="1"/>
          <p:nvPr/>
        </p:nvSpPr>
        <p:spPr>
          <a:xfrm>
            <a:off x="5989320" y="22402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STEP 5</a:t>
            </a:r>
            <a:endParaRPr lang="en-US" sz="1000" dirty="0"/>
          </a:p>
        </p:txBody>
      </p:sp>
      <p:sp>
        <p:nvSpPr>
          <p:cNvPr id="28" name="Step 5 title"/>
          <p:cNvSpPr txBox="1"/>
          <p:nvPr/>
        </p:nvSpPr>
        <p:spPr>
          <a:xfrm>
            <a:off x="5989320" y="24688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chemeClr val="tx2"/>
                </a:solidFill>
              </a:rPr>
              <a:t>Test</a:t>
            </a:r>
            <a:endParaRPr lang="en-US" sz="1350" dirty="0"/>
          </a:p>
        </p:txBody>
      </p:sp>
      <p:sp>
        <p:nvSpPr>
          <p:cNvPr id="29" name="Step 5 text"/>
          <p:cNvSpPr txBox="1"/>
          <p:nvPr/>
        </p:nvSpPr>
        <p:spPr>
          <a:xfrm>
            <a:off x="5989320" y="292608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Automated tests and checks on every change</a:t>
            </a:r>
            <a:endParaRPr lang="en-US" sz="1100" dirty="0"/>
          </a:p>
        </p:txBody>
      </p:sp>
      <p:sp>
        <p:nvSpPr>
          <p:cNvPr id="30" name="Step 6 circle"/>
          <p:cNvSpPr/>
          <p:nvPr/>
        </p:nvSpPr>
        <p:spPr>
          <a:xfrm>
            <a:off x="7671816" y="1453896"/>
            <a:ext cx="658368" cy="658368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1"/>
            </a:solidFill>
            <a:prstDash val="solid"/>
          </a:ln>
        </p:spPr>
      </p:sp>
      <p:pic>
        <p:nvPicPr>
          <p:cNvPr id="31" name="Step 6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27264" y="1609344"/>
            <a:ext cx="347472" cy="347472"/>
          </a:xfrm>
          <a:prstGeom prst="rect">
            <a:avLst/>
          </a:prstGeom>
        </p:spPr>
      </p:pic>
      <p:sp>
        <p:nvSpPr>
          <p:cNvPr id="32" name="Step 6 label"/>
          <p:cNvSpPr txBox="1"/>
          <p:nvPr/>
        </p:nvSpPr>
        <p:spPr>
          <a:xfrm>
            <a:off x="7360920" y="22402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STEP 6</a:t>
            </a:r>
            <a:endParaRPr lang="en-US" sz="1000" dirty="0"/>
          </a:p>
        </p:txBody>
      </p:sp>
      <p:sp>
        <p:nvSpPr>
          <p:cNvPr id="33" name="Step 6 title"/>
          <p:cNvSpPr txBox="1"/>
          <p:nvPr/>
        </p:nvSpPr>
        <p:spPr>
          <a:xfrm>
            <a:off x="7360920" y="24688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chemeClr val="tx2"/>
                </a:solidFill>
              </a:rPr>
              <a:t>Evaluate</a:t>
            </a:r>
            <a:endParaRPr lang="en-US" sz="1350" dirty="0"/>
          </a:p>
        </p:txBody>
      </p:sp>
      <p:sp>
        <p:nvSpPr>
          <p:cNvPr id="34" name="Step 6 text"/>
          <p:cNvSpPr txBox="1"/>
          <p:nvPr/>
        </p:nvSpPr>
        <p:spPr>
          <a:xfrm>
            <a:off x="7360920" y="292608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Demo year of sales, forecast accuracy, feedback</a:t>
            </a:r>
            <a:endParaRPr lang="en-US" sz="1100" dirty="0"/>
          </a:p>
        </p:txBody>
      </p:sp>
      <p:sp>
        <p:nvSpPr>
          <p:cNvPr id="35" name="Stack panel"/>
          <p:cNvSpPr/>
          <p:nvPr/>
        </p:nvSpPr>
        <p:spPr>
          <a:xfrm>
            <a:off x="457200" y="3886200"/>
            <a:ext cx="8229600" cy="621792"/>
          </a:xfrm>
          <a:prstGeom prst="roundRect">
            <a:avLst>
              <a:gd name="adj" fmla="val 14706"/>
            </a:avLst>
          </a:prstGeom>
          <a:solidFill>
            <a:schemeClr val="bg2"/>
          </a:solidFill>
          <a:ln/>
        </p:spPr>
      </p:sp>
      <p:sp>
        <p:nvSpPr>
          <p:cNvPr id="36" name="Tools label"/>
          <p:cNvSpPr txBox="1"/>
          <p:nvPr/>
        </p:nvSpPr>
        <p:spPr>
          <a:xfrm>
            <a:off x="685800" y="3886200"/>
            <a:ext cx="731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TOOLS</a:t>
            </a:r>
            <a:endParaRPr lang="en-US" sz="1100" dirty="0"/>
          </a:p>
        </p:txBody>
      </p:sp>
      <p:sp>
        <p:nvSpPr>
          <p:cNvPr id="37" name="React chip"/>
          <p:cNvSpPr/>
          <p:nvPr/>
        </p:nvSpPr>
        <p:spPr>
          <a:xfrm>
            <a:off x="1463040" y="4041648"/>
            <a:ext cx="777240" cy="31089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38" name="React chip text"/>
          <p:cNvSpPr txBox="1"/>
          <p:nvPr/>
        </p:nvSpPr>
        <p:spPr>
          <a:xfrm>
            <a:off x="1463040" y="404164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React</a:t>
            </a:r>
            <a:endParaRPr lang="en-US" sz="1100" dirty="0"/>
          </a:p>
        </p:txBody>
      </p:sp>
      <p:sp>
        <p:nvSpPr>
          <p:cNvPr id="39" name="Node.js + Express chip"/>
          <p:cNvSpPr/>
          <p:nvPr/>
        </p:nvSpPr>
        <p:spPr>
          <a:xfrm>
            <a:off x="2350008" y="4041648"/>
            <a:ext cx="1417320" cy="31089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40" name="Node.js + Express chip text"/>
          <p:cNvSpPr txBox="1"/>
          <p:nvPr/>
        </p:nvSpPr>
        <p:spPr>
          <a:xfrm>
            <a:off x="2350008" y="404164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Node.js + Express</a:t>
            </a:r>
            <a:endParaRPr lang="en-US" sz="1100" dirty="0"/>
          </a:p>
        </p:txBody>
      </p:sp>
      <p:sp>
        <p:nvSpPr>
          <p:cNvPr id="41" name="MongoDB chip"/>
          <p:cNvSpPr/>
          <p:nvPr/>
        </p:nvSpPr>
        <p:spPr>
          <a:xfrm>
            <a:off x="3877056" y="4041648"/>
            <a:ext cx="960120" cy="31089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42" name="MongoDB chip text"/>
          <p:cNvSpPr txBox="1"/>
          <p:nvPr/>
        </p:nvSpPr>
        <p:spPr>
          <a:xfrm>
            <a:off x="3877056" y="4041648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MongoDB</a:t>
            </a:r>
            <a:endParaRPr lang="en-US" sz="1100" dirty="0"/>
          </a:p>
        </p:txBody>
      </p:sp>
      <p:sp>
        <p:nvSpPr>
          <p:cNvPr id="43" name="TypeScript chip"/>
          <p:cNvSpPr/>
          <p:nvPr/>
        </p:nvSpPr>
        <p:spPr>
          <a:xfrm>
            <a:off x="4946904" y="4041648"/>
            <a:ext cx="1005840" cy="31089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44" name="TypeScript chip text"/>
          <p:cNvSpPr txBox="1"/>
          <p:nvPr/>
        </p:nvSpPr>
        <p:spPr>
          <a:xfrm>
            <a:off x="4946904" y="4041648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TypeScript</a:t>
            </a:r>
            <a:endParaRPr lang="en-US" sz="1100" dirty="0"/>
          </a:p>
        </p:txBody>
      </p:sp>
      <p:sp>
        <p:nvSpPr>
          <p:cNvPr id="45" name="Google Gemini chip"/>
          <p:cNvSpPr/>
          <p:nvPr/>
        </p:nvSpPr>
        <p:spPr>
          <a:xfrm>
            <a:off x="6062472" y="4041648"/>
            <a:ext cx="1234440" cy="31089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46" name="Google Gemini chip text"/>
          <p:cNvSpPr txBox="1"/>
          <p:nvPr/>
        </p:nvSpPr>
        <p:spPr>
          <a:xfrm>
            <a:off x="6062472" y="4041648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Google Gemini</a:t>
            </a:r>
            <a:endParaRPr lang="en-US" sz="1100" dirty="0"/>
          </a:p>
        </p:txBody>
      </p:sp>
      <p:sp>
        <p:nvSpPr>
          <p:cNvPr id="47" name="GitHub Actions chip"/>
          <p:cNvSpPr/>
          <p:nvPr/>
        </p:nvSpPr>
        <p:spPr>
          <a:xfrm>
            <a:off x="7406640" y="4041648"/>
            <a:ext cx="1280160" cy="31089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48" name="GitHub Actions chip text"/>
          <p:cNvSpPr txBox="1"/>
          <p:nvPr/>
        </p:nvSpPr>
        <p:spPr>
          <a:xfrm>
            <a:off x="7406640" y="404164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GitHub Actions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457200" y="274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05 · METHODOLOGY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5029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400" dirty="0"/>
          </a:p>
        </p:txBody>
      </p:sp>
      <p:sp>
        <p:nvSpPr>
          <p:cNvPr id="4" name="LuMonitor tile"/>
          <p:cNvSpPr/>
          <p:nvPr/>
        </p:nvSpPr>
        <p:spPr>
          <a:xfrm>
            <a:off x="457200" y="1362456"/>
            <a:ext cx="457200" cy="457200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</p:sp>
      <p:pic>
        <p:nvPicPr>
          <p:cNvPr id="5" name="LuMonitor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72184"/>
            <a:ext cx="237744" cy="237744"/>
          </a:xfrm>
          <a:prstGeom prst="rect">
            <a:avLst/>
          </a:prstGeom>
        </p:spPr>
      </p:pic>
      <p:sp>
        <p:nvSpPr>
          <p:cNvPr id="6" name="Presentation layer tier"/>
          <p:cNvSpPr txBox="1"/>
          <p:nvPr/>
        </p:nvSpPr>
        <p:spPr>
          <a:xfrm>
            <a:off x="1051560" y="1325880"/>
            <a:ext cx="3108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Presentation layer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tx1"/>
                </a:solidFill>
              </a:rPr>
              <a:t>React web app in the browser: one screen per module, for desktop or phone</a:t>
            </a:r>
            <a:endParaRPr lang="en-US" sz="1400" dirty="0"/>
          </a:p>
        </p:txBody>
      </p:sp>
      <p:sp>
        <p:nvSpPr>
          <p:cNvPr id="7" name="LuServer tile"/>
          <p:cNvSpPr/>
          <p:nvPr/>
        </p:nvSpPr>
        <p:spPr>
          <a:xfrm>
            <a:off x="457200" y="2185416"/>
            <a:ext cx="457200" cy="457200"/>
          </a:xfrm>
          <a:prstGeom prst="roundRect">
            <a:avLst>
              <a:gd name="adj" fmla="val 22000"/>
            </a:avLst>
          </a:prstGeom>
          <a:solidFill>
            <a:schemeClr val="tx2"/>
          </a:solidFill>
          <a:ln/>
        </p:spPr>
      </p:sp>
      <p:pic>
        <p:nvPicPr>
          <p:cNvPr id="8" name="LuServer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295144"/>
            <a:ext cx="237744" cy="237744"/>
          </a:xfrm>
          <a:prstGeom prst="rect">
            <a:avLst/>
          </a:prstGeom>
        </p:spPr>
      </p:pic>
      <p:sp>
        <p:nvSpPr>
          <p:cNvPr id="9" name="Application layer tier"/>
          <p:cNvSpPr txBox="1"/>
          <p:nvPr/>
        </p:nvSpPr>
        <p:spPr>
          <a:xfrm>
            <a:off x="1051560" y="2148840"/>
            <a:ext cx="3108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Application layer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tx1"/>
                </a:solidFill>
              </a:rPr>
              <a:t>Express REST API: sign-in, role checks and validation on every request</a:t>
            </a:r>
            <a:endParaRPr lang="en-US" sz="1400" dirty="0"/>
          </a:p>
        </p:txBody>
      </p:sp>
      <p:sp>
        <p:nvSpPr>
          <p:cNvPr id="10" name="LuDatabase tile"/>
          <p:cNvSpPr/>
          <p:nvPr/>
        </p:nvSpPr>
        <p:spPr>
          <a:xfrm>
            <a:off x="457200" y="3008376"/>
            <a:ext cx="457200" cy="457200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</p:sp>
      <p:pic>
        <p:nvPicPr>
          <p:cNvPr id="11" name="LuDatabase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3118104"/>
            <a:ext cx="237744" cy="237744"/>
          </a:xfrm>
          <a:prstGeom prst="rect">
            <a:avLst/>
          </a:prstGeom>
        </p:spPr>
      </p:pic>
      <p:sp>
        <p:nvSpPr>
          <p:cNvPr id="12" name="Data layer tier"/>
          <p:cNvSpPr txBox="1"/>
          <p:nvPr/>
        </p:nvSpPr>
        <p:spPr>
          <a:xfrm>
            <a:off x="1051560" y="2971800"/>
            <a:ext cx="3108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Data layer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tx1"/>
                </a:solidFill>
              </a:rPr>
              <a:t>MongoDB replica set, so each sale or delivery saves all-or-nothing</a:t>
            </a:r>
            <a:endParaRPr lang="en-US" sz="1400" dirty="0"/>
          </a:p>
        </p:txBody>
      </p:sp>
      <p:sp>
        <p:nvSpPr>
          <p:cNvPr id="13" name="LuShare2 tile"/>
          <p:cNvSpPr/>
          <p:nvPr/>
        </p:nvSpPr>
        <p:spPr>
          <a:xfrm>
            <a:off x="457200" y="3831336"/>
            <a:ext cx="457200" cy="457200"/>
          </a:xfrm>
          <a:prstGeom prst="roundRect">
            <a:avLst>
              <a:gd name="adj" fmla="val 22000"/>
            </a:avLst>
          </a:prstGeom>
          <a:solidFill>
            <a:schemeClr val="tx2"/>
          </a:solidFill>
          <a:ln/>
        </p:spPr>
      </p:sp>
      <p:pic>
        <p:nvPicPr>
          <p:cNvPr id="14" name="LuShare2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3941064"/>
            <a:ext cx="237744" cy="237744"/>
          </a:xfrm>
          <a:prstGeom prst="rect">
            <a:avLst/>
          </a:prstGeom>
        </p:spPr>
      </p:pic>
      <p:sp>
        <p:nvSpPr>
          <p:cNvPr id="15" name="Shared package tier"/>
          <p:cNvSpPr txBox="1"/>
          <p:nvPr/>
        </p:nvSpPr>
        <p:spPr>
          <a:xfrm>
            <a:off x="1051560" y="3794760"/>
            <a:ext cx="3108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Shared package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tx1"/>
                </a:solidFill>
              </a:rPr>
              <a:t>GST maths, money in paise and validation used by both sides</a:t>
            </a:r>
            <a:endParaRPr lang="en-US" sz="1400" dirty="0"/>
          </a:p>
        </p:txBody>
      </p:sp>
      <p:sp>
        <p:nvSpPr>
          <p:cNvPr id="16" name="Diagram frame"/>
          <p:cNvSpPr/>
          <p:nvPr/>
        </p:nvSpPr>
        <p:spPr>
          <a:xfrm>
            <a:off x="4343400" y="1188720"/>
            <a:ext cx="4343400" cy="3493008"/>
          </a:xfrm>
          <a:prstGeom prst="roundRect">
            <a:avLst>
              <a:gd name="adj" fmla="val 2094"/>
            </a:avLst>
          </a:prstGeom>
          <a:solidFill>
            <a:schemeClr val="bg1"/>
          </a:solidFill>
          <a:ln w="9525">
            <a:solidFill>
              <a:srgbClr val="D5E3DF"/>
            </a:solidFill>
            <a:prstDash val="solid"/>
          </a:ln>
        </p:spPr>
      </p:sp>
      <p:pic>
        <p:nvPicPr>
          <p:cNvPr id="17" name="Architecture diagram" descr="Three-tier architecture: React presentation layer, Express application layer, MongoDB data layer, shared package and optional Google Gemini API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6280" y="1261872"/>
            <a:ext cx="3977640" cy="327081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457200" y="274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05 · METHODOLOGY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5029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Restocking Method</a:t>
            </a:r>
            <a:endParaRPr lang="en-US" sz="3400" dirty="0"/>
          </a:p>
        </p:txBody>
      </p:sp>
      <p:sp>
        <p:nvSpPr>
          <p:cNvPr id="4" name="Stage A card"/>
          <p:cNvSpPr/>
          <p:nvPr/>
        </p:nvSpPr>
        <p:spPr>
          <a:xfrm>
            <a:off x="457200" y="1280160"/>
            <a:ext cx="2560320" cy="333756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sp>
        <p:nvSpPr>
          <p:cNvPr id="5" name="LuTrendingUp tile"/>
          <p:cNvSpPr/>
          <p:nvPr/>
        </p:nvSpPr>
        <p:spPr>
          <a:xfrm>
            <a:off x="658368" y="1463040"/>
            <a:ext cx="457200" cy="457200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</p:sp>
      <p:pic>
        <p:nvPicPr>
          <p:cNvPr id="6" name="LuTrendingUp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1572768"/>
            <a:ext cx="237744" cy="237744"/>
          </a:xfrm>
          <a:prstGeom prst="rect">
            <a:avLst/>
          </a:prstGeom>
        </p:spPr>
      </p:pic>
      <p:sp>
        <p:nvSpPr>
          <p:cNvPr id="7" name="Stage A title"/>
          <p:cNvSpPr txBox="1"/>
          <p:nvPr/>
        </p:nvSpPr>
        <p:spPr>
          <a:xfrm>
            <a:off x="1234440" y="1426464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1"/>
                </a:solidFill>
              </a:rPr>
              <a:t>STAGE A</a:t>
            </a:r>
            <a:endParaRPr lang="en-US" sz="10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Forecast demand</a:t>
            </a:r>
            <a:endParaRPr lang="en-US" sz="1000" dirty="0"/>
          </a:p>
        </p:txBody>
      </p:sp>
      <p:sp>
        <p:nvSpPr>
          <p:cNvPr id="8" name="Stage A points"/>
          <p:cNvSpPr txBox="1"/>
          <p:nvPr/>
        </p:nvSpPr>
        <p:spPr>
          <a:xfrm>
            <a:off x="658368" y="2148840"/>
            <a:ext cx="21945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Daily sales of each product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Learns each product’s trend and weekly pattern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Plans for festivals like Diwali and Eid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Checks its accuracy against real sales</a:t>
            </a:r>
            <a:endParaRPr lang="en-US" sz="1200" dirty="0"/>
          </a:p>
        </p:txBody>
      </p:sp>
      <p:sp>
        <p:nvSpPr>
          <p:cNvPr id="9" name="Stage A formula box"/>
          <p:cNvSpPr/>
          <p:nvPr/>
        </p:nvSpPr>
        <p:spPr>
          <a:xfrm>
            <a:off x="594360" y="3931920"/>
            <a:ext cx="2286000" cy="54864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/>
        </p:spPr>
      </p:sp>
      <p:sp>
        <p:nvSpPr>
          <p:cNvPr id="10" name="Stage A formula"/>
          <p:cNvSpPr txBox="1"/>
          <p:nvPr/>
        </p:nvSpPr>
        <p:spPr>
          <a:xfrm>
            <a:off x="658368" y="3931920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Predicts what each item will sell</a:t>
            </a:r>
            <a:endParaRPr lang="en-US" sz="1200" dirty="0"/>
          </a:p>
        </p:txBody>
      </p:sp>
      <p:sp>
        <p:nvSpPr>
          <p:cNvPr id="11" name="Arrow A backing"/>
          <p:cNvSpPr/>
          <p:nvPr/>
        </p:nvSpPr>
        <p:spPr>
          <a:xfrm>
            <a:off x="3035808" y="2724912"/>
            <a:ext cx="237744" cy="23774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2" name="Arrow A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6956" y="2766060"/>
            <a:ext cx="155448" cy="155448"/>
          </a:xfrm>
          <a:prstGeom prst="rect">
            <a:avLst/>
          </a:prstGeom>
        </p:spPr>
      </p:pic>
      <p:sp>
        <p:nvSpPr>
          <p:cNvPr id="13" name="Stage B card"/>
          <p:cNvSpPr/>
          <p:nvPr/>
        </p:nvSpPr>
        <p:spPr>
          <a:xfrm>
            <a:off x="3291840" y="1280160"/>
            <a:ext cx="2560320" cy="333756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sp>
        <p:nvSpPr>
          <p:cNvPr id="14" name="LuScale tile"/>
          <p:cNvSpPr/>
          <p:nvPr/>
        </p:nvSpPr>
        <p:spPr>
          <a:xfrm>
            <a:off x="3493008" y="1463040"/>
            <a:ext cx="457200" cy="457200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</p:sp>
      <p:pic>
        <p:nvPicPr>
          <p:cNvPr id="15" name="LuScale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2736" y="1572768"/>
            <a:ext cx="237744" cy="237744"/>
          </a:xfrm>
          <a:prstGeom prst="rect">
            <a:avLst/>
          </a:prstGeom>
        </p:spPr>
      </p:pic>
      <p:sp>
        <p:nvSpPr>
          <p:cNvPr id="16" name="Stage B title"/>
          <p:cNvSpPr txBox="1"/>
          <p:nvPr/>
        </p:nvSpPr>
        <p:spPr>
          <a:xfrm>
            <a:off x="4069080" y="1426464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1"/>
                </a:solidFill>
              </a:rPr>
              <a:t>STAGE B</a:t>
            </a:r>
            <a:endParaRPr lang="en-US" sz="10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Decide what to reorder</a:t>
            </a:r>
            <a:endParaRPr lang="en-US" sz="1000" dirty="0"/>
          </a:p>
        </p:txBody>
      </p:sp>
      <p:sp>
        <p:nvSpPr>
          <p:cNvPr id="17" name="Stage B points"/>
          <p:cNvSpPr txBox="1"/>
          <p:nvPr/>
        </p:nvSpPr>
        <p:spPr>
          <a:xfrm>
            <a:off x="3493008" y="2148840"/>
            <a:ext cx="21945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Expected sales until the supplier delivers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Keeps a safety buffer for busy days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Flags items that will run short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Suggests a quantity, with a reason</a:t>
            </a:r>
            <a:endParaRPr lang="en-US" sz="1200" dirty="0"/>
          </a:p>
        </p:txBody>
      </p:sp>
      <p:sp>
        <p:nvSpPr>
          <p:cNvPr id="18" name="Stage B formula box"/>
          <p:cNvSpPr/>
          <p:nvPr/>
        </p:nvSpPr>
        <p:spPr>
          <a:xfrm>
            <a:off x="3429000" y="3931920"/>
            <a:ext cx="2286000" cy="54864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/>
        </p:spPr>
      </p:sp>
      <p:sp>
        <p:nvSpPr>
          <p:cNvPr id="19" name="Stage B formula"/>
          <p:cNvSpPr txBox="1"/>
          <p:nvPr/>
        </p:nvSpPr>
        <p:spPr>
          <a:xfrm>
            <a:off x="3493008" y="3931920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 before it runs out, not after</a:t>
            </a:r>
            <a:endParaRPr lang="en-US" sz="1200" dirty="0"/>
          </a:p>
        </p:txBody>
      </p:sp>
      <p:sp>
        <p:nvSpPr>
          <p:cNvPr id="20" name="Arrow B backing"/>
          <p:cNvSpPr/>
          <p:nvPr/>
        </p:nvSpPr>
        <p:spPr>
          <a:xfrm>
            <a:off x="5870448" y="2724912"/>
            <a:ext cx="237744" cy="23774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1" name="Arrow B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1596" y="2766060"/>
            <a:ext cx="155448" cy="155448"/>
          </a:xfrm>
          <a:prstGeom prst="rect">
            <a:avLst/>
          </a:prstGeom>
        </p:spPr>
      </p:pic>
      <p:sp>
        <p:nvSpPr>
          <p:cNvPr id="22" name="Stage C card"/>
          <p:cNvSpPr/>
          <p:nvPr/>
        </p:nvSpPr>
        <p:spPr>
          <a:xfrm>
            <a:off x="6126480" y="1280160"/>
            <a:ext cx="2560320" cy="3337560"/>
          </a:xfrm>
          <a:prstGeom prst="roundRect">
            <a:avLst>
              <a:gd name="adj" fmla="val 4286"/>
            </a:avLst>
          </a:prstGeom>
          <a:solidFill>
            <a:srgbClr val="FDF3DC"/>
          </a:solidFill>
          <a:ln/>
        </p:spPr>
      </p:sp>
      <p:sp>
        <p:nvSpPr>
          <p:cNvPr id="23" name="LuHand tile"/>
          <p:cNvSpPr/>
          <p:nvPr/>
        </p:nvSpPr>
        <p:spPr>
          <a:xfrm>
            <a:off x="6327648" y="1463040"/>
            <a:ext cx="457200" cy="457200"/>
          </a:xfrm>
          <a:prstGeom prst="roundRect">
            <a:avLst>
              <a:gd name="adj" fmla="val 22000"/>
            </a:avLst>
          </a:prstGeom>
          <a:solidFill>
            <a:schemeClr val="accent2"/>
          </a:solidFill>
          <a:ln/>
        </p:spPr>
      </p:sp>
      <p:pic>
        <p:nvPicPr>
          <p:cNvPr id="24" name="LuHand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7376" y="1572768"/>
            <a:ext cx="237744" cy="237744"/>
          </a:xfrm>
          <a:prstGeom prst="rect">
            <a:avLst/>
          </a:prstGeom>
        </p:spPr>
      </p:pic>
      <p:sp>
        <p:nvSpPr>
          <p:cNvPr id="25" name="Stage C title"/>
          <p:cNvSpPr txBox="1"/>
          <p:nvPr/>
        </p:nvSpPr>
        <p:spPr>
          <a:xfrm>
            <a:off x="6903720" y="1426464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B57600"/>
                </a:solidFill>
              </a:rPr>
              <a:t>STAGE C</a:t>
            </a:r>
            <a:endParaRPr lang="en-US" sz="10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The owner decides</a:t>
            </a:r>
            <a:endParaRPr lang="en-US" sz="1000" dirty="0"/>
          </a:p>
        </p:txBody>
      </p:sp>
      <p:sp>
        <p:nvSpPr>
          <p:cNvPr id="26" name="Stage C points"/>
          <p:cNvSpPr txBox="1"/>
          <p:nvPr/>
        </p:nvSpPr>
        <p:spPr>
          <a:xfrm>
            <a:off x="6327648" y="2148840"/>
            <a:ext cx="21945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Items grouped by supplier into a draft plan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Owner edits quantities or removes items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Confirm creates one purchase order per supplier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Unconfirmed plans expire after 24 hours</a:t>
            </a:r>
            <a:endParaRPr lang="en-US" sz="1200" dirty="0"/>
          </a:p>
        </p:txBody>
      </p:sp>
      <p:sp>
        <p:nvSpPr>
          <p:cNvPr id="27" name="Stage C formula box"/>
          <p:cNvSpPr/>
          <p:nvPr/>
        </p:nvSpPr>
        <p:spPr>
          <a:xfrm>
            <a:off x="6263640" y="3931920"/>
            <a:ext cx="2286000" cy="54864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/>
        </p:spPr>
      </p:sp>
      <p:sp>
        <p:nvSpPr>
          <p:cNvPr id="28" name="Stage C formula"/>
          <p:cNvSpPr txBox="1"/>
          <p:nvPr/>
        </p:nvSpPr>
        <p:spPr>
          <a:xfrm>
            <a:off x="6327648" y="3931920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can prepare a plan, never confirm it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hank you"/>
          <p:cNvSpPr txBox="1"/>
          <p:nvPr/>
        </p:nvSpPr>
        <p:spPr>
          <a:xfrm>
            <a:off x="640080" y="141732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3" name="Questions"/>
          <p:cNvSpPr txBox="1"/>
          <p:nvPr/>
        </p:nvSpPr>
        <p:spPr>
          <a:xfrm>
            <a:off x="640080" y="242316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chemeClr val="accent3"/>
                </a:solidFill>
              </a:rPr>
              <a:t>Questions and suggestions are welcome</a:t>
            </a:r>
            <a:endParaRPr lang="en-US" sz="1800" dirty="0"/>
          </a:p>
        </p:txBody>
      </p:sp>
      <p:sp>
        <p:nvSpPr>
          <p:cNvPr id="4" name="Team"/>
          <p:cNvSpPr txBox="1"/>
          <p:nvPr/>
        </p:nvSpPr>
        <p:spPr>
          <a:xfrm>
            <a:off x="640080" y="32461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Keerthana P  ·  L Mohammed Fahad  ·  Mehfuza Khanum  ·  Mohammed Saad</a:t>
            </a:r>
            <a:endParaRPr lang="en-US" sz="1300" dirty="0"/>
          </a:p>
        </p:txBody>
      </p:sp>
      <p:sp>
        <p:nvSpPr>
          <p:cNvPr id="5" name="Guide and department"/>
          <p:cNvSpPr txBox="1"/>
          <p:nvPr/>
        </p:nvSpPr>
        <p:spPr>
          <a:xfrm>
            <a:off x="640080" y="35661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Guide: Prof. APOORVA D  ·  Dept. of CSE (AI &amp; ML), Dr. TTIT, KGF</a:t>
            </a:r>
            <a:endParaRPr lang="en-US" sz="1200" dirty="0"/>
          </a:p>
        </p:txBody>
      </p:sp>
      <p:sp>
        <p:nvSpPr>
          <p:cNvPr id="6" name="LuBoxes tile"/>
          <p:cNvSpPr/>
          <p:nvPr/>
        </p:nvSpPr>
        <p:spPr>
          <a:xfrm>
            <a:off x="6400800" y="1188720"/>
            <a:ext cx="868680" cy="868680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</p:sp>
      <p:pic>
        <p:nvPicPr>
          <p:cNvPr id="7" name="LuBoxes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9283" y="1397203"/>
            <a:ext cx="451714" cy="451714"/>
          </a:xfrm>
          <a:prstGeom prst="rect">
            <a:avLst/>
          </a:prstGeom>
        </p:spPr>
      </p:pic>
      <p:sp>
        <p:nvSpPr>
          <p:cNvPr id="8" name="LuScanBarcode tile"/>
          <p:cNvSpPr/>
          <p:nvPr/>
        </p:nvSpPr>
        <p:spPr>
          <a:xfrm>
            <a:off x="7452360" y="1188720"/>
            <a:ext cx="868680" cy="868680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</p:sp>
      <p:pic>
        <p:nvPicPr>
          <p:cNvPr id="9" name="LuScanBarcode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0843" y="1397203"/>
            <a:ext cx="451714" cy="451714"/>
          </a:xfrm>
          <a:prstGeom prst="rect">
            <a:avLst/>
          </a:prstGeom>
        </p:spPr>
      </p:pic>
      <p:sp>
        <p:nvSpPr>
          <p:cNvPr id="10" name="LuChartColumn tile"/>
          <p:cNvSpPr/>
          <p:nvPr/>
        </p:nvSpPr>
        <p:spPr>
          <a:xfrm>
            <a:off x="6400800" y="2240280"/>
            <a:ext cx="868680" cy="868680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</p:sp>
      <p:pic>
        <p:nvPicPr>
          <p:cNvPr id="11" name="LuChartColumn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9283" y="2448763"/>
            <a:ext cx="451714" cy="451714"/>
          </a:xfrm>
          <a:prstGeom prst="rect">
            <a:avLst/>
          </a:prstGeom>
        </p:spPr>
      </p:pic>
      <p:sp>
        <p:nvSpPr>
          <p:cNvPr id="12" name="LuSparkles tile"/>
          <p:cNvSpPr/>
          <p:nvPr/>
        </p:nvSpPr>
        <p:spPr>
          <a:xfrm>
            <a:off x="7452360" y="2240280"/>
            <a:ext cx="868680" cy="868680"/>
          </a:xfrm>
          <a:prstGeom prst="roundRect">
            <a:avLst>
              <a:gd name="adj" fmla="val 22000"/>
            </a:avLst>
          </a:prstGeom>
          <a:solidFill>
            <a:schemeClr val="accent2"/>
          </a:solidFill>
          <a:ln/>
        </p:spPr>
      </p:sp>
      <p:pic>
        <p:nvPicPr>
          <p:cNvPr id="13" name="LuSparkles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0843" y="2448763"/>
            <a:ext cx="451714" cy="45171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Ledger Teal">
  <a:themeElements>
    <a:clrScheme name="Ledger Teal">
      <a:dk1>
        <a:srgbClr val="14262B"/>
      </a:dk1>
      <a:lt1>
        <a:srgbClr val="FFFFFF"/>
      </a:lt1>
      <a:dk2>
        <a:srgbClr val="0E3B43"/>
      </a:dk2>
      <a:lt2>
        <a:srgbClr val="EEF5F3"/>
      </a:lt2>
      <a:accent1>
        <a:srgbClr val="0E7C66"/>
      </a:accent1>
      <a:accent2>
        <a:srgbClr val="F2A007"/>
      </a:accent2>
      <a:accent3>
        <a:srgbClr val="8FD3BF"/>
      </a:accent3>
      <a:accent4>
        <a:srgbClr val="D9472B"/>
      </a:accent4>
      <a:accent5>
        <a:srgbClr val="2E5266"/>
      </a:accent5>
      <a:accent6>
        <a:srgbClr val="5E7B78"/>
      </a:accent6>
      <a:hlink>
        <a:srgbClr val="0E7C66"/>
      </a:hlink>
      <a:folHlink>
        <a:srgbClr val="5E7B78"/>
      </a:folHlink>
    </a:clrScheme>
    <a:fontScheme name="Ledger Tea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Inventory and Sales Management System: First Review</dc:title>
  <dc:subject>Community Project, Dept. of CSE (AI &amp; ML), Dr. TTIT, KGF</dc:subject>
  <dc:creator>Keerthana P, L Mohammed Fahad, Mehfuza Khanum, Mohammed Saad</dc:creator>
  <cp:lastModifiedBy>Keerthana P, L Mohammed Fahad, Mehfuza Khanum, Mohammed Saad</cp:lastModifiedBy>
  <cp:revision>1</cp:revision>
  <dcterms:created xsi:type="dcterms:W3CDTF">2026-10-17T04:20:10Z</dcterms:created>
  <dcterms:modified xsi:type="dcterms:W3CDTF">2026-10-17T04:20:10Z</dcterms:modified>
</cp:coreProperties>
</file>